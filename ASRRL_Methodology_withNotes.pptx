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6"/>
    <p:restoredTop sz="35294"/>
  </p:normalViewPr>
  <p:slideViewPr>
    <p:cSldViewPr snapToGrid="0" snapToObjects="1">
      <p:cViewPr>
        <p:scale>
          <a:sx n="130" d="100"/>
          <a:sy n="130" d="100"/>
        </p:scale>
        <p:origin x="-8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2004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ASRRL — Adaptive Symbolic Reasoning and Reinforcement Learning for Dynamic Network Traffic Classification</a:t>
            </a:r>
          </a:p>
          <a:p>
            <a:endParaRPr dirty="0"/>
          </a:p>
          <a:p>
            <a:r>
              <a:rPr dirty="0"/>
              <a:t>This presentation details the complete methodology of the ASRRL Intrusion Detection System (IDS) framework. ASRRL is a novel approach that combines multiple machine learning and formal methods techniques into an 8-stage pipeline for network traffic classification.</a:t>
            </a:r>
          </a:p>
          <a:p>
            <a:endParaRPr dirty="0"/>
          </a:p>
          <a:p>
            <a:r>
              <a:rPr dirty="0"/>
              <a:t>KEY CONTRIBUTIONS:</a:t>
            </a:r>
          </a:p>
          <a:p>
            <a:r>
              <a:rPr dirty="0"/>
              <a:t>1. Symbolic Reasoning via Z3 SMT Solver: Decision tree paths are converted into formal logic constraints using the Z3 theorem prover from Microsoft Research. This provides mathematically provable safety guarantees — every classification decision can be traced back to a satisfiable logical constraint.</a:t>
            </a:r>
          </a:p>
          <a:p>
            <a:endParaRPr dirty="0"/>
          </a:p>
          <a:p>
            <a:r>
              <a:rPr dirty="0"/>
              <a:t>2. Reinforcement Learning with Safety Shielding: A tabular Q-learning agent learns optimal classification policies, but every proposed action is verified against the Z3 constraint set before execution. If the proposed action violates constraints, a "safety shield" overrides it with the best safe alternative.</a:t>
            </a:r>
          </a:p>
          <a:p>
            <a:endParaRPr dirty="0"/>
          </a:p>
          <a:p>
            <a:r>
              <a:rPr dirty="0"/>
              <a:t>3. Dynamic Adaptation: Unlike static classifiers, ASRRL adapts at runtime through:</a:t>
            </a:r>
          </a:p>
          <a:p>
            <a:r>
              <a:rPr dirty="0"/>
              <a:t>   - Adaptive buffer sizing (10-200 flows) that responds to traffic volatility</a:t>
            </a:r>
          </a:p>
          <a:p>
            <a:r>
              <a:rPr dirty="0"/>
              <a:t>   - Dynamic threshold adaptation (0.40-0.70) that balances false positive and false negative rates per dataset</a:t>
            </a:r>
          </a:p>
          <a:p>
            <a:endParaRPr dirty="0"/>
          </a:p>
          <a:p>
            <a:r>
              <a:rPr dirty="0"/>
              <a:t>4. Novel Pattern Detection: DBSCAN clustering on misclassified flows discovers previously unseen attack signatures, which are converted to new Z3 constraints — enabling zero-day attack detection.</a:t>
            </a:r>
          </a:p>
          <a:p>
            <a:endParaRPr dirty="0"/>
          </a:p>
          <a:p>
            <a:r>
              <a:rPr dirty="0"/>
              <a:t>DATASETS: We evaluate on three well-established IDS benchmark datasets:</a:t>
            </a:r>
          </a:p>
          <a:p>
            <a:r>
              <a:rPr dirty="0"/>
              <a:t>- UNSW-NB15 (2015): 2.5M flows, 9 attack types, from UNSW Canberra</a:t>
            </a:r>
          </a:p>
          <a:p>
            <a:r>
              <a:rPr dirty="0"/>
              <a:t>- CSE-CIC-IDS-2018 (2018): 16M flows, 7 attack types, from Canadian Institute for Cybersecurity</a:t>
            </a:r>
          </a:p>
          <a:p>
            <a:r>
              <a:rPr dirty="0"/>
              <a:t>- CIC-IDS2017 (2017): 3.1M flows, 14 attack types, from Canadian Institute for Cybersecurity</a:t>
            </a:r>
          </a:p>
          <a:p>
            <a:endParaRPr dirty="0"/>
          </a:p>
          <a:p>
            <a:r>
              <a:rPr dirty="0"/>
              <a:t>Each dataset is processed through the identical 8-stage pipeline, demonstrating the framework's generalizability across different network environments, attack distributions, and temporal characteristics.</a:t>
            </a:r>
            <a:endParaRPr lang="en-US" dirty="0"/>
          </a:p>
          <a:p>
            <a:endParaRPr lang="en-US" dirty="0"/>
          </a:p>
          <a:p>
            <a:pPr marL="171450" indent="-171450">
              <a:buFont typeface="Arial" panose="020B0604020202020204" pitchFamily="34" charset="0"/>
              <a:buChar char="•"/>
            </a:pPr>
            <a:r>
              <a:rPr lang="en-US" dirty="0"/>
              <a:t>Welcome to the presentation on ASRRL, which stands for Adaptive Symbolic Reasoning and Reinforcement Learning.</a:t>
            </a:r>
          </a:p>
          <a:p>
            <a:pPr marL="171450" indent="-171450">
              <a:buFont typeface="Arial" panose="020B0604020202020204" pitchFamily="34" charset="0"/>
              <a:buChar char="•"/>
            </a:pPr>
            <a:r>
              <a:rPr lang="en-US" dirty="0"/>
              <a:t>Today, we are discussing a novel framework for dynamic network traffic classification.</a:t>
            </a:r>
          </a:p>
          <a:p>
            <a:pPr marL="171450" indent="-171450">
              <a:buFont typeface="Arial" panose="020B0604020202020204" pitchFamily="34" charset="0"/>
              <a:buChar char="•"/>
            </a:pPr>
            <a:r>
              <a:rPr lang="en-US" dirty="0"/>
              <a:t>Traditional Intrusion Detection Systems (IDS) often act as "black boxes," making it hard to trust their decisions. ASRRL solves this by integrating Z3 Formal Verification for mathematical proof of safety, Q-Learning shielded by these proofs, and DBSCAN to catch zero-day or novel patterns.</a:t>
            </a:r>
          </a:p>
          <a:p>
            <a:pPr marL="171450" indent="-171450">
              <a:buFont typeface="Arial" panose="020B0604020202020204" pitchFamily="34" charset="0"/>
              <a:buChar char="•"/>
            </a:pPr>
            <a:r>
              <a:rPr lang="en-US" dirty="0"/>
              <a:t>We will walk through our comprehensive 8-stage pipeline, validated against three major benchmark datasets</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a:p>
            <a:pPr>
              <a:buFont typeface="Arial" panose="020B0604020202020204" pitchFamily="34" charset="0"/>
              <a:buChar char="•"/>
            </a:pPr>
            <a:r>
              <a:rPr lang="en-US" dirty="0">
                <a:effectLst/>
                <a:latin typeface="Google Sans Text"/>
              </a:rPr>
              <a:t>This slide outlines our 8-stage architecture.</a:t>
            </a:r>
          </a:p>
          <a:p>
            <a:pPr>
              <a:buFont typeface="Arial" panose="020B0604020202020204" pitchFamily="34" charset="0"/>
              <a:buChar char="•"/>
            </a:pPr>
            <a:r>
              <a:rPr lang="en-US" dirty="0">
                <a:effectLst/>
                <a:latin typeface="Google Sans Text"/>
              </a:rPr>
              <a:t>The pipeline is designed to be fully end-to-end, taking raw network traffic and outputting a verifiable classification.</a:t>
            </a:r>
          </a:p>
          <a:p>
            <a:pPr>
              <a:buFont typeface="Arial" panose="020B0604020202020204" pitchFamily="34" charset="0"/>
              <a:buChar char="•"/>
            </a:pPr>
            <a:r>
              <a:rPr lang="en-US" dirty="0">
                <a:effectLst/>
                <a:latin typeface="Google Sans Text"/>
              </a:rPr>
              <a:t>It starts with Data Ingestion (Stage 1) and moves through a Decision Tree (Stage 2) to extract symbolic constraints (Stage 3).</a:t>
            </a:r>
          </a:p>
          <a:p>
            <a:pPr>
              <a:buFont typeface="Arial" panose="020B0604020202020204" pitchFamily="34" charset="0"/>
              <a:buChar char="•"/>
            </a:pPr>
            <a:r>
              <a:rPr lang="en-US" dirty="0">
                <a:effectLst/>
                <a:latin typeface="Google Sans Text"/>
              </a:rPr>
              <a:t>These constraints act as a safety shield for our Reinforcement Learning agent (Stage 4).</a:t>
            </a:r>
          </a:p>
          <a:p>
            <a:pPr>
              <a:buFont typeface="Arial" panose="020B0604020202020204" pitchFamily="34" charset="0"/>
              <a:buChar char="•"/>
            </a:pPr>
            <a:r>
              <a:rPr lang="en-US" dirty="0">
                <a:effectLst/>
                <a:latin typeface="Google Sans Text"/>
              </a:rPr>
              <a:t>We handle continuous learning through Novel Pattern Detection (Stage 5), and adapt to network drift using Dynamic Buffer and Threshold management (Stages 6 &amp; 7).</a:t>
            </a:r>
          </a:p>
          <a:p>
            <a:pPr>
              <a:buFont typeface="Arial" panose="020B0604020202020204" pitchFamily="34" charset="0"/>
              <a:buChar char="•"/>
            </a:pPr>
            <a:r>
              <a:rPr lang="en-US" dirty="0">
                <a:effectLst/>
                <a:latin typeface="Google Sans Text"/>
              </a:rPr>
              <a:t>Finally, we reach our deterministic, audited classification (Stage 8).</a:t>
            </a:r>
          </a:p>
          <a:p>
            <a:r>
              <a:rPr lang="en-US" b="1" dirty="0">
                <a:effectLst/>
                <a:latin typeface="Google Sans Text"/>
              </a:rPr>
              <a:t>Slide 3: Datasets &amp; Transformation Summary</a:t>
            </a:r>
            <a:endParaRPr lang="en-US" b="1" dirty="0">
              <a:effectLst/>
              <a:latin typeface="Google Sans"/>
            </a:endParaRPr>
          </a:p>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We evaluated ASRRL on three highly respected datasets: UNSW-NB15, CSE-CIC-IDS-2018, and CIC-IDS2017.</a:t>
            </a:r>
          </a:p>
          <a:p>
            <a:pPr>
              <a:buFont typeface="Arial" panose="020B0604020202020204" pitchFamily="34" charset="0"/>
              <a:buChar char="•"/>
            </a:pPr>
            <a:r>
              <a:rPr lang="en-US" dirty="0">
                <a:effectLst/>
                <a:latin typeface="Google Sans Text"/>
              </a:rPr>
              <a:t>To make the model robust across different environments, we standardize all raw features into a 7-dimensional vector, $</a:t>
            </a:r>
            <a:r>
              <a:rPr lang="en-US" dirty="0" err="1">
                <a:effectLst/>
                <a:latin typeface="Google Sans Text"/>
              </a:rPr>
              <a:t>x_i</a:t>
            </a:r>
            <a:r>
              <a:rPr lang="en-US" dirty="0">
                <a:effectLst/>
                <a:latin typeface="Google Sans Text"/>
              </a:rPr>
              <a:t>$. This includes metrics like flow duration, packet rate, byte rate, entropy, and protocol.</a:t>
            </a:r>
          </a:p>
          <a:p>
            <a:pPr>
              <a:buFont typeface="Arial" panose="020B0604020202020204" pitchFamily="34" charset="0"/>
              <a:buChar char="•"/>
            </a:pPr>
            <a:r>
              <a:rPr lang="en-US" dirty="0">
                <a:effectLst/>
                <a:latin typeface="Google Sans Text"/>
              </a:rPr>
              <a:t>Notice the flow of data: We start with normalization , extract logic from the Decision Tree paths into Z3 constraints , and use those constraints to verify our Q-learning agent's actions.</a:t>
            </a:r>
          </a:p>
          <a:p>
            <a:pPr>
              <a:buFont typeface="Arial" panose="020B0604020202020204" pitchFamily="34" charset="0"/>
              <a:buChar char="•"/>
            </a:pPr>
            <a:r>
              <a:rPr lang="en-US" dirty="0">
                <a:effectLst/>
                <a:latin typeface="Google Sans Text"/>
              </a:rPr>
              <a:t>Misclassified flows aren't just discarded; they are clustered using DBSCAN to discover novel attack rules.</a:t>
            </a:r>
          </a:p>
          <a:p>
            <a:pPr>
              <a:buFont typeface="Arial" panose="020B0604020202020204" pitchFamily="34" charset="0"/>
              <a:buChar char="•"/>
            </a:pPr>
            <a:r>
              <a:rPr lang="en-US" dirty="0">
                <a:effectLst/>
                <a:latin typeface="Google Sans Text"/>
              </a:rPr>
              <a:t>Our buffer sizes and decision thresholds are not static; they mathematically adapt to the traffic's variance and error rates in real-time.</a:t>
            </a:r>
          </a:p>
          <a:p>
            <a:pPr>
              <a:buFont typeface="Arial" panose="020B0604020202020204" pitchFamily="34" charset="0"/>
              <a:buChar char="•"/>
            </a:pPr>
            <a:endParaRPr lang="en-US" dirty="0">
              <a:effectLst/>
              <a:latin typeface="Google Sans Text"/>
            </a:endParaRPr>
          </a:p>
          <a:p>
            <a:pPr>
              <a:buFont typeface="Arial" panose="020B0604020202020204" pitchFamily="34" charset="0"/>
              <a:buChar char="•"/>
            </a:pPr>
            <a:endParaRPr lang="en-US" dirty="0">
              <a:effectLst/>
              <a:latin typeface="Google Sans Text"/>
            </a:endParaRPr>
          </a:p>
          <a:p>
            <a:r>
              <a:rPr dirty="0"/>
              <a:t>SLIDE 2 — ASRRL Architecture: End-to-End Pipeline Overview</a:t>
            </a:r>
          </a:p>
          <a:p>
            <a:endParaRPr dirty="0"/>
          </a:p>
          <a:p>
            <a:r>
              <a:rPr dirty="0"/>
              <a:t>This slide presents the complete 8-stage pipeline that every network flow passes through from raw ingestion to final verified classification.</a:t>
            </a:r>
          </a:p>
          <a:p>
            <a:endParaRPr dirty="0"/>
          </a:p>
          <a:p>
            <a:r>
              <a:rPr dirty="0"/>
              <a:t>PIPELINE FLOW:</a:t>
            </a:r>
          </a:p>
          <a:p>
            <a:r>
              <a:rPr dirty="0"/>
              <a:t>The architecture processes data sequentially through 8 components, but with important feedback loops:</a:t>
            </a:r>
          </a:p>
          <a:p>
            <a:r>
              <a:rPr dirty="0"/>
              <a:t>- Stage 5 (DBSCAN) feeds novel patterns back to Stage 3 (Z3 constraints), creating an evolving constraint set</a:t>
            </a:r>
          </a:p>
          <a:p>
            <a:r>
              <a:rPr dirty="0"/>
              <a:t>- Stage 6 (Buffer) and Stage 7 (Threshold) are runtime adaptation mechanisms that tune the system based on observed traffic patterns</a:t>
            </a:r>
          </a:p>
          <a:p>
            <a:endParaRPr dirty="0"/>
          </a:p>
          <a:p>
            <a:r>
              <a:rPr dirty="0"/>
              <a:t>WHY 8 STAGES:</a:t>
            </a:r>
          </a:p>
          <a:p>
            <a:r>
              <a:rPr dirty="0"/>
              <a:t>Traditional IDS systems use a single classifier (e.g., Random Forest) that maps features directly to labels. ASRRL decomposes this into 8 stages because:</a:t>
            </a:r>
          </a:p>
          <a:p>
            <a:r>
              <a:rPr dirty="0"/>
              <a:t>1. Stages 1-2 (Ingestion + DT): Provide interpretable feature processing and a symbolic model whose decision paths can be formally analyzed</a:t>
            </a:r>
          </a:p>
          <a:p>
            <a:r>
              <a:rPr dirty="0"/>
              <a:t>2. Stage 3 (Z3): Converts the DT into formal logic — this is the key differentiator enabling provable safety</a:t>
            </a:r>
          </a:p>
          <a:p>
            <a:r>
              <a:rPr dirty="0"/>
              <a:t>3. Stage 4 (Q-Learning): Learns an adaptive policy that improves over the static DT, while Z3 constrains it to safe actions</a:t>
            </a:r>
          </a:p>
          <a:p>
            <a:r>
              <a:rPr dirty="0"/>
              <a:t>4. Stage 5 (DBSCAN): Addresses the open-world problem — new attack types not in training data can be detected and incorporated</a:t>
            </a:r>
          </a:p>
          <a:p>
            <a:r>
              <a:rPr dirty="0"/>
              <a:t>5. Stages 6-7 (Buffer + Threshold): Handle concept drift — network traffic characteristics change over time, and these stages adapt accordingly</a:t>
            </a:r>
          </a:p>
          <a:p>
            <a:r>
              <a:rPr dirty="0"/>
              <a:t>6. Stage 8 (Classification): Combines all signals into a final decision with full audit trail</a:t>
            </a:r>
          </a:p>
          <a:p>
            <a:endParaRPr dirty="0"/>
          </a:p>
          <a:p>
            <a:r>
              <a:rPr dirty="0"/>
              <a:t>DATA FLOW PER STAGE:</a:t>
            </a:r>
          </a:p>
          <a:p>
            <a:r>
              <a:rPr dirty="0"/>
              <a:t>Each stage transforms the data representation:</a:t>
            </a:r>
          </a:p>
          <a:p>
            <a:r>
              <a:rPr dirty="0"/>
              <a:t>- Raw columns (heterogeneous per dataset) → Standardized 7-feature vector → Z-scored normalized features → DT leaf IDs (discrete states) → Z3 constraints (formal logic) → Q-values (action values) → Novel clusters (DBSCAN centroids) → Dynamic buffer/threshold parameters → Binary classification with provenance</a:t>
            </a:r>
          </a:p>
          <a:p>
            <a:endParaRPr dirty="0"/>
          </a:p>
          <a:p>
            <a:r>
              <a:rPr dirty="0"/>
              <a:t>THREE DATASETS:</a:t>
            </a:r>
          </a:p>
          <a:p>
            <a:r>
              <a:rPr dirty="0"/>
              <a:t>All three datasets pass through the identical pipeline, demonstrating generalizability:</a:t>
            </a:r>
          </a:p>
          <a:p>
            <a:r>
              <a:rPr dirty="0"/>
              <a:t>- UNSW-NB15: 2.5M flows, 9 attack types, 30% attack ratio — most diverse attack distribution</a:t>
            </a:r>
          </a:p>
          <a:p>
            <a:r>
              <a:rPr dirty="0"/>
              <a:t>- CSE-CIC-IDS-2018: 16M flows, 7 attack types, 15% attack ratio — largest dataset, lower attack rate</a:t>
            </a:r>
          </a:p>
          <a:p>
            <a:r>
              <a:rPr dirty="0"/>
              <a:t>- CIC-IDS2017: 3.1M flows, 14 attack types, 20% attack ratio — most attack categories</a:t>
            </a:r>
          </a:p>
          <a:p>
            <a:endParaRPr dirty="0"/>
          </a:p>
          <a:p>
            <a:r>
              <a:rPr dirty="0"/>
              <a:t>The key insight is that despite different raw feature schemas (49 columns for UNSW vs 80+ for CIC datasets), all three converge to the same 7-dimensional standardized representation.</a:t>
            </a:r>
            <a:endParaRPr lang="en-US" dirty="0"/>
          </a:p>
          <a:p>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We evaluated ASRRL on three highly respected datasets: UNSW-NB15, CSE-CIC-IDS-2018, and CIC-IDS2017.</a:t>
            </a:r>
          </a:p>
          <a:p>
            <a:pPr>
              <a:buFont typeface="Arial" panose="020B0604020202020204" pitchFamily="34" charset="0"/>
              <a:buChar char="•"/>
            </a:pPr>
            <a:r>
              <a:rPr lang="en-US" dirty="0">
                <a:effectLst/>
                <a:latin typeface="Google Sans Text"/>
              </a:rPr>
              <a:t>To make the model robust across different environments, we standardize all raw features into a 7-dimensional vector, $</a:t>
            </a:r>
            <a:r>
              <a:rPr lang="en-US" dirty="0" err="1">
                <a:effectLst/>
                <a:latin typeface="Google Sans Text"/>
              </a:rPr>
              <a:t>x_i</a:t>
            </a:r>
            <a:r>
              <a:rPr lang="en-US" dirty="0">
                <a:effectLst/>
                <a:latin typeface="Google Sans Text"/>
              </a:rPr>
              <a:t>$. This includes metrics like flow duration, packet rate, byte rate, entropy, and protocol.</a:t>
            </a:r>
          </a:p>
          <a:p>
            <a:pPr>
              <a:buFont typeface="Arial" panose="020B0604020202020204" pitchFamily="34" charset="0"/>
              <a:buChar char="•"/>
            </a:pPr>
            <a:r>
              <a:rPr lang="en-US" dirty="0">
                <a:effectLst/>
                <a:latin typeface="Google Sans Text"/>
              </a:rPr>
              <a:t>Notice the flow of data: We start with normalization , extract logic from the Decision Tree paths into Z3 constraints , and use those constraints to verify our Q-learning agent's actions.</a:t>
            </a:r>
          </a:p>
          <a:p>
            <a:pPr>
              <a:buFont typeface="Arial" panose="020B0604020202020204" pitchFamily="34" charset="0"/>
              <a:buChar char="•"/>
            </a:pPr>
            <a:r>
              <a:rPr lang="en-US" dirty="0">
                <a:effectLst/>
                <a:latin typeface="Google Sans Text"/>
              </a:rPr>
              <a:t>Misclassified flows aren't just discarded; they are clustered using DBSCAN to discover novel attack rules.</a:t>
            </a:r>
          </a:p>
          <a:p>
            <a:pPr>
              <a:buFont typeface="Arial" panose="020B0604020202020204" pitchFamily="34" charset="0"/>
              <a:buChar char="•"/>
            </a:pPr>
            <a:r>
              <a:rPr lang="en-US" dirty="0">
                <a:effectLst/>
                <a:latin typeface="Google Sans Text"/>
              </a:rPr>
              <a:t>Our buffer sizes and decision thresholds are not static; they mathematically adapt to the traffic's variance and error rates in real-time.</a:t>
            </a:r>
          </a:p>
          <a:p>
            <a:endParaRPr lang="en-US" dirty="0"/>
          </a:p>
          <a:p>
            <a:endParaRPr lang="en-US" dirty="0"/>
          </a:p>
          <a:p>
            <a:endParaRPr lang="en-US" dirty="0"/>
          </a:p>
          <a:p>
            <a:endParaRPr lang="en-US" dirty="0"/>
          </a:p>
          <a:p>
            <a:endParaRPr lang="en-US" dirty="0"/>
          </a:p>
          <a:p>
            <a:r>
              <a:rPr dirty="0"/>
              <a:t>SLIDE 3 — Three Benchmark Datasets: Raw Features &amp; Standardized Extraction</a:t>
            </a:r>
          </a:p>
          <a:p>
            <a:endParaRPr dirty="0"/>
          </a:p>
          <a:p>
            <a:r>
              <a:rPr dirty="0"/>
              <a:t>This slide shows the concrete feature extraction process for each of the three primary datasets. The key challenge is that each dataset has a different raw schema, but ASRRL needs a unified 7-feature representation.</a:t>
            </a:r>
          </a:p>
          <a:p>
            <a:endParaRPr dirty="0"/>
          </a:p>
          <a:p>
            <a:r>
              <a:rPr dirty="0"/>
              <a:t>UNSW-NB15 (University of New South Wales, 2015):</a:t>
            </a:r>
          </a:p>
          <a:p>
            <a:r>
              <a:rPr dirty="0"/>
              <a:t>- Created by the Australian Centre for Cyber Security using the IXIA </a:t>
            </a:r>
            <a:r>
              <a:rPr dirty="0" err="1"/>
              <a:t>PerfectStorm</a:t>
            </a:r>
            <a:r>
              <a:rPr dirty="0"/>
              <a:t> tool</a:t>
            </a:r>
          </a:p>
          <a:p>
            <a:r>
              <a:rPr dirty="0"/>
              <a:t>- Contains 49 raw features including flow-level (dur, rate, </a:t>
            </a:r>
            <a:r>
              <a:rPr dirty="0" err="1"/>
              <a:t>sbytes</a:t>
            </a:r>
            <a:r>
              <a:rPr dirty="0"/>
              <a:t>), connection-level (</a:t>
            </a:r>
            <a:r>
              <a:rPr dirty="0" err="1"/>
              <a:t>ct_srv_src</a:t>
            </a:r>
            <a:r>
              <a:rPr dirty="0"/>
              <a:t>, </a:t>
            </a:r>
            <a:r>
              <a:rPr dirty="0" err="1"/>
              <a:t>ct_dst_ltm</a:t>
            </a:r>
            <a:r>
              <a:rPr dirty="0"/>
              <a:t>), and content-level features</a:t>
            </a:r>
          </a:p>
          <a:p>
            <a:r>
              <a:rPr dirty="0"/>
              <a:t>- Feature mapping: 'dur' (seconds) is multiplied by 1000 to convert to milliseconds for consistency. '</a:t>
            </a:r>
            <a:r>
              <a:rPr dirty="0" err="1"/>
              <a:t>ct_srv_src</a:t>
            </a:r>
            <a:r>
              <a:rPr dirty="0"/>
              <a:t>' (count of connections to the same service from the same source) serves as an entropy proxy — higher values indicate more diverse connection patterns typical of scanning/probing attacks</a:t>
            </a:r>
          </a:p>
          <a:p>
            <a:r>
              <a:rPr dirty="0"/>
              <a:t>- Port categorization uses 6 bins: [0-80] (HTTP), [80-443] (HTTPS), [443-1024] (well-known), [1024-5000] (registered), [5000-10000] (dynamic), [10000-65536] (ephemeral)</a:t>
            </a:r>
          </a:p>
          <a:p>
            <a:r>
              <a:rPr dirty="0"/>
              <a:t>- 9 attack categories: Generic (25%), Exploits (20%), </a:t>
            </a:r>
            <a:r>
              <a:rPr dirty="0" err="1"/>
              <a:t>Fuzzers</a:t>
            </a:r>
            <a:r>
              <a:rPr dirty="0"/>
              <a:t> (15%), DoS (15%), Reconnaissance (10%), Analysis (8%), Backdoor (4%), Shellcode (2%), Worms (1%)</a:t>
            </a:r>
          </a:p>
          <a:p>
            <a:r>
              <a:rPr dirty="0"/>
              <a:t>- Attack ratio ~30% — the highest among the three datasets, making it particularly useful for testing recall</a:t>
            </a:r>
          </a:p>
          <a:p>
            <a:endParaRPr dirty="0"/>
          </a:p>
          <a:p>
            <a:r>
              <a:rPr dirty="0"/>
              <a:t>CSE-CIC-IDS-2018 (Canadian Institute for Cybersecurity, 2018):</a:t>
            </a:r>
          </a:p>
          <a:p>
            <a:r>
              <a:rPr dirty="0"/>
              <a:t>- Generated using </a:t>
            </a:r>
            <a:r>
              <a:rPr dirty="0" err="1"/>
              <a:t>CICFlowMeter</a:t>
            </a:r>
            <a:r>
              <a:rPr dirty="0"/>
              <a:t> on AWS infrastructure with realistic attack scenarios over 10 days</a:t>
            </a:r>
          </a:p>
          <a:p>
            <a:r>
              <a:rPr dirty="0"/>
              <a:t>- Contains 80+ </a:t>
            </a:r>
            <a:r>
              <a:rPr dirty="0" err="1"/>
              <a:t>CICFlowMeter</a:t>
            </a:r>
            <a:r>
              <a:rPr dirty="0"/>
              <a:t> features including flow duration, packet rates, byte rates, inter-arrival times, flags, etc.</a:t>
            </a:r>
          </a:p>
          <a:p>
            <a:r>
              <a:rPr dirty="0"/>
              <a:t>- Feature mapping: 'Flow Duration' is in microseconds, divided by 1000 for milliseconds. '</a:t>
            </a:r>
            <a:r>
              <a:rPr dirty="0" err="1"/>
              <a:t>Fwd</a:t>
            </a:r>
            <a:r>
              <a:rPr dirty="0"/>
              <a:t> IAT Std' (forward inter-arrival time standard deviation) serves as entropy proxy — quantile-normalized to [0,1] using 1st-99th percentile clipping to handle outliers</a:t>
            </a:r>
          </a:p>
          <a:p>
            <a:r>
              <a:rPr dirty="0"/>
              <a:t>- Protocol mapping: IP protocol numbers (6=TCP, 17=UDP, 1=ICMP) mapped to categorical integers</a:t>
            </a:r>
          </a:p>
          <a:p>
            <a:r>
              <a:rPr dirty="0"/>
              <a:t>- 7 attack categories: DoS (30%), DDoS (25%), Brute Force (20%), Infiltration (15%), Botnet (10%), Web Attack, SQL Injection</a:t>
            </a:r>
          </a:p>
          <a:p>
            <a:r>
              <a:rPr dirty="0"/>
              <a:t>- Attack ratio ~15% — represents a more realistic enterprise environment with predominantly benign traffic</a:t>
            </a:r>
          </a:p>
          <a:p>
            <a:endParaRPr dirty="0"/>
          </a:p>
          <a:p>
            <a:r>
              <a:rPr dirty="0"/>
              <a:t>CIC-IDS2017 (Canadian Institute for Cybersecurity, 2017):</a:t>
            </a:r>
          </a:p>
          <a:p>
            <a:r>
              <a:rPr dirty="0"/>
              <a:t>- Predecessor to CSE-CIC-2018, using the same </a:t>
            </a:r>
            <a:r>
              <a:rPr dirty="0" err="1"/>
              <a:t>CICFlowMeter</a:t>
            </a:r>
            <a:r>
              <a:rPr dirty="0"/>
              <a:t> tool but with different attack scenarios</a:t>
            </a:r>
          </a:p>
          <a:p>
            <a:r>
              <a:rPr dirty="0"/>
              <a:t>- Shares the same 80+ feature schema as CSE-CIC-2018 (both use </a:t>
            </a:r>
            <a:r>
              <a:rPr dirty="0" err="1"/>
              <a:t>CICFlowMeter</a:t>
            </a:r>
            <a:r>
              <a:rPr dirty="0"/>
              <a:t>), so the same _</a:t>
            </a:r>
            <a:r>
              <a:rPr dirty="0" err="1"/>
              <a:t>preprocess_cic</a:t>
            </a:r>
            <a:r>
              <a:rPr dirty="0"/>
              <a:t>() function handles both</a:t>
            </a:r>
          </a:p>
          <a:p>
            <a:r>
              <a:rPr dirty="0"/>
              <a:t>- 14 attack categories (most diverse): DoS (25%), </a:t>
            </a:r>
            <a:r>
              <a:rPr dirty="0" err="1"/>
              <a:t>PortScan</a:t>
            </a:r>
            <a:r>
              <a:rPr dirty="0"/>
              <a:t> (20%), DDoS (20%), Brute Force (15%), Web Attack (10%), Infiltration (10%), Heartbleed, Botnet, SSH-</a:t>
            </a:r>
            <a:r>
              <a:rPr dirty="0" err="1"/>
              <a:t>Patator</a:t>
            </a:r>
            <a:r>
              <a:rPr dirty="0"/>
              <a:t>, FTP-</a:t>
            </a:r>
            <a:r>
              <a:rPr dirty="0" err="1"/>
              <a:t>Patator</a:t>
            </a:r>
            <a:endParaRPr dirty="0"/>
          </a:p>
          <a:p>
            <a:r>
              <a:rPr dirty="0"/>
              <a:t>- Attack ratio ~20% — moderate, good for balanced evaluation</a:t>
            </a:r>
          </a:p>
          <a:p>
            <a:endParaRPr dirty="0"/>
          </a:p>
          <a:p>
            <a:r>
              <a:rPr dirty="0"/>
              <a:t>STANDARDIZED OUTPUT SCHEMA:</a:t>
            </a:r>
          </a:p>
          <a:p>
            <a:r>
              <a:rPr dirty="0"/>
              <a:t>All three datasets are mapped to: </a:t>
            </a:r>
            <a:r>
              <a:rPr dirty="0" err="1"/>
              <a:t>x_i</a:t>
            </a:r>
            <a:r>
              <a:rPr dirty="0"/>
              <a:t> = [</a:t>
            </a:r>
            <a:r>
              <a:rPr dirty="0" err="1"/>
              <a:t>flow_duration</a:t>
            </a:r>
            <a:r>
              <a:rPr dirty="0"/>
              <a:t>, </a:t>
            </a:r>
            <a:r>
              <a:rPr dirty="0" err="1"/>
              <a:t>pkt_rate</a:t>
            </a:r>
            <a:r>
              <a:rPr dirty="0"/>
              <a:t>, </a:t>
            </a:r>
            <a:r>
              <a:rPr dirty="0" err="1"/>
              <a:t>byte_rate</a:t>
            </a:r>
            <a:r>
              <a:rPr dirty="0"/>
              <a:t>, entropy, </a:t>
            </a:r>
            <a:r>
              <a:rPr dirty="0" err="1"/>
              <a:t>port_cat</a:t>
            </a:r>
            <a:r>
              <a:rPr dirty="0"/>
              <a:t>, </a:t>
            </a:r>
            <a:r>
              <a:rPr dirty="0" err="1"/>
              <a:t>size_cat</a:t>
            </a:r>
            <a:r>
              <a:rPr dirty="0"/>
              <a:t>, protocol]</a:t>
            </a:r>
          </a:p>
          <a:p>
            <a:r>
              <a:rPr dirty="0"/>
              <a:t>- First 4 features are continuous (will be Z-score normalized in Stage 1)</a:t>
            </a:r>
          </a:p>
          <a:p>
            <a:r>
              <a:rPr dirty="0"/>
              <a:t>- Last 3 features are categorical integers (port bin 0-5, size bin 0-3, protocol 0-2)</a:t>
            </a:r>
          </a:p>
          <a:p>
            <a:r>
              <a:rPr dirty="0"/>
              <a:t>- Binary label </a:t>
            </a:r>
            <a:r>
              <a:rPr dirty="0" err="1"/>
              <a:t>y_i</a:t>
            </a:r>
            <a:r>
              <a:rPr dirty="0"/>
              <a:t> in {0, 1} where 0=benign, 1=attack</a:t>
            </a:r>
          </a:p>
          <a:p>
            <a:r>
              <a:rPr dirty="0"/>
              <a:t>- Multi-class </a:t>
            </a:r>
            <a:r>
              <a:rPr dirty="0" err="1"/>
              <a:t>attack_cat</a:t>
            </a:r>
            <a:r>
              <a:rPr dirty="0"/>
              <a:t> column preserved for analysis but not used in primary classification</a:t>
            </a:r>
            <a:endParaRPr lang="en-US" dirty="0"/>
          </a:p>
          <a:p>
            <a:endParaRPr lang="en-US" dirty="0"/>
          </a:p>
          <a:p>
            <a:endParaRPr lang="en-US" dirty="0"/>
          </a:p>
          <a:p>
            <a:pPr marL="171450" indent="-171450">
              <a:buFont typeface="Arial" panose="020B0604020202020204" pitchFamily="34" charset="0"/>
              <a:buChar char="•"/>
            </a:pPr>
            <a:endParaRPr lang="en-US" dirty="0">
              <a:effectLst/>
              <a:latin typeface="Google Sans Text"/>
            </a:endParaRPr>
          </a:p>
          <a:p>
            <a:pPr marL="171450" indent="-171450">
              <a:buFont typeface="Arial" panose="020B0604020202020204" pitchFamily="34" charset="0"/>
              <a:buChar char="•"/>
            </a:pPr>
            <a:endParaRPr lang="en-US" dirty="0">
              <a:effectLst/>
              <a:latin typeface="Google Sans Text"/>
            </a:endParaRPr>
          </a:p>
          <a:p>
            <a:r>
              <a:rPr lang="en-US" b="1" dirty="0">
                <a:effectLst/>
              </a:rPr>
              <a:t>Notes (speaker):</a:t>
            </a:r>
            <a:r>
              <a:rPr lang="en-US" dirty="0">
                <a:effectLst/>
              </a:rPr>
              <a:t> List the three datasets and the standardized 7‑feature schema used across them to ensure comparability. </a:t>
            </a:r>
            <a:r>
              <a:rPr lang="en-US" i="1" dirty="0">
                <a:effectLst/>
              </a:rPr>
              <a:t>Three Primary Datasets: UNSW-NB15 (2.5M flows, 9 attacks) | CSE-CIC-IDS-2018 (16M flows, 7 attacks) | CIC-IDS2017 (3.1M flows, 14 attacks).</a:t>
            </a:r>
            <a:endParaRPr lang="en-US" dirty="0"/>
          </a:p>
          <a:p>
            <a:pPr>
              <a:buFont typeface="Arial" panose="020B0604020202020204" pitchFamily="34" charset="0"/>
              <a:buChar char="•"/>
            </a:pPr>
            <a:r>
              <a:rPr lang="en-US" dirty="0">
                <a:effectLst/>
              </a:rPr>
              <a:t>Explain the </a:t>
            </a:r>
            <a:r>
              <a:rPr lang="en-US" b="1" dirty="0">
                <a:effectLst/>
              </a:rPr>
              <a:t>standardized feature vector</a:t>
            </a:r>
            <a:r>
              <a:rPr lang="en-US" dirty="0">
                <a:effectLst/>
              </a:rPr>
              <a:t> xi=[flow_duration,pkt_rate,byte_rate,entropy,port_cat,size_cat,protocol] and why reducing to 7 features aids symbolic extraction and real‑time verification.</a:t>
            </a:r>
            <a:endParaRPr lang="en-US" dirty="0"/>
          </a:p>
          <a:p>
            <a:pPr>
              <a:buFont typeface="Arial" panose="020B0604020202020204" pitchFamily="34" charset="0"/>
              <a:buChar char="•"/>
            </a:pPr>
            <a:r>
              <a:rPr lang="en-US" dirty="0">
                <a:effectLst/>
              </a:rPr>
              <a:t>Mention attack ratios per dataset to motivate threshold and buffer tuning.</a:t>
            </a:r>
            <a:endParaRPr lang="en-US" dirty="0"/>
          </a:p>
          <a:p>
            <a:pPr marL="171450" indent="-171450">
              <a:buFont typeface="Arial" panose="020B0604020202020204" pitchFamily="34" charset="0"/>
              <a:buChar char="•"/>
            </a:pPr>
            <a:endParaRPr lang="en-US" dirty="0">
              <a:effectLst/>
              <a:latin typeface="Google Sans Text"/>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Stage 1 - Data Ingestion &amp; Normalization</a:t>
            </a:r>
          </a:p>
          <a:p>
            <a:r>
              <a:rPr lang="en-US" b="1" dirty="0"/>
              <a:t>Speaker Notes:</a:t>
            </a:r>
            <a:endParaRPr lang="en-US" dirty="0"/>
          </a:p>
          <a:p>
            <a:pPr>
              <a:buFont typeface="Arial" panose="020B0604020202020204" pitchFamily="34" charset="0"/>
              <a:buChar char="•"/>
            </a:pPr>
            <a:r>
              <a:rPr lang="en-US" dirty="0"/>
              <a:t>In Stage 1, we apply standard Z-Score normalization.</a:t>
            </a:r>
          </a:p>
          <a:p>
            <a:pPr>
              <a:buFont typeface="Arial" panose="020B0604020202020204" pitchFamily="34" charset="0"/>
              <a:buChar char="•"/>
            </a:pPr>
            <a:r>
              <a:rPr lang="en-US" dirty="0"/>
              <a:t>This is a critical step because neural networks and distance-based clustering algorithms (like our later DBSCAN stage) require zero mean and unit variance to function correctly.</a:t>
            </a:r>
          </a:p>
          <a:p>
            <a:pPr>
              <a:buFont typeface="Arial" panose="020B0604020202020204" pitchFamily="34" charset="0"/>
              <a:buChar char="•"/>
            </a:pPr>
            <a:r>
              <a:rPr lang="en-US" dirty="0"/>
              <a:t>As shown in the concrete examples, raw values with drastically different scales—like a byte rate of 1.8 million and an entropy of 0.88—are transformed into an easily digestible range, typically between -3 and +3.</a:t>
            </a:r>
          </a:p>
          <a:p>
            <a:endParaRPr lang="en-US" dirty="0"/>
          </a:p>
          <a:p>
            <a:endParaRPr lang="en-US" dirty="0"/>
          </a:p>
          <a:p>
            <a:r>
              <a:rPr dirty="0"/>
              <a:t>SLIDE 4 — Stage 1: Data Ingestion &amp; </a:t>
            </a:r>
            <a:r>
              <a:rPr dirty="0" err="1"/>
              <a:t>StandardScaler</a:t>
            </a:r>
            <a:r>
              <a:rPr dirty="0"/>
              <a:t> Normalization</a:t>
            </a:r>
          </a:p>
          <a:p>
            <a:endParaRPr dirty="0"/>
          </a:p>
          <a:p>
            <a:r>
              <a:rPr dirty="0"/>
              <a:t>PURPOSE: Transform raw, heterogeneous dataset columns into a standardized, normalized feature matrix suitable for machine learning.</a:t>
            </a:r>
          </a:p>
          <a:p>
            <a:endParaRPr dirty="0"/>
          </a:p>
          <a:p>
            <a:r>
              <a:rPr dirty="0"/>
              <a:t>ALGORITHM DETAILS:</a:t>
            </a:r>
          </a:p>
          <a:p>
            <a:r>
              <a:rPr dirty="0"/>
              <a:t>The </a:t>
            </a:r>
            <a:r>
              <a:rPr dirty="0" err="1"/>
              <a:t>StandardScaler</a:t>
            </a:r>
            <a:r>
              <a:rPr dirty="0"/>
              <a:t> from scikit-learn performs Z-score normalization independently on each of the 7 features. For each feature j:</a:t>
            </a:r>
          </a:p>
          <a:p>
            <a:r>
              <a:rPr dirty="0"/>
              <a:t>- Compute mean: </a:t>
            </a:r>
            <a:r>
              <a:rPr dirty="0" err="1"/>
              <a:t>mu_j</a:t>
            </a:r>
            <a:r>
              <a:rPr dirty="0"/>
              <a:t> = (1/n) * sum(</a:t>
            </a:r>
            <a:r>
              <a:rPr dirty="0" err="1"/>
              <a:t>x_j</a:t>
            </a:r>
            <a:r>
              <a:rPr dirty="0"/>
              <a:t>^(</a:t>
            </a:r>
            <a:r>
              <a:rPr dirty="0" err="1"/>
              <a:t>i</a:t>
            </a:r>
            <a:r>
              <a:rPr dirty="0"/>
              <a:t>)) for </a:t>
            </a:r>
            <a:r>
              <a:rPr dirty="0" err="1"/>
              <a:t>i</a:t>
            </a:r>
            <a:r>
              <a:rPr dirty="0"/>
              <a:t>=1..n</a:t>
            </a:r>
          </a:p>
          <a:p>
            <a:r>
              <a:rPr dirty="0"/>
              <a:t>- Compute std: </a:t>
            </a:r>
            <a:r>
              <a:rPr dirty="0" err="1"/>
              <a:t>sigma_j</a:t>
            </a:r>
            <a:r>
              <a:rPr dirty="0"/>
              <a:t> = sqrt((1/(n-1)) * sum((</a:t>
            </a:r>
            <a:r>
              <a:rPr dirty="0" err="1"/>
              <a:t>x_j</a:t>
            </a:r>
            <a:r>
              <a:rPr dirty="0"/>
              <a:t>^(</a:t>
            </a:r>
            <a:r>
              <a:rPr dirty="0" err="1"/>
              <a:t>i</a:t>
            </a:r>
            <a:r>
              <a:rPr dirty="0"/>
              <a:t>) - </a:t>
            </a:r>
            <a:r>
              <a:rPr dirty="0" err="1"/>
              <a:t>mu_j</a:t>
            </a:r>
            <a:r>
              <a:rPr dirty="0"/>
              <a:t>)^2))</a:t>
            </a:r>
          </a:p>
          <a:p>
            <a:r>
              <a:rPr dirty="0"/>
              <a:t>- Transform: </a:t>
            </a:r>
            <a:r>
              <a:rPr dirty="0" err="1"/>
              <a:t>z_j</a:t>
            </a:r>
            <a:r>
              <a:rPr dirty="0"/>
              <a:t>^(</a:t>
            </a:r>
            <a:r>
              <a:rPr dirty="0" err="1"/>
              <a:t>i</a:t>
            </a:r>
            <a:r>
              <a:rPr dirty="0"/>
              <a:t>) = (</a:t>
            </a:r>
            <a:r>
              <a:rPr dirty="0" err="1"/>
              <a:t>x_j</a:t>
            </a:r>
            <a:r>
              <a:rPr dirty="0"/>
              <a:t>^(</a:t>
            </a:r>
            <a:r>
              <a:rPr dirty="0" err="1"/>
              <a:t>i</a:t>
            </a:r>
            <a:r>
              <a:rPr dirty="0"/>
              <a:t>) - </a:t>
            </a:r>
            <a:r>
              <a:rPr dirty="0" err="1"/>
              <a:t>mu_j</a:t>
            </a:r>
            <a:r>
              <a:rPr dirty="0"/>
              <a:t>) / </a:t>
            </a:r>
            <a:r>
              <a:rPr dirty="0" err="1"/>
              <a:t>sigma_j</a:t>
            </a:r>
            <a:endParaRPr dirty="0"/>
          </a:p>
          <a:p>
            <a:endParaRPr dirty="0"/>
          </a:p>
          <a:p>
            <a:r>
              <a:rPr dirty="0"/>
              <a:t>This ensures each feature has zero mean and unit variance, preventing features with larger absolute values (e.g., </a:t>
            </a:r>
            <a:r>
              <a:rPr dirty="0" err="1"/>
              <a:t>byte_rate</a:t>
            </a:r>
            <a:r>
              <a:rPr dirty="0"/>
              <a:t> in millions) from dominating the decision tree splits over features with smaller values (e.g., entropy in [0,1]).</a:t>
            </a:r>
          </a:p>
          <a:p>
            <a:endParaRPr dirty="0"/>
          </a:p>
          <a:p>
            <a:r>
              <a:rPr dirty="0"/>
              <a:t>CONCRETE EXAMPLES SHOWN:</a:t>
            </a:r>
          </a:p>
          <a:p>
            <a:r>
              <a:rPr dirty="0"/>
              <a:t>The slide shows a single representative flow from each dataset being transformed:</a:t>
            </a:r>
          </a:p>
          <a:p>
            <a:endParaRPr dirty="0"/>
          </a:p>
          <a:p>
            <a:r>
              <a:rPr dirty="0"/>
              <a:t>UNSW-NB15 example: A flow with dur=0.12 seconds, rate=45.2 pkts/s, </a:t>
            </a:r>
            <a:r>
              <a:rPr dirty="0" err="1"/>
              <a:t>sbytes</a:t>
            </a:r>
            <a:r>
              <a:rPr dirty="0"/>
              <a:t>=3200 bytes, </a:t>
            </a:r>
            <a:r>
              <a:rPr dirty="0" err="1"/>
              <a:t>ct_srv_src</a:t>
            </a:r>
            <a:r>
              <a:rPr dirty="0"/>
              <a:t>=8</a:t>
            </a:r>
          </a:p>
          <a:p>
            <a:r>
              <a:rPr dirty="0"/>
              <a:t>- Extraction: dur*1000=120ms, rate as-is, </a:t>
            </a:r>
            <a:r>
              <a:rPr dirty="0" err="1"/>
              <a:t>sbytes</a:t>
            </a:r>
            <a:r>
              <a:rPr dirty="0"/>
              <a:t> as </a:t>
            </a:r>
            <a:r>
              <a:rPr dirty="0" err="1"/>
              <a:t>byte_rate</a:t>
            </a:r>
            <a:r>
              <a:rPr dirty="0"/>
              <a:t>, </a:t>
            </a:r>
            <a:r>
              <a:rPr dirty="0" err="1"/>
              <a:t>ct_srv_src</a:t>
            </a:r>
            <a:r>
              <a:rPr dirty="0"/>
              <a:t> normalized to 0.31 entropy</a:t>
            </a:r>
          </a:p>
          <a:p>
            <a:r>
              <a:rPr dirty="0"/>
              <a:t>- Z-scoring: The negative z-scores for </a:t>
            </a:r>
            <a:r>
              <a:rPr dirty="0" err="1"/>
              <a:t>flow_duration</a:t>
            </a:r>
            <a:r>
              <a:rPr dirty="0"/>
              <a:t> (-0.82) and </a:t>
            </a:r>
            <a:r>
              <a:rPr dirty="0" err="1"/>
              <a:t>pkt_rate</a:t>
            </a:r>
            <a:r>
              <a:rPr dirty="0"/>
              <a:t> (-0.45) indicate this flow is below average for both metrics, suggesting it's likely a benign short session. The positive </a:t>
            </a:r>
            <a:r>
              <a:rPr dirty="0" err="1"/>
              <a:t>byte_rate</a:t>
            </a:r>
            <a:r>
              <a:rPr dirty="0"/>
              <a:t> (0.21) is slightly above average.</a:t>
            </a:r>
          </a:p>
          <a:p>
            <a:endParaRPr dirty="0"/>
          </a:p>
          <a:p>
            <a:r>
              <a:rPr dirty="0"/>
              <a:t>CSE-CIC-2018 example: A flow with Flow Duration=250000 microseconds, high packet rate and byte rate</a:t>
            </a:r>
          </a:p>
          <a:p>
            <a:r>
              <a:rPr dirty="0"/>
              <a:t>- The positive z-scores across most features (0.34, 0.78, 1.12) suggest above-average traffic intensity, which could indicate attack behavior (DoS/DDoS patterns typically show elevated rates)</a:t>
            </a:r>
          </a:p>
          <a:p>
            <a:endParaRPr dirty="0"/>
          </a:p>
          <a:p>
            <a:r>
              <a:rPr dirty="0"/>
              <a:t>CIC-IDS2017 example: A flow with very high packet rate (2400) and byte rate (1.8M)</a:t>
            </a:r>
          </a:p>
          <a:p>
            <a:r>
              <a:rPr dirty="0"/>
              <a:t>- The strongly positive z-scores for </a:t>
            </a:r>
            <a:r>
              <a:rPr dirty="0" err="1"/>
              <a:t>pkt_rate</a:t>
            </a:r>
            <a:r>
              <a:rPr dirty="0"/>
              <a:t> (1.95) and </a:t>
            </a:r>
            <a:r>
              <a:rPr dirty="0" err="1"/>
              <a:t>byte_rate</a:t>
            </a:r>
            <a:r>
              <a:rPr dirty="0"/>
              <a:t> (2.31) are characteristic of volumetric attack traffic</a:t>
            </a:r>
          </a:p>
          <a:p>
            <a:endParaRPr dirty="0"/>
          </a:p>
          <a:p>
            <a:r>
              <a:rPr dirty="0"/>
              <a:t>WHY Z-SCORE NORMALIZATION:</a:t>
            </a:r>
          </a:p>
          <a:p>
            <a:r>
              <a:rPr dirty="0"/>
              <a:t>- Decision trees are somewhat robust to feature scaling, but the normalized features produce more interpretable Z3 constraints (thresholds are in standard deviation units rather than raw units)</a:t>
            </a:r>
          </a:p>
          <a:p>
            <a:r>
              <a:rPr dirty="0"/>
              <a:t>- The scaler is fit on training data only and applied to test data to prevent data leakage</a:t>
            </a:r>
          </a:p>
          <a:p>
            <a:r>
              <a:rPr dirty="0"/>
              <a:t>- Categorical features (</a:t>
            </a:r>
            <a:r>
              <a:rPr dirty="0" err="1"/>
              <a:t>port_cat</a:t>
            </a:r>
            <a:r>
              <a:rPr dirty="0"/>
              <a:t>, </a:t>
            </a:r>
            <a:r>
              <a:rPr dirty="0" err="1"/>
              <a:t>size_cat</a:t>
            </a:r>
            <a:r>
              <a:rPr dirty="0"/>
              <a:t>, protocol) are passed through unchanged — they're already in small integer ranges</a:t>
            </a:r>
          </a:p>
          <a:p>
            <a:endParaRPr dirty="0"/>
          </a:p>
          <a:p>
            <a:r>
              <a:rPr dirty="0"/>
              <a:t>OUTPUT:</a:t>
            </a:r>
          </a:p>
          <a:p>
            <a:r>
              <a:rPr dirty="0"/>
              <a:t>- </a:t>
            </a:r>
            <a:r>
              <a:rPr dirty="0" err="1"/>
              <a:t>X_norm</a:t>
            </a:r>
            <a:r>
              <a:rPr dirty="0"/>
              <a:t>: n x 7 matrix of normalized features</a:t>
            </a:r>
          </a:p>
          <a:p>
            <a:r>
              <a:rPr dirty="0"/>
              <a:t>- y: n-vector of binary labels</a:t>
            </a:r>
          </a:p>
          <a:p>
            <a:r>
              <a:rPr dirty="0"/>
              <a:t>- The scaler parameters (mu, sigma per feature) are saved for test-time application</a:t>
            </a:r>
          </a:p>
          <a:p>
            <a:r>
              <a:rPr dirty="0"/>
              <a:t>- This feeds directly into Stage 2 (Decision Tree training)</a:t>
            </a:r>
            <a:endParaRPr lang="en-US" dirty="0"/>
          </a:p>
          <a:p>
            <a:endParaRPr lang="en-US" dirty="0"/>
          </a:p>
          <a:p>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effectLst/>
                <a:latin typeface="Google Sans Text"/>
              </a:rPr>
              <a:t>Stage 2 - Decision Tree Symbolic Model</a:t>
            </a:r>
            <a:endParaRPr lang="en-US" b="1" dirty="0">
              <a:effectLst/>
              <a:latin typeface="Google Sans"/>
            </a:endParaRPr>
          </a:p>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For Stage 2, we train a CART Decision tree limited to a max depth of 6.</a:t>
            </a:r>
          </a:p>
          <a:p>
            <a:pPr>
              <a:buFont typeface="Arial" panose="020B0604020202020204" pitchFamily="34" charset="0"/>
              <a:buChar char="•"/>
            </a:pPr>
            <a:r>
              <a:rPr lang="en-US" dirty="0">
                <a:effectLst/>
                <a:latin typeface="Google Sans Text"/>
              </a:rPr>
              <a:t>The goal here is not just to classify the traffic, but to create a transparent, interpretable base model.</a:t>
            </a:r>
          </a:p>
          <a:p>
            <a:pPr>
              <a:buFont typeface="Arial" panose="020B0604020202020204" pitchFamily="34" charset="0"/>
              <a:buChar char="•"/>
            </a:pPr>
            <a:r>
              <a:rPr lang="en-US" dirty="0">
                <a:effectLst/>
                <a:latin typeface="Google Sans Text"/>
              </a:rPr>
              <a:t>We minimize the weighted Gini impurity to find the best splits.</a:t>
            </a:r>
          </a:p>
          <a:p>
            <a:pPr>
              <a:buFont typeface="Arial" panose="020B0604020202020204" pitchFamily="34" charset="0"/>
              <a:buChar char="•"/>
            </a:pPr>
            <a:r>
              <a:rPr lang="en-US" dirty="0">
                <a:effectLst/>
                <a:latin typeface="Google Sans Text"/>
              </a:rPr>
              <a:t>The leaf nodes generated (ranging from 58 to 63 nodes depending on the dataset) serve a dual purpose: they give us a baseline prediction, and their unique IDs serve as the discrete states for our Reinforcement Learning agent in Stage 4</a:t>
            </a:r>
          </a:p>
          <a:p>
            <a:endParaRPr lang="en-US" dirty="0"/>
          </a:p>
          <a:p>
            <a:endParaRPr lang="en-US" dirty="0"/>
          </a:p>
          <a:p>
            <a:endParaRPr lang="en-US" dirty="0"/>
          </a:p>
          <a:p>
            <a:endParaRPr lang="en-US" dirty="0"/>
          </a:p>
          <a:p>
            <a:r>
              <a:rPr dirty="0"/>
              <a:t>SLIDE 5 — Stage 2: Decision Tree Symbolic Model (CART)</a:t>
            </a:r>
          </a:p>
          <a:p>
            <a:endParaRPr dirty="0"/>
          </a:p>
          <a:p>
            <a:r>
              <a:rPr dirty="0"/>
              <a:t>PURPOSE: Train an interpretable decision tree classifier whose internal decision paths can be extracted as formal logic constraints for Z3 verification.</a:t>
            </a:r>
          </a:p>
          <a:p>
            <a:endParaRPr dirty="0"/>
          </a:p>
          <a:p>
            <a:r>
              <a:rPr dirty="0"/>
              <a:t>WHY DECISION TREE (not Random Forest or Neural Network):</a:t>
            </a:r>
          </a:p>
          <a:p>
            <a:r>
              <a:rPr dirty="0"/>
              <a:t>The decision tree is chosen specifically because it is a "white-box" model — every prediction can be explained as a conjunction of feature threshold comparisons along a root-to-leaf path. This is critical because:</a:t>
            </a:r>
          </a:p>
          <a:p>
            <a:r>
              <a:rPr dirty="0"/>
              <a:t>1. Each path can be directly translated into a Z3 logical implication (Stage 3)</a:t>
            </a:r>
          </a:p>
          <a:p>
            <a:r>
              <a:rPr dirty="0"/>
              <a:t>2. Each leaf node provides a discrete state ID for the Q-learning agent (Stage 4)</a:t>
            </a:r>
          </a:p>
          <a:p>
            <a:r>
              <a:rPr dirty="0"/>
              <a:t>3. The shallow depth (</a:t>
            </a:r>
            <a:r>
              <a:rPr dirty="0" err="1"/>
              <a:t>max_depth</a:t>
            </a:r>
            <a:r>
              <a:rPr dirty="0"/>
              <a:t>=6) limits the number of constraints, keeping Z3 verification tractable at runtime</a:t>
            </a:r>
          </a:p>
          <a:p>
            <a:endParaRPr dirty="0"/>
          </a:p>
          <a:p>
            <a:r>
              <a:rPr dirty="0"/>
              <a:t>ALGORITHM — CART (Classification and Regression Trees):</a:t>
            </a:r>
          </a:p>
          <a:p>
            <a:r>
              <a:rPr dirty="0"/>
              <a:t>At each node, the algorithm searches over all 7 features and all possible thresholds to find the split that minimizes the weighted Gini impurity of the child nodes:</a:t>
            </a:r>
          </a:p>
          <a:p>
            <a:r>
              <a:rPr dirty="0"/>
              <a:t>- Gini(S) = 1 - p_0^2 - p_1^2, where </a:t>
            </a:r>
            <a:r>
              <a:rPr dirty="0" err="1"/>
              <a:t>p_k</a:t>
            </a:r>
            <a:r>
              <a:rPr dirty="0"/>
              <a:t> is the proportion of class k in set S</a:t>
            </a:r>
          </a:p>
          <a:p>
            <a:r>
              <a:rPr dirty="0"/>
              <a:t>- Pure node: Gini = 0 (all samples same class)</a:t>
            </a:r>
          </a:p>
          <a:p>
            <a:r>
              <a:rPr dirty="0"/>
              <a:t>- Maximum impurity: Gini = 0.5 (50-50 split)</a:t>
            </a:r>
          </a:p>
          <a:p>
            <a:endParaRPr dirty="0"/>
          </a:p>
          <a:p>
            <a:r>
              <a:rPr dirty="0"/>
              <a:t>HYPERPARAMETERS:</a:t>
            </a:r>
          </a:p>
          <a:p>
            <a:r>
              <a:rPr dirty="0"/>
              <a:t>- </a:t>
            </a:r>
            <a:r>
              <a:rPr dirty="0" err="1"/>
              <a:t>max_depth</a:t>
            </a:r>
            <a:r>
              <a:rPr dirty="0"/>
              <a:t>=6: Limits tree to 6 levels, producing at most 2^6 = 64 leaf nodes. This balances expressiveness with constraint tractability.</a:t>
            </a:r>
          </a:p>
          <a:p>
            <a:r>
              <a:rPr dirty="0"/>
              <a:t>- </a:t>
            </a:r>
            <a:r>
              <a:rPr dirty="0" err="1"/>
              <a:t>min_samples_leaf</a:t>
            </a:r>
            <a:r>
              <a:rPr dirty="0"/>
              <a:t>=15: Prevents overfitting by requiring at least 15 training samples in each leaf. This ensures leaf probabilities P(</a:t>
            </a:r>
            <a:r>
              <a:rPr dirty="0" err="1"/>
              <a:t>attack|leaf</a:t>
            </a:r>
            <a:r>
              <a:rPr dirty="0"/>
              <a:t>) are statistically meaningful.</a:t>
            </a:r>
          </a:p>
          <a:p>
            <a:endParaRPr dirty="0"/>
          </a:p>
          <a:p>
            <a:r>
              <a:rPr dirty="0"/>
              <a:t>PER-DATASET RESULTS:</a:t>
            </a:r>
          </a:p>
          <a:p>
            <a:r>
              <a:rPr dirty="0"/>
              <a:t>UNSW-NB15: 63 leaf nodes — near the maximum because the 30% attack rate with 9 attack types creates diverse decision boundaries. Example: a path checking </a:t>
            </a:r>
            <a:r>
              <a:rPr dirty="0" err="1"/>
              <a:t>pkt_rate</a:t>
            </a:r>
            <a:r>
              <a:rPr dirty="0"/>
              <a:t> &gt; 0.82 AND entropy &gt; 0.45 leads to a leaf with 94% attack probability, capturing the pattern that high-rate, high-entropy traffic is typically malicious (scanning, probing).</a:t>
            </a:r>
          </a:p>
          <a:p>
            <a:endParaRPr dirty="0"/>
          </a:p>
          <a:p>
            <a:r>
              <a:rPr dirty="0"/>
              <a:t>CSE-CIC-IDS-2018: 58 leaf nodes — slightly fewer because the 15% attack rate means more leaves are purely benign. The key discriminating features are </a:t>
            </a:r>
            <a:r>
              <a:rPr dirty="0" err="1"/>
              <a:t>byte_rate</a:t>
            </a:r>
            <a:r>
              <a:rPr dirty="0"/>
              <a:t> and </a:t>
            </a:r>
            <a:r>
              <a:rPr dirty="0" err="1"/>
              <a:t>flow_duration</a:t>
            </a:r>
            <a:r>
              <a:rPr dirty="0"/>
              <a:t> — attack flows tend to have high byte rates but shorter durations.</a:t>
            </a:r>
          </a:p>
          <a:p>
            <a:endParaRPr dirty="0"/>
          </a:p>
          <a:p>
            <a:r>
              <a:rPr dirty="0"/>
              <a:t>CIC-IDS2017: 61 leaf nodes — intermediate. With 14 attack types, the tree finds diverse splitting patterns. Port-scan attacks are distinguished by very high </a:t>
            </a:r>
            <a:r>
              <a:rPr dirty="0" err="1"/>
              <a:t>pkt_rate</a:t>
            </a:r>
            <a:r>
              <a:rPr dirty="0"/>
              <a:t>, while DoS attacks show high </a:t>
            </a:r>
            <a:r>
              <a:rPr dirty="0" err="1"/>
              <a:t>byte_rate</a:t>
            </a:r>
            <a:r>
              <a:rPr dirty="0"/>
              <a:t>.</a:t>
            </a:r>
          </a:p>
          <a:p>
            <a:endParaRPr dirty="0"/>
          </a:p>
          <a:p>
            <a:r>
              <a:rPr dirty="0"/>
              <a:t>DUAL OUTPUT:</a:t>
            </a:r>
          </a:p>
          <a:p>
            <a:r>
              <a:rPr dirty="0"/>
              <a:t>1. For each flow </a:t>
            </a:r>
            <a:r>
              <a:rPr dirty="0" err="1"/>
              <a:t>x_i</a:t>
            </a:r>
            <a:r>
              <a:rPr dirty="0"/>
              <a:t>: </a:t>
            </a:r>
            <a:r>
              <a:rPr dirty="0" err="1"/>
              <a:t>leaf_id</a:t>
            </a:r>
            <a:r>
              <a:rPr dirty="0"/>
              <a:t>(</a:t>
            </a:r>
            <a:r>
              <a:rPr dirty="0" err="1"/>
              <a:t>x_i</a:t>
            </a:r>
            <a:r>
              <a:rPr dirty="0"/>
              <a:t>) = integer identifying which leaf the flow reaches. This becomes the state in Q-learning.</a:t>
            </a:r>
          </a:p>
          <a:p>
            <a:r>
              <a:rPr dirty="0"/>
              <a:t>2. P(</a:t>
            </a:r>
            <a:r>
              <a:rPr dirty="0" err="1"/>
              <a:t>attack|x_i</a:t>
            </a:r>
            <a:r>
              <a:rPr dirty="0"/>
              <a:t>) = fraction of training attacks in that leaf. This probability drives the threshold-based classification in Stage 8.</a:t>
            </a:r>
          </a:p>
          <a:p>
            <a:r>
              <a:rPr dirty="0"/>
              <a:t>3. </a:t>
            </a:r>
            <a:r>
              <a:rPr dirty="0" err="1"/>
              <a:t>y_hat_DT</a:t>
            </a:r>
            <a:r>
              <a:rPr dirty="0"/>
              <a:t>(</a:t>
            </a:r>
            <a:r>
              <a:rPr dirty="0" err="1"/>
              <a:t>x_i</a:t>
            </a:r>
            <a:r>
              <a:rPr dirty="0"/>
              <a:t>) = majority class of the leaf (0 or 1). This is the baseline DT prediction.</a:t>
            </a:r>
          </a:p>
          <a:p>
            <a:endParaRPr dirty="0"/>
          </a:p>
          <a:p>
            <a:r>
              <a:rPr dirty="0"/>
              <a:t>The tree model object is passed to both Stage 3 (for path extraction) and Stage 4 (for leaf ID computation via </a:t>
            </a:r>
            <a:r>
              <a:rPr dirty="0" err="1"/>
              <a:t>dt.apply</a:t>
            </a:r>
            <a:r>
              <a:rPr dirty="0"/>
              <a:t>()).</a:t>
            </a:r>
            <a:endParaRPr lang="en-US" dirty="0"/>
          </a:p>
          <a:p>
            <a:endParaRPr lang="en-US" dirty="0"/>
          </a:p>
          <a:p>
            <a:endParaRPr lang="en-US" dirty="0"/>
          </a:p>
          <a:p>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effectLst/>
                <a:latin typeface="Google Sans Text"/>
              </a:rPr>
              <a:t>Stage 3 - Z3 SMT Constraint Extraction</a:t>
            </a:r>
            <a:endParaRPr lang="en-US" b="1" dirty="0">
              <a:effectLst/>
              <a:latin typeface="Google Sans"/>
            </a:endParaRPr>
          </a:p>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Stage 3 is where the "verifiability" of ASRRL comes to life.</a:t>
            </a:r>
          </a:p>
          <a:p>
            <a:pPr>
              <a:buFont typeface="Arial" panose="020B0604020202020204" pitchFamily="34" charset="0"/>
              <a:buChar char="•"/>
            </a:pPr>
            <a:r>
              <a:rPr lang="en-US" dirty="0">
                <a:effectLst/>
                <a:latin typeface="Google Sans Text"/>
              </a:rPr>
              <a:t>We trace the path from the root of the Decision Tree down to each leaf.</a:t>
            </a:r>
          </a:p>
          <a:p>
            <a:pPr>
              <a:buFont typeface="Arial" panose="020B0604020202020204" pitchFamily="34" charset="0"/>
              <a:buChar char="•"/>
            </a:pPr>
            <a:r>
              <a:rPr lang="en-US" dirty="0">
                <a:effectLst/>
                <a:latin typeface="Google Sans Text"/>
              </a:rPr>
              <a:t>We translate these paths into strict logical statements, such as "If packet rate is greater than X AND entropy is greater than Y, then the action MUST be BLOCK".</a:t>
            </a:r>
          </a:p>
          <a:p>
            <a:pPr>
              <a:buFont typeface="Arial" panose="020B0604020202020204" pitchFamily="34" charset="0"/>
              <a:buChar char="•"/>
            </a:pPr>
            <a:r>
              <a:rPr lang="en-US" dirty="0">
                <a:effectLst/>
                <a:latin typeface="Google Sans Text"/>
              </a:rPr>
              <a:t>These statements are fed into a Z3 SMT Solver. We achieved 100% fidelity and coverage across all 3 datasets.</a:t>
            </a:r>
          </a:p>
          <a:p>
            <a:pPr>
              <a:buFont typeface="Arial" panose="020B0604020202020204" pitchFamily="34" charset="0"/>
              <a:buChar char="•"/>
            </a:pPr>
            <a:r>
              <a:rPr lang="en-US" dirty="0">
                <a:effectLst/>
                <a:latin typeface="Google Sans Text"/>
              </a:rPr>
              <a:t>This means every single decision made by the baseline model is backed by a provable, mathematically sound constraint.</a:t>
            </a:r>
          </a:p>
          <a:p>
            <a:endParaRPr lang="en-US" dirty="0"/>
          </a:p>
          <a:p>
            <a:endParaRPr lang="en-US" dirty="0"/>
          </a:p>
          <a:p>
            <a:endParaRPr lang="en-US" dirty="0"/>
          </a:p>
          <a:p>
            <a:endParaRPr lang="en-US" dirty="0"/>
          </a:p>
          <a:p>
            <a:r>
              <a:rPr dirty="0"/>
              <a:t>SLIDE 6 — Stage 3: Z3 SMT Constraint Extraction from Decision Tree</a:t>
            </a:r>
          </a:p>
          <a:p>
            <a:endParaRPr dirty="0"/>
          </a:p>
          <a:p>
            <a:r>
              <a:rPr dirty="0"/>
              <a:t>PURPOSE: Convert every decision tree path into a formal Z3 logical constraint, creating a verifiable constraint set that can prove whether a classification action is safe for a given input.</a:t>
            </a:r>
          </a:p>
          <a:p>
            <a:endParaRPr dirty="0"/>
          </a:p>
          <a:p>
            <a:r>
              <a:rPr dirty="0"/>
              <a:t>Z3 SMT SOLVER BACKGROUND:</a:t>
            </a:r>
          </a:p>
          <a:p>
            <a:r>
              <a:rPr dirty="0"/>
              <a:t>Z3 is Microsoft Research's Satisfiability Modulo Theories (SMT) solver. Unlike simple SAT solvers that work with </a:t>
            </a:r>
            <a:r>
              <a:rPr dirty="0" err="1"/>
              <a:t>boolean</a:t>
            </a:r>
            <a:r>
              <a:rPr dirty="0"/>
              <a:t> variables, Z3 handles real-valued arithmetic, integer constraints, and logical implications. This makes it ideal for encoding decision tree paths which involve real-valued feature comparisons.</a:t>
            </a:r>
          </a:p>
          <a:p>
            <a:endParaRPr dirty="0"/>
          </a:p>
          <a:p>
            <a:r>
              <a:rPr dirty="0"/>
              <a:t>ALGORITHM WALKTHROUGH:</a:t>
            </a:r>
          </a:p>
          <a:p>
            <a:r>
              <a:rPr dirty="0"/>
              <a:t>1. Start with an empty constraint set C</a:t>
            </a:r>
          </a:p>
          <a:p>
            <a:r>
              <a:rPr dirty="0"/>
              <a:t>2. For each of the L leaf nodes in the trained DT:</a:t>
            </a:r>
          </a:p>
          <a:p>
            <a:r>
              <a:rPr dirty="0"/>
              <a:t>   a. Extract the path from root to that leaf as a sequence of (</a:t>
            </a:r>
            <a:r>
              <a:rPr dirty="0" err="1"/>
              <a:t>feature_index</a:t>
            </a:r>
            <a:r>
              <a:rPr dirty="0"/>
              <a:t>, threshold, operator) triples</a:t>
            </a:r>
          </a:p>
          <a:p>
            <a:r>
              <a:rPr dirty="0"/>
              <a:t>   b. Convert to a Z3 Implies constraint:</a:t>
            </a:r>
          </a:p>
          <a:p>
            <a:r>
              <a:rPr dirty="0"/>
              <a:t>      - Antecedent: conjunction (AND) of all path conditions, e.g., Real("</a:t>
            </a:r>
            <a:r>
              <a:rPr dirty="0" err="1"/>
              <a:t>pkt_rate</a:t>
            </a:r>
            <a:r>
              <a:rPr dirty="0"/>
              <a:t>") &gt; 0.82 AND Real("entropy") &gt; 0.45</a:t>
            </a:r>
          </a:p>
          <a:p>
            <a:r>
              <a:rPr dirty="0"/>
              <a:t>      - Consequent: Int("action") == </a:t>
            </a:r>
            <a:r>
              <a:rPr dirty="0" err="1"/>
              <a:t>class_of_leaf</a:t>
            </a:r>
            <a:r>
              <a:rPr dirty="0"/>
              <a:t> (0=ALLOW, 1=BLOCK)</a:t>
            </a:r>
          </a:p>
          <a:p>
            <a:r>
              <a:rPr dirty="0"/>
              <a:t>   c. Check satisfiability: Add the new constraint to the existing set and verify the combined set is satisfiable (no contradictions)</a:t>
            </a:r>
          </a:p>
          <a:p>
            <a:r>
              <a:rPr dirty="0"/>
              <a:t>   d. If satisfiable, keep the constraint; otherwise discard (prevents conflicting rules)</a:t>
            </a:r>
          </a:p>
          <a:p>
            <a:endParaRPr dirty="0"/>
          </a:p>
          <a:p>
            <a:r>
              <a:rPr dirty="0"/>
              <a:t>CONSTRAINT EXAMPLES (UNSW-NB15):</a:t>
            </a:r>
          </a:p>
          <a:p>
            <a:r>
              <a:rPr dirty="0"/>
              <a:t>phi_1: Implies(And(Real("</a:t>
            </a:r>
            <a:r>
              <a:rPr dirty="0" err="1"/>
              <a:t>pkt_rate</a:t>
            </a:r>
            <a:r>
              <a:rPr dirty="0"/>
              <a:t>") &gt; 0.82, Real("entropy") &gt; 0.45), Int("action") == 1)</a:t>
            </a:r>
          </a:p>
          <a:p>
            <a:r>
              <a:rPr dirty="0"/>
              <a:t>- Meaning: IF packet rate is more than 0.82 standard deviations above mean AND entropy is more than 0.45 </a:t>
            </a:r>
            <a:r>
              <a:rPr dirty="0" err="1"/>
              <a:t>sd</a:t>
            </a:r>
            <a:r>
              <a:rPr dirty="0"/>
              <a:t> above mean, THEN the action should be BLOCK (attack)</a:t>
            </a:r>
          </a:p>
          <a:p>
            <a:r>
              <a:rPr dirty="0"/>
              <a:t>- This captures the intuition that high-rate, high-entropy traffic is suspicious</a:t>
            </a:r>
          </a:p>
          <a:p>
            <a:endParaRPr dirty="0"/>
          </a:p>
          <a:p>
            <a:r>
              <a:rPr dirty="0"/>
              <a:t>phi_2: Implies(And(Real("</a:t>
            </a:r>
            <a:r>
              <a:rPr dirty="0" err="1"/>
              <a:t>pkt_rate</a:t>
            </a:r>
            <a:r>
              <a:rPr dirty="0"/>
              <a:t>") &lt;= 0.82, Real("</a:t>
            </a:r>
            <a:r>
              <a:rPr dirty="0" err="1"/>
              <a:t>byte_rate</a:t>
            </a:r>
            <a:r>
              <a:rPr dirty="0"/>
              <a:t>") &lt;= -0.5), Int("action") == 0)</a:t>
            </a:r>
          </a:p>
          <a:p>
            <a:r>
              <a:rPr dirty="0"/>
              <a:t>- Meaning: IF packet rate is below threshold AND byte rate is more than 0.5 </a:t>
            </a:r>
            <a:r>
              <a:rPr dirty="0" err="1"/>
              <a:t>sd</a:t>
            </a:r>
            <a:r>
              <a:rPr dirty="0"/>
              <a:t> below mean, THEN ALLOW (benign)</a:t>
            </a:r>
          </a:p>
          <a:p>
            <a:r>
              <a:rPr dirty="0"/>
              <a:t>- Low-rate, low-volume traffic is typical of normal browsing</a:t>
            </a:r>
          </a:p>
          <a:p>
            <a:endParaRPr dirty="0"/>
          </a:p>
          <a:p>
            <a:r>
              <a:rPr dirty="0"/>
              <a:t>FIDELITY MEASUREMENT:</a:t>
            </a:r>
          </a:p>
          <a:p>
            <a:r>
              <a:rPr dirty="0"/>
              <a:t>We verify that Z3 constraints exactly reproduce the DT's predictions on 2000 test samples:</a:t>
            </a:r>
          </a:p>
          <a:p>
            <a:r>
              <a:rPr dirty="0"/>
              <a:t>- Fidelity = 100%: Every Z3 constraint prediction matches the DT's prediction</a:t>
            </a:r>
          </a:p>
          <a:p>
            <a:r>
              <a:rPr dirty="0"/>
              <a:t>- Coverage = 100%: Z3 constraints cover all possible input regions (no gaps)</a:t>
            </a:r>
          </a:p>
          <a:p>
            <a:r>
              <a:rPr dirty="0"/>
              <a:t>- Opinion Rate = 100%: Z3 always produces a definitive ALLOW or BLOCK (no abstentions)</a:t>
            </a:r>
          </a:p>
          <a:p>
            <a:r>
              <a:rPr dirty="0"/>
              <a:t>These results hold for all three datasets, confirming the extraction is lossless.</a:t>
            </a:r>
          </a:p>
          <a:p>
            <a:endParaRPr dirty="0"/>
          </a:p>
          <a:p>
            <a:r>
              <a:rPr dirty="0"/>
              <a:t>PER-DATASET CONSTRAINT COUNTS:</a:t>
            </a:r>
          </a:p>
          <a:p>
            <a:r>
              <a:rPr dirty="0"/>
              <a:t>- UNSW-NB15: 13 constraints — from 63 leaf nodes, many paths share sub-paths that get consolidated</a:t>
            </a:r>
          </a:p>
          <a:p>
            <a:r>
              <a:rPr dirty="0"/>
              <a:t>- CSE-CIC-IDS-2018: 13 constraints</a:t>
            </a:r>
          </a:p>
          <a:p>
            <a:r>
              <a:rPr dirty="0"/>
              <a:t>- CIC-IDS2017: 12 constraints</a:t>
            </a:r>
          </a:p>
          <a:p>
            <a:endParaRPr dirty="0"/>
          </a:p>
          <a:p>
            <a:r>
              <a:rPr dirty="0"/>
              <a:t>RUNTIME VERIFICATION:</a:t>
            </a:r>
          </a:p>
          <a:p>
            <a:r>
              <a:rPr dirty="0"/>
              <a:t>The verify(x, a) function checks at runtime whether a proposed action 'a' for input 'x' is consistent with the constraint set:</a:t>
            </a:r>
          </a:p>
          <a:p>
            <a:r>
              <a:rPr dirty="0"/>
              <a:t>1. Create a fresh Solver, add all constraints</a:t>
            </a:r>
          </a:p>
          <a:p>
            <a:r>
              <a:rPr dirty="0"/>
              <a:t>2. Assert the concrete feature values: Real("</a:t>
            </a:r>
            <a:r>
              <a:rPr dirty="0" err="1"/>
              <a:t>pkt_rate</a:t>
            </a:r>
            <a:r>
              <a:rPr dirty="0"/>
              <a:t>") == </a:t>
            </a:r>
            <a:r>
              <a:rPr dirty="0" err="1"/>
              <a:t>actual_value</a:t>
            </a:r>
            <a:r>
              <a:rPr dirty="0"/>
              <a:t> for all 7 features</a:t>
            </a:r>
          </a:p>
          <a:p>
            <a:r>
              <a:rPr dirty="0"/>
              <a:t>3. Assert the proposed action: Int("action") == </a:t>
            </a:r>
            <a:r>
              <a:rPr dirty="0" err="1"/>
              <a:t>proposed_action</a:t>
            </a:r>
            <a:endParaRPr dirty="0"/>
          </a:p>
          <a:p>
            <a:r>
              <a:rPr dirty="0"/>
              <a:t>4. Check satisfiability — if SAT, the action is safe; if UNSAT, the action violates constraints</a:t>
            </a:r>
          </a:p>
          <a:p>
            <a:r>
              <a:rPr dirty="0"/>
              <a:t>- Timeout: 500ms per query to prevent blocking in real-time systems</a:t>
            </a:r>
          </a:p>
          <a:p>
            <a:r>
              <a:rPr dirty="0"/>
              <a:t>- Caching: Results cached by MD5 hash of the input vector to avoid redundant Z3 calls</a:t>
            </a:r>
            <a:endParaRPr lang="en-US" dirty="0"/>
          </a:p>
          <a:p>
            <a:endParaRPr lang="en-US" dirty="0"/>
          </a:p>
          <a:p>
            <a:endParaRPr lang="en-US" dirty="0"/>
          </a:p>
          <a:p>
            <a:endParaRPr lang="en-US" noProof="0"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a:p>
            <a:r>
              <a:rPr lang="en-US" b="1" dirty="0">
                <a:effectLst/>
                <a:latin typeface="Google Sans Text"/>
              </a:rPr>
              <a:t>Stage 4 - Q-Learning with Safety Shielding</a:t>
            </a:r>
            <a:endParaRPr lang="en-US" b="1" dirty="0">
              <a:effectLst/>
              <a:latin typeface="Google Sans"/>
            </a:endParaRPr>
          </a:p>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Stage 4 introduces our Reinforcement Learning agent using Tabular Q-Learning.</a:t>
            </a:r>
          </a:p>
          <a:p>
            <a:pPr>
              <a:buFont typeface="Arial" panose="020B0604020202020204" pitchFamily="34" charset="0"/>
              <a:buChar char="•"/>
            </a:pPr>
            <a:r>
              <a:rPr lang="en-US" dirty="0">
                <a:effectLst/>
                <a:latin typeface="Google Sans Text"/>
              </a:rPr>
              <a:t>The agent explores the environment to find optimal actions, but RL can sometimes make dangerous, unpredictable choices during exploration.</a:t>
            </a:r>
          </a:p>
          <a:p>
            <a:pPr>
              <a:buFont typeface="Arial" panose="020B0604020202020204" pitchFamily="34" charset="0"/>
              <a:buChar char="•"/>
            </a:pPr>
            <a:r>
              <a:rPr lang="en-US" dirty="0">
                <a:effectLst/>
                <a:latin typeface="Google Sans Text"/>
              </a:rPr>
              <a:t>To prevent this, we introduce the Z3 Safety Shield. Before the agent takes an action, the Z3 solver verifies it against our extracted constraints. If the action is unsafe, it is blocked, and the agent must pick the highest-value </a:t>
            </a:r>
            <a:r>
              <a:rPr lang="en-US" i="1" dirty="0">
                <a:effectLst/>
                <a:latin typeface="Google Sans Text"/>
              </a:rPr>
              <a:t>safe</a:t>
            </a:r>
            <a:r>
              <a:rPr lang="en-US" dirty="0">
                <a:effectLst/>
                <a:latin typeface="Google Sans Text"/>
              </a:rPr>
              <a:t> action.</a:t>
            </a:r>
          </a:p>
          <a:p>
            <a:pPr>
              <a:buFont typeface="Arial" panose="020B0604020202020204" pitchFamily="34" charset="0"/>
              <a:buChar char="•"/>
            </a:pPr>
            <a:r>
              <a:rPr lang="en-US" dirty="0">
                <a:effectLst/>
                <a:latin typeface="Google Sans Text"/>
              </a:rPr>
              <a:t>Notice our reward function: we heavily penalize False Negatives (-3.0) because allowing an attack through is far more dangerous than accidentally blocking benign traffic (-1.0).</a:t>
            </a:r>
          </a:p>
          <a:p>
            <a:endParaRPr lang="en-US" dirty="0"/>
          </a:p>
          <a:p>
            <a:endParaRPr lang="en-US" dirty="0"/>
          </a:p>
          <a:p>
            <a:endParaRPr lang="en-US" dirty="0"/>
          </a:p>
          <a:p>
            <a:endParaRPr lang="en-US" dirty="0"/>
          </a:p>
          <a:p>
            <a:endParaRPr lang="en-US" dirty="0"/>
          </a:p>
          <a:p>
            <a:r>
              <a:rPr dirty="0"/>
              <a:t>SLIDE 7 — Stage 4: Q-Learning with Z3 Safety Shielding</a:t>
            </a:r>
          </a:p>
          <a:p>
            <a:endParaRPr dirty="0"/>
          </a:p>
          <a:p>
            <a:r>
              <a:rPr dirty="0"/>
              <a:t>PURPOSE: Train a reinforcement learning agent that learns an optimal classification policy from experience, while the Z3 constraint set acts as a "safety shield" preventing any action that violates the formal constraints.</a:t>
            </a:r>
          </a:p>
          <a:p>
            <a:endParaRPr dirty="0"/>
          </a:p>
          <a:p>
            <a:r>
              <a:rPr dirty="0"/>
              <a:t>WHY REINFORCEMENT LEARNING:</a:t>
            </a:r>
          </a:p>
          <a:p>
            <a:r>
              <a:rPr dirty="0"/>
              <a:t>Traditional supervised classifiers make independent predictions per sample. RL adds two advantages:</a:t>
            </a:r>
          </a:p>
          <a:p>
            <a:r>
              <a:rPr dirty="0"/>
              <a:t>1. Sequential decision-making: The agent can learn from the cumulative effect of its decisions, not just per-sample accuracy</a:t>
            </a:r>
          </a:p>
          <a:p>
            <a:r>
              <a:rPr dirty="0"/>
              <a:t>2. Asymmetric cost sensitivity: The reward function explicitly encodes that missing an attack (FN, reward=-3.0) is worse than a false alarm (FP, reward=-1.0), which is difficult to express in standard classification losses</a:t>
            </a:r>
          </a:p>
          <a:p>
            <a:endParaRPr dirty="0"/>
          </a:p>
          <a:p>
            <a:r>
              <a:rPr dirty="0"/>
              <a:t>TABULAR Q-LEARNING:</a:t>
            </a:r>
          </a:p>
          <a:p>
            <a:r>
              <a:rPr dirty="0"/>
              <a:t>- State representation: </a:t>
            </a:r>
            <a:r>
              <a:rPr dirty="0" err="1"/>
              <a:t>s_i</a:t>
            </a:r>
            <a:r>
              <a:rPr dirty="0"/>
              <a:t> = </a:t>
            </a:r>
            <a:r>
              <a:rPr dirty="0" err="1"/>
              <a:t>leaf_T</a:t>
            </a:r>
            <a:r>
              <a:rPr dirty="0"/>
              <a:t>(</a:t>
            </a:r>
            <a:r>
              <a:rPr dirty="0" err="1"/>
              <a:t>x_i</a:t>
            </a:r>
            <a:r>
              <a:rPr dirty="0"/>
              <a:t>) — the DT leaf ID that flow </a:t>
            </a:r>
            <a:r>
              <a:rPr dirty="0" err="1"/>
              <a:t>x_i</a:t>
            </a:r>
            <a:r>
              <a:rPr dirty="0"/>
              <a:t> reaches. This is a compact, generalizable state representation because flows reaching the same leaf have similar feature profiles.</a:t>
            </a:r>
          </a:p>
          <a:p>
            <a:r>
              <a:rPr dirty="0"/>
              <a:t>- Action space: A = {ALLOW=0, BLOCK=1, UNKNOWN=2} — three possible actions per flow</a:t>
            </a:r>
          </a:p>
          <a:p>
            <a:r>
              <a:rPr dirty="0"/>
              <a:t>- Q-table: A dictionary mapping (state, action) pairs to expected cumulative reward values</a:t>
            </a:r>
          </a:p>
          <a:p>
            <a:r>
              <a:rPr dirty="0"/>
              <a:t>- Update rule: Q(</a:t>
            </a:r>
            <a:r>
              <a:rPr dirty="0" err="1"/>
              <a:t>s,a</a:t>
            </a:r>
            <a:r>
              <a:rPr dirty="0"/>
              <a:t>) &lt;- Q(</a:t>
            </a:r>
            <a:r>
              <a:rPr dirty="0" err="1"/>
              <a:t>s,a</a:t>
            </a:r>
            <a:r>
              <a:rPr dirty="0"/>
              <a:t>) + alpha * [r + gamma * </a:t>
            </a:r>
            <a:r>
              <a:rPr dirty="0" err="1"/>
              <a:t>max_a</a:t>
            </a:r>
            <a:r>
              <a:rPr dirty="0"/>
              <a:t>' Q(s', a') - Q(</a:t>
            </a:r>
            <a:r>
              <a:rPr dirty="0" err="1"/>
              <a:t>s,a</a:t>
            </a:r>
            <a:r>
              <a:rPr dirty="0"/>
              <a:t>)]</a:t>
            </a:r>
          </a:p>
          <a:p>
            <a:r>
              <a:rPr dirty="0"/>
              <a:t>  - alpha=0.15 (learning rate): moderate, balances learning speed with stability</a:t>
            </a:r>
          </a:p>
          <a:p>
            <a:r>
              <a:rPr dirty="0"/>
              <a:t>  - gamma=0.95 (discount factor): high, agent cares about long-term reward</a:t>
            </a:r>
          </a:p>
          <a:p>
            <a:r>
              <a:rPr dirty="0"/>
              <a:t>  - epsilon=0.20 -&gt; 0.01 (exploration): starts with 20% random actions, decays by 0.999 per step to minimum 1%</a:t>
            </a:r>
          </a:p>
          <a:p>
            <a:endParaRPr dirty="0"/>
          </a:p>
          <a:p>
            <a:r>
              <a:rPr dirty="0"/>
              <a:t>SAFETY SHIELDING MECHANISM:</a:t>
            </a:r>
          </a:p>
          <a:p>
            <a:r>
              <a:rPr dirty="0"/>
              <a:t>This is the critical innovation that connects RL to formal verification:</a:t>
            </a:r>
          </a:p>
          <a:p>
            <a:r>
              <a:rPr dirty="0"/>
              <a:t>1. Agent proposes action </a:t>
            </a:r>
            <a:r>
              <a:rPr dirty="0" err="1"/>
              <a:t>a_prop</a:t>
            </a:r>
            <a:r>
              <a:rPr dirty="0"/>
              <a:t> (epsilon-greedy from Q-table)</a:t>
            </a:r>
          </a:p>
          <a:p>
            <a:r>
              <a:rPr dirty="0"/>
              <a:t>2. Z3 verification: verify(</a:t>
            </a:r>
            <a:r>
              <a:rPr dirty="0" err="1"/>
              <a:t>x_i</a:t>
            </a:r>
            <a:r>
              <a:rPr dirty="0"/>
              <a:t>, </a:t>
            </a:r>
            <a:r>
              <a:rPr dirty="0" err="1"/>
              <a:t>a_prop</a:t>
            </a:r>
            <a:r>
              <a:rPr dirty="0"/>
              <a:t>) — checks if the proposed action is consistent with the formal constraint set</a:t>
            </a:r>
          </a:p>
          <a:p>
            <a:r>
              <a:rPr dirty="0"/>
              <a:t>3. If verified (SAT): execute the action as-is</a:t>
            </a:r>
          </a:p>
          <a:p>
            <a:r>
              <a:rPr dirty="0"/>
              <a:t>4. If rejected (UNSAT): SHIELD ACTIVATION — override with the best safe alternative:</a:t>
            </a:r>
          </a:p>
          <a:p>
            <a:r>
              <a:rPr dirty="0"/>
              <a:t>   </a:t>
            </a:r>
            <a:r>
              <a:rPr dirty="0" err="1"/>
              <a:t>a_i</a:t>
            </a:r>
            <a:r>
              <a:rPr dirty="0"/>
              <a:t> = argmax_{a in </a:t>
            </a:r>
            <a:r>
              <a:rPr dirty="0" err="1"/>
              <a:t>A_safe</a:t>
            </a:r>
            <a:r>
              <a:rPr dirty="0"/>
              <a:t>} Q(</a:t>
            </a:r>
            <a:r>
              <a:rPr dirty="0" err="1"/>
              <a:t>s_i</a:t>
            </a:r>
            <a:r>
              <a:rPr dirty="0"/>
              <a:t>, a), where </a:t>
            </a:r>
            <a:r>
              <a:rPr dirty="0" err="1"/>
              <a:t>A_safe</a:t>
            </a:r>
            <a:r>
              <a:rPr dirty="0"/>
              <a:t> = {a : verify(</a:t>
            </a:r>
            <a:r>
              <a:rPr dirty="0" err="1"/>
              <a:t>x_i</a:t>
            </a:r>
            <a:r>
              <a:rPr dirty="0"/>
              <a:t>, a) = SAT}</a:t>
            </a:r>
          </a:p>
          <a:p>
            <a:r>
              <a:rPr dirty="0"/>
              <a:t>   This guarantees that no action violating the formal constraints is ever taken.</a:t>
            </a:r>
          </a:p>
          <a:p>
            <a:endParaRPr dirty="0"/>
          </a:p>
          <a:p>
            <a:r>
              <a:rPr dirty="0"/>
              <a:t>REWARD FUNCTION DESIGN:</a:t>
            </a:r>
          </a:p>
          <a:p>
            <a:r>
              <a:rPr dirty="0"/>
              <a:t>The asymmetric reward structure reflects real-world IDS priorities:</a:t>
            </a:r>
          </a:p>
          <a:p>
            <a:r>
              <a:rPr dirty="0"/>
              <a:t>- TP (correctly blocking attack): +2.0 — strong positive reinforcement</a:t>
            </a:r>
          </a:p>
          <a:p>
            <a:r>
              <a:rPr dirty="0"/>
              <a:t>- FN (allowing attack through): -3.0 — strongest penalty, because missed attacks are the most dangerous outcome</a:t>
            </a:r>
          </a:p>
          <a:p>
            <a:r>
              <a:rPr dirty="0"/>
              <a:t>- TN (correctly allowing benign): +1.0 — moderate reward for normal operation</a:t>
            </a:r>
          </a:p>
          <a:p>
            <a:r>
              <a:rPr dirty="0"/>
              <a:t>- FP (blocking benign traffic): -1.0 — moderate penalty, annoying but not dangerous</a:t>
            </a:r>
          </a:p>
          <a:p>
            <a:r>
              <a:rPr dirty="0"/>
              <a:t>- Shield bonus: +0.5 when the safety shield activates and corrects a bad action — encourages the agent to learn from shield corrections</a:t>
            </a:r>
          </a:p>
          <a:p>
            <a:r>
              <a:rPr dirty="0"/>
              <a:t>- UNKNOWN action: +0.5 if actual attack (conservative is good), 0.0 if benign (no penalty for caution)</a:t>
            </a:r>
          </a:p>
          <a:p>
            <a:endParaRPr dirty="0"/>
          </a:p>
          <a:p>
            <a:r>
              <a:rPr dirty="0"/>
              <a:t>PER-DATASET Q-TABLE SIZES:</a:t>
            </a:r>
          </a:p>
          <a:p>
            <a:r>
              <a:rPr dirty="0"/>
              <a:t>- UNSW-NB15: 63 states x 3 actions = 189 Q-values. With 30% attack rate, the agent sees many attack examples and learns strong BLOCK policies for high-entropy states.</a:t>
            </a:r>
          </a:p>
          <a:p>
            <a:r>
              <a:rPr dirty="0"/>
              <a:t>- CSE-CIC-2018: 58 states x 3 actions = 174 Q-values. Lower attack rate means ALLOW dominates most states.</a:t>
            </a:r>
          </a:p>
          <a:p>
            <a:r>
              <a:rPr dirty="0"/>
              <a:t>- CIC-IDS2017: 61 states x 3 actions = 183 Q-values.</a:t>
            </a:r>
          </a:p>
          <a:p>
            <a:endParaRPr dirty="0"/>
          </a:p>
          <a:p>
            <a:r>
              <a:rPr dirty="0"/>
              <a:t>TRAINING: 10 epochs over the full training set. Epsilon decays from 0.20 to ~0.01 over the course of training, gradually shifting from exploration to exploitation.</a:t>
            </a:r>
          </a:p>
          <a:p>
            <a:endParaRPr dirty="0"/>
          </a:p>
          <a:p>
            <a:r>
              <a:rPr dirty="0"/>
              <a:t>OUTPUT: Trained Q-table + count of shield activations. Misclassified flows (where the agent's action != correct action) are logged to a buffer for DBSCAN in Stage 5.</a:t>
            </a:r>
            <a:endParaRPr lang="en-US" dirty="0"/>
          </a:p>
          <a:p>
            <a:endParaRPr lang="en-US" dirty="0"/>
          </a:p>
          <a:p>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effectLst/>
                <a:latin typeface="Google Sans Text"/>
              </a:rPr>
              <a:t>Stage 5 - DBSCAN Novel Pattern Detection</a:t>
            </a:r>
            <a:endParaRPr lang="en-US" b="1" dirty="0">
              <a:effectLst/>
              <a:latin typeface="Google Sans"/>
            </a:endParaRPr>
          </a:p>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Cyber threats constantly evolve, so ASRRL must learn continuously.</a:t>
            </a:r>
          </a:p>
          <a:p>
            <a:pPr>
              <a:buFont typeface="Arial" panose="020B0604020202020204" pitchFamily="34" charset="0"/>
              <a:buChar char="•"/>
            </a:pPr>
            <a:r>
              <a:rPr lang="en-US" dirty="0">
                <a:effectLst/>
                <a:latin typeface="Google Sans Text"/>
              </a:rPr>
              <a:t>Whenever the system misclassifies a flow, we capture it in a buffer.</a:t>
            </a:r>
          </a:p>
          <a:p>
            <a:pPr>
              <a:buFont typeface="Arial" panose="020B0604020202020204" pitchFamily="34" charset="0"/>
              <a:buChar char="•"/>
            </a:pPr>
            <a:r>
              <a:rPr lang="en-US" dirty="0">
                <a:effectLst/>
                <a:latin typeface="Google Sans Text"/>
              </a:rPr>
              <a:t>We run DBSCAN clustering on these misclassified flows. If a dense cluster forms, it indicates a recurring, unseen pattern—likely a zero-day attack.</a:t>
            </a:r>
          </a:p>
          <a:p>
            <a:pPr>
              <a:buFont typeface="Arial" panose="020B0604020202020204" pitchFamily="34" charset="0"/>
              <a:buChar char="•"/>
            </a:pPr>
            <a:r>
              <a:rPr lang="en-US" dirty="0">
                <a:effectLst/>
                <a:latin typeface="Google Sans Text"/>
              </a:rPr>
              <a:t>We compute the mean of this new cluster, generate a new Z3 constraint, and add it to our rulebook dynamically.</a:t>
            </a:r>
          </a:p>
          <a:p>
            <a:endParaRPr lang="en-US" dirty="0"/>
          </a:p>
          <a:p>
            <a:endParaRPr lang="en-US" dirty="0"/>
          </a:p>
          <a:p>
            <a:r>
              <a:rPr dirty="0"/>
              <a:t>SLIDE 8 — Stage 5: DBSCAN Novel Attack Pattern Detection</a:t>
            </a:r>
          </a:p>
          <a:p>
            <a:endParaRPr dirty="0"/>
          </a:p>
          <a:p>
            <a:r>
              <a:rPr dirty="0"/>
              <a:t>PURPOSE: Discover previously unseen attack patterns by clustering misclassified flows, then convert discovered patterns into new Z3 constraints — enabling the system to adapt to zero-day attacks.</a:t>
            </a:r>
          </a:p>
          <a:p>
            <a:endParaRPr dirty="0"/>
          </a:p>
          <a:p>
            <a:r>
              <a:rPr dirty="0"/>
              <a:t>THE ZERO-DAY PROBLEM:</a:t>
            </a:r>
          </a:p>
          <a:p>
            <a:r>
              <a:rPr dirty="0"/>
              <a:t>Traditional IDS systems trained on known attack signatures cannot detect novel attack types that weren't in the training data. DBSCAN addresses this by analyzing flows where the model made errors — these errors often cluster around novel attack patterns that share similar feature profiles.</a:t>
            </a:r>
          </a:p>
          <a:p>
            <a:endParaRPr dirty="0"/>
          </a:p>
          <a:p>
            <a:r>
              <a:rPr dirty="0"/>
              <a:t>DBSCAN ALGORITHM (Density-Based Spatial Clustering of Applications with Noise):</a:t>
            </a:r>
          </a:p>
          <a:p>
            <a:r>
              <a:rPr dirty="0"/>
              <a:t>Unlike K-means, DBSCAN doesn't require specifying the number of clusters and can find arbitrarily shaped clusters:</a:t>
            </a:r>
          </a:p>
          <a:p>
            <a:r>
              <a:rPr dirty="0"/>
              <a:t>1. Core point: A point </a:t>
            </a:r>
            <a:r>
              <a:rPr dirty="0" err="1"/>
              <a:t>x_i</a:t>
            </a:r>
            <a:r>
              <a:rPr dirty="0"/>
              <a:t> is a core point if at least </a:t>
            </a:r>
            <a:r>
              <a:rPr dirty="0" err="1"/>
              <a:t>minPts</a:t>
            </a:r>
            <a:r>
              <a:rPr dirty="0"/>
              <a:t>=5 points are within epsilon=1.5 Euclidean distance</a:t>
            </a:r>
          </a:p>
          <a:p>
            <a:r>
              <a:rPr dirty="0"/>
              <a:t>2. Density-reachable: A point is density-reachable from a core point if there's a chain of core points connecting them</a:t>
            </a:r>
          </a:p>
          <a:p>
            <a:r>
              <a:rPr dirty="0"/>
              <a:t>3. Cluster: A maximal set of density-reachable points</a:t>
            </a:r>
          </a:p>
          <a:p>
            <a:r>
              <a:rPr dirty="0"/>
              <a:t>4. Noise: Points not reachable from any core point (labeled -1)</a:t>
            </a:r>
          </a:p>
          <a:p>
            <a:endParaRPr dirty="0"/>
          </a:p>
          <a:p>
            <a:r>
              <a:rPr dirty="0"/>
              <a:t>HYPERPARAMETERS:</a:t>
            </a:r>
          </a:p>
          <a:p>
            <a:r>
              <a:rPr dirty="0"/>
              <a:t>- epsilon = 1.5: The neighborhood radius in the 7-dimensional normalized feature space. Since features are z-scored, 1.5 standard deviations captures flows that are "similar" but allows for natural variation.</a:t>
            </a:r>
          </a:p>
          <a:p>
            <a:r>
              <a:rPr dirty="0"/>
              <a:t>- </a:t>
            </a:r>
            <a:r>
              <a:rPr dirty="0" err="1"/>
              <a:t>min_samples</a:t>
            </a:r>
            <a:r>
              <a:rPr dirty="0"/>
              <a:t> = 5: Minimum cluster size. Prevents spurious clusters from random misclassifications.</a:t>
            </a:r>
          </a:p>
          <a:p>
            <a:r>
              <a:rPr dirty="0"/>
              <a:t>- </a:t>
            </a:r>
            <a:r>
              <a:rPr dirty="0" err="1"/>
              <a:t>buffer_size</a:t>
            </a:r>
            <a:r>
              <a:rPr dirty="0"/>
              <a:t> = 1000: Rolling buffer of misclassified flows. Older misclassifications are dropped to focus on recent patterns.</a:t>
            </a:r>
          </a:p>
          <a:p>
            <a:endParaRPr dirty="0"/>
          </a:p>
          <a:p>
            <a:r>
              <a:rPr dirty="0"/>
              <a:t>MISCLASSIFICATION COLLECTION:</a:t>
            </a:r>
          </a:p>
          <a:p>
            <a:r>
              <a:rPr dirty="0"/>
              <a:t>During Q-learning training (Stage 4), every flow where the agent's action differs from the correct action is logged:</a:t>
            </a:r>
          </a:p>
          <a:p>
            <a:r>
              <a:rPr dirty="0"/>
              <a:t>- Features: the 7-dimensional normalized feature vector</a:t>
            </a:r>
          </a:p>
          <a:p>
            <a:r>
              <a:rPr dirty="0"/>
              <a:t>- Predicted action: what the RL agent chose</a:t>
            </a:r>
          </a:p>
          <a:p>
            <a:r>
              <a:rPr dirty="0"/>
              <a:t>- Correct action: what the true label indicates</a:t>
            </a:r>
          </a:p>
          <a:p>
            <a:r>
              <a:rPr dirty="0"/>
              <a:t>Only flows where predicted != correct are kept (the misclassified ones).</a:t>
            </a:r>
          </a:p>
          <a:p>
            <a:endParaRPr dirty="0"/>
          </a:p>
          <a:p>
            <a:r>
              <a:rPr dirty="0"/>
              <a:t>NOVEL PATTERN TO Z3 CONSTRAINT CONVERSION:</a:t>
            </a:r>
          </a:p>
          <a:p>
            <a:r>
              <a:rPr dirty="0"/>
              <a:t>For each discovered cluster </a:t>
            </a:r>
            <a:r>
              <a:rPr dirty="0" err="1"/>
              <a:t>C_k</a:t>
            </a:r>
            <a:r>
              <a:rPr dirty="0"/>
              <a:t>:</a:t>
            </a:r>
          </a:p>
          <a:p>
            <a:r>
              <a:rPr dirty="0"/>
              <a:t>1. Compute centroid: </a:t>
            </a:r>
            <a:r>
              <a:rPr dirty="0" err="1"/>
              <a:t>mu_k</a:t>
            </a:r>
            <a:r>
              <a:rPr dirty="0"/>
              <a:t> = mean of all points in </a:t>
            </a:r>
            <a:r>
              <a:rPr dirty="0" err="1"/>
              <a:t>C_k</a:t>
            </a:r>
            <a:r>
              <a:rPr dirty="0"/>
              <a:t> (7-dimensional vector)</a:t>
            </a:r>
          </a:p>
          <a:p>
            <a:r>
              <a:rPr dirty="0"/>
              <a:t>2. Create a bounding-box constraint with 10% margin:</a:t>
            </a:r>
          </a:p>
          <a:p>
            <a:r>
              <a:rPr dirty="0"/>
              <a:t>   For each feature j: (</a:t>
            </a:r>
            <a:r>
              <a:rPr dirty="0" err="1"/>
              <a:t>f_j</a:t>
            </a:r>
            <a:r>
              <a:rPr dirty="0"/>
              <a:t> &lt;= 1.1 * mu_{</a:t>
            </a:r>
            <a:r>
              <a:rPr dirty="0" err="1"/>
              <a:t>k,j</a:t>
            </a:r>
            <a:r>
              <a:rPr dirty="0"/>
              <a:t>}) AND (</a:t>
            </a:r>
            <a:r>
              <a:rPr dirty="0" err="1"/>
              <a:t>f_j</a:t>
            </a:r>
            <a:r>
              <a:rPr dirty="0"/>
              <a:t> &gt; 0.9 * mu_{</a:t>
            </a:r>
            <a:r>
              <a:rPr dirty="0" err="1"/>
              <a:t>k,j</a:t>
            </a:r>
            <a:r>
              <a:rPr dirty="0"/>
              <a:t>}) =&gt; action = BLOCK</a:t>
            </a:r>
          </a:p>
          <a:p>
            <a:r>
              <a:rPr dirty="0"/>
              <a:t>3. This constraint captures flows that "look like" the novel cluster and classifies them as attacks</a:t>
            </a:r>
          </a:p>
          <a:p>
            <a:r>
              <a:rPr dirty="0"/>
              <a:t>4. The new constraint is added to the Z3 constraint set C, making it available for the safety shield</a:t>
            </a:r>
          </a:p>
          <a:p>
            <a:endParaRPr dirty="0"/>
          </a:p>
          <a:p>
            <a:r>
              <a:rPr dirty="0"/>
              <a:t>TRIGGERING:</a:t>
            </a:r>
          </a:p>
          <a:p>
            <a:r>
              <a:rPr dirty="0"/>
              <a:t>DBSCAN detection runs every 3 training epochs (not every epoch) to allow the misclassification buffer to accumulate enough samples for meaningful clustering.</a:t>
            </a:r>
          </a:p>
          <a:p>
            <a:endParaRPr dirty="0"/>
          </a:p>
          <a:p>
            <a:r>
              <a:rPr dirty="0"/>
              <a:t>PER-DATASET BEHAVIOR:</a:t>
            </a:r>
          </a:p>
          <a:p>
            <a:r>
              <a:rPr dirty="0"/>
              <a:t>- UNSW-NB15: 2-5 novel clusters typically found. The high attack diversity (9 types) means some minority attack types (Worms at 1%, Shellcode at 2%) are initially misclassified and later discovered by DBSCAN.</a:t>
            </a:r>
          </a:p>
          <a:p>
            <a:r>
              <a:rPr dirty="0"/>
              <a:t>- CSE-CIC-2018: 1-3 novel clusters. Lower attack diversity but some infiltration and botnet attacks form distinct clusters.</a:t>
            </a:r>
          </a:p>
          <a:p>
            <a:r>
              <a:rPr dirty="0"/>
              <a:t>- CIC-IDS2017: 2-4 novel clusters. The 14 attack types include rare ones (Heartbleed) that DBSCAN can detect.</a:t>
            </a:r>
          </a:p>
          <a:p>
            <a:endParaRPr dirty="0"/>
          </a:p>
          <a:p>
            <a:r>
              <a:rPr dirty="0"/>
              <a:t>FEEDBACK LOOP:</a:t>
            </a:r>
          </a:p>
          <a:p>
            <a:r>
              <a:rPr dirty="0"/>
              <a:t>The novel constraints flow back to Stage 3, augmenting the original constraint set: C' = C union </a:t>
            </a:r>
            <a:r>
              <a:rPr dirty="0" err="1"/>
              <a:t>C_novel</a:t>
            </a:r>
            <a:r>
              <a:rPr dirty="0"/>
              <a:t>. This means the safety shield in Stage 4 now recognizes these novel patterns and can correctly classify similar flows in subsequent epochs and at test time.</a:t>
            </a:r>
            <a:endParaRPr lang="en-US" dirty="0"/>
          </a:p>
          <a:p>
            <a:endParaRPr lang="en-US" dirty="0"/>
          </a:p>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Cyber threats constantly evolve, so ASRRL must learn continuously.</a:t>
            </a:r>
          </a:p>
          <a:p>
            <a:pPr>
              <a:buFont typeface="Arial" panose="020B0604020202020204" pitchFamily="34" charset="0"/>
              <a:buChar char="•"/>
            </a:pPr>
            <a:r>
              <a:rPr lang="en-US" dirty="0">
                <a:effectLst/>
                <a:latin typeface="Google Sans Text"/>
              </a:rPr>
              <a:t>Whenever the system misclassifies a flow, we capture it in a buffer.</a:t>
            </a:r>
          </a:p>
          <a:p>
            <a:pPr>
              <a:buFont typeface="Arial" panose="020B0604020202020204" pitchFamily="34" charset="0"/>
              <a:buChar char="•"/>
            </a:pPr>
            <a:r>
              <a:rPr lang="en-US" dirty="0">
                <a:effectLst/>
                <a:latin typeface="Google Sans Text"/>
              </a:rPr>
              <a:t>We run DBSCAN clustering on these misclassified flows. If a dense cluster forms, it indicates a recurring, unseen pattern—likely a zero-day attack.</a:t>
            </a:r>
          </a:p>
          <a:p>
            <a:pPr>
              <a:buFont typeface="Arial" panose="020B0604020202020204" pitchFamily="34" charset="0"/>
              <a:buChar char="•"/>
            </a:pPr>
            <a:r>
              <a:rPr lang="en-US" dirty="0">
                <a:effectLst/>
                <a:latin typeface="Google Sans Text"/>
              </a:rPr>
              <a:t>We compute the mean of this new cluster, generate a new Z3 constraint, and add it to our rulebook dynamically.</a:t>
            </a:r>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Stage 6 - Adaptive Buffer Management</a:t>
            </a:r>
          </a:p>
          <a:p>
            <a:r>
              <a:rPr lang="en-US" b="1" dirty="0"/>
              <a:t>Speaker Notes:</a:t>
            </a:r>
            <a:endParaRPr lang="en-US" dirty="0"/>
          </a:p>
          <a:p>
            <a:pPr>
              <a:buFont typeface="Arial" panose="020B0604020202020204" pitchFamily="34" charset="0"/>
              <a:buChar char="•"/>
            </a:pPr>
            <a:r>
              <a:rPr lang="en-US" dirty="0"/>
              <a:t>Network traffic is highly volatile. A static buffer size won't work.</a:t>
            </a:r>
          </a:p>
          <a:p>
            <a:pPr>
              <a:buFont typeface="Arial" panose="020B0604020202020204" pitchFamily="34" charset="0"/>
              <a:buChar char="•"/>
            </a:pPr>
            <a:r>
              <a:rPr lang="en-US" dirty="0"/>
              <a:t>In Stage 6, we monitor the variance in entropy and byte rates.</a:t>
            </a:r>
          </a:p>
          <a:p>
            <a:pPr>
              <a:buFont typeface="Arial" panose="020B0604020202020204" pitchFamily="34" charset="0"/>
              <a:buChar char="•"/>
            </a:pPr>
            <a:r>
              <a:rPr lang="en-US" dirty="0"/>
              <a:t>If variance is high—indicating a potential attack burst—we aggressively shrink the buffer. This allows the system to react incredibly fast to changes.</a:t>
            </a:r>
          </a:p>
          <a:p>
            <a:pPr>
              <a:buFont typeface="Arial" panose="020B0604020202020204" pitchFamily="34" charset="0"/>
              <a:buChar char="•"/>
            </a:pPr>
            <a:r>
              <a:rPr lang="en-US" dirty="0"/>
              <a:t>If traffic is stable, the buffer grows to provide smoother, more reliable statistical estimates.</a:t>
            </a:r>
          </a:p>
          <a:p>
            <a:endParaRPr lang="en-US" dirty="0"/>
          </a:p>
          <a:p>
            <a:endParaRPr lang="en-US" dirty="0"/>
          </a:p>
          <a:p>
            <a:endParaRPr lang="en-US" dirty="0"/>
          </a:p>
          <a:p>
            <a:endParaRPr lang="en-US" dirty="0"/>
          </a:p>
          <a:p>
            <a:r>
              <a:rPr dirty="0"/>
              <a:t>SLIDE 9 — Stage 6: Adaptive Buffer Management</a:t>
            </a:r>
          </a:p>
          <a:p>
            <a:endParaRPr dirty="0"/>
          </a:p>
          <a:p>
            <a:r>
              <a:rPr dirty="0"/>
              <a:t>PURPOSE: Dynamically resize the sliding window of recent flows based on traffic volatility, optimizing the tradeoff between responsiveness (small buffer) and statistical stability (large buffer).</a:t>
            </a:r>
          </a:p>
          <a:p>
            <a:endParaRPr dirty="0"/>
          </a:p>
          <a:p>
            <a:r>
              <a:rPr dirty="0"/>
              <a:t>THE CONCEPT DRIFT PROBLEM:</a:t>
            </a:r>
          </a:p>
          <a:p>
            <a:r>
              <a:rPr dirty="0"/>
              <a:t>Network traffic characteristics change over time — attack rates fluctuate, new services come online, traffic patterns shift between business hours and nights. A fixed-size analysis window cannot adapt:</a:t>
            </a:r>
          </a:p>
          <a:p>
            <a:r>
              <a:rPr dirty="0"/>
              <a:t>- Too small: Noisy estimates, jumpy classifications</a:t>
            </a:r>
          </a:p>
          <a:p>
            <a:r>
              <a:rPr dirty="0"/>
              <a:t>- Too large: Slow to react to sudden attack campaigns or traffic shifts</a:t>
            </a:r>
          </a:p>
          <a:p>
            <a:endParaRPr dirty="0"/>
          </a:p>
          <a:p>
            <a:r>
              <a:rPr dirty="0"/>
              <a:t>BUFFER RESIZING LOGIC:</a:t>
            </a:r>
          </a:p>
          <a:p>
            <a:r>
              <a:rPr dirty="0"/>
              <a:t>The buffer manager computes two volatility signals from the current window:</a:t>
            </a:r>
          </a:p>
          <a:p>
            <a:r>
              <a:rPr dirty="0"/>
              <a:t>1. </a:t>
            </a:r>
            <a:r>
              <a:rPr dirty="0" err="1"/>
              <a:t>sigma_H</a:t>
            </a:r>
            <a:r>
              <a:rPr dirty="0"/>
              <a:t> = std(entropy column): Measures diversity of connection patterns. High entropy variance indicates mixed traffic (attacks interspersed with benign).</a:t>
            </a:r>
          </a:p>
          <a:p>
            <a:r>
              <a:rPr dirty="0"/>
              <a:t>2. sigma^2_b = var(</a:t>
            </a:r>
            <a:r>
              <a:rPr dirty="0" err="1"/>
              <a:t>byte_rate</a:t>
            </a:r>
            <a:r>
              <a:rPr dirty="0"/>
              <a:t> column): Measures variability in traffic volume. High variance suggests bursty attack traffic.</a:t>
            </a:r>
          </a:p>
          <a:p>
            <a:endParaRPr dirty="0"/>
          </a:p>
          <a:p>
            <a:r>
              <a:rPr dirty="0"/>
              <a:t>Resize rules (applied after each window evaluation):</a:t>
            </a:r>
          </a:p>
          <a:p>
            <a:r>
              <a:rPr dirty="0"/>
              <a:t>- SHRINK (fast react): If </a:t>
            </a:r>
            <a:r>
              <a:rPr dirty="0" err="1"/>
              <a:t>sigma_H</a:t>
            </a:r>
            <a:r>
              <a:rPr dirty="0"/>
              <a:t> &gt; 0.8 OR sigma^2_b &gt; 2.0, reduce buffer by 5 (min 10). Rationale: high volatility means the traffic distribution is changing rapidly; a smaller window captures the current state better.</a:t>
            </a:r>
          </a:p>
          <a:p>
            <a:r>
              <a:rPr dirty="0"/>
              <a:t>- GROW (stability): If </a:t>
            </a:r>
            <a:r>
              <a:rPr dirty="0" err="1"/>
              <a:t>sigma_H</a:t>
            </a:r>
            <a:r>
              <a:rPr dirty="0"/>
              <a:t> &lt; 0.3 AND sigma^2_b &lt; 0.5, increase buffer by 10 (max 200). Rationale: stable traffic means we can afford a larger window for more reliable statistical estimates.</a:t>
            </a:r>
          </a:p>
          <a:p>
            <a:r>
              <a:rPr dirty="0"/>
              <a:t>- SHRINK (accuracy): If window accuracy &lt; 0.8, reduce by 3 (min 10). Rationale: poor accuracy suggests the window is stale and doesn't represent current traffic.</a:t>
            </a:r>
          </a:p>
          <a:p>
            <a:r>
              <a:rPr dirty="0"/>
              <a:t>- HOLD: Otherwise, keep current size.</a:t>
            </a:r>
          </a:p>
          <a:p>
            <a:endParaRPr dirty="0"/>
          </a:p>
          <a:p>
            <a:r>
              <a:rPr dirty="0"/>
              <a:t>CONTEXT RELIABILITY:</a:t>
            </a:r>
          </a:p>
          <a:p>
            <a:r>
              <a:rPr dirty="0" err="1"/>
              <a:t>rho_t</a:t>
            </a:r>
            <a:r>
              <a:rPr dirty="0"/>
              <a:t> = 1 if |</a:t>
            </a:r>
            <a:r>
              <a:rPr dirty="0" err="1"/>
              <a:t>B_t</a:t>
            </a:r>
            <a:r>
              <a:rPr dirty="0"/>
              <a:t>| &gt;= 30, else 0. This binary flag indicates whether the current buffer has enough samples for reliable context estimation. Buffers with fewer than 30 flows produce unreliable attack rate estimates, so downstream stages (Stage 8) don't use context-based classification for these windows.</a:t>
            </a:r>
          </a:p>
          <a:p>
            <a:endParaRPr dirty="0"/>
          </a:p>
          <a:p>
            <a:r>
              <a:rPr dirty="0"/>
              <a:t>ESTIMATION NOISE:</a:t>
            </a:r>
          </a:p>
          <a:p>
            <a:r>
              <a:rPr dirty="0"/>
              <a:t>The attack rate estimate from a window of size |</a:t>
            </a:r>
            <a:r>
              <a:rPr dirty="0" err="1"/>
              <a:t>B_t</a:t>
            </a:r>
            <a:r>
              <a:rPr dirty="0"/>
              <a:t>| has inherent sampling noise:</a:t>
            </a:r>
          </a:p>
          <a:p>
            <a:r>
              <a:rPr dirty="0" err="1"/>
              <a:t>r_hat_attack</a:t>
            </a:r>
            <a:r>
              <a:rPr dirty="0"/>
              <a:t> ~ N(</a:t>
            </a:r>
            <a:r>
              <a:rPr dirty="0" err="1"/>
              <a:t>r_bar_attack</a:t>
            </a:r>
            <a:r>
              <a:rPr dirty="0"/>
              <a:t>, 0.25 / sqrt(|</a:t>
            </a:r>
            <a:r>
              <a:rPr dirty="0" err="1"/>
              <a:t>B_t</a:t>
            </a:r>
            <a:r>
              <a:rPr dirty="0"/>
              <a:t>|))</a:t>
            </a:r>
          </a:p>
          <a:p>
            <a:r>
              <a:rPr dirty="0"/>
              <a:t>This models the statistical uncertainty: a buffer of 25 flows has noise std = 0.25/5 = 0.05, while a buffer of 100 has noise std = 0.25/10 = 0.025. Larger buffers produce tighter estimates.</a:t>
            </a:r>
          </a:p>
          <a:p>
            <a:endParaRPr dirty="0"/>
          </a:p>
          <a:p>
            <a:r>
              <a:rPr dirty="0"/>
              <a:t>PER-DATASET BUFFER BEHAVIOR:</a:t>
            </a:r>
          </a:p>
          <a:p>
            <a:r>
              <a:rPr dirty="0"/>
              <a:t>UNSW-NB15 (30% attack rate): The high attack proportion creates more entropy variance as attack and benign flows alternate. This triggers more shrink events. Final buffer converges around 37 flows — a compromise between the frequent shrink triggers and the grow periods during stable benign stretches.</a:t>
            </a:r>
          </a:p>
          <a:p>
            <a:endParaRPr dirty="0"/>
          </a:p>
          <a:p>
            <a:r>
              <a:rPr dirty="0"/>
              <a:t>CSE-CIC-IDS-2018 (15% attack rate): Predominantly benign traffic creates long stable periods where the buffer grows. Fewer shrink triggers due to lower variance. Final buffer converges around 30 flows.</a:t>
            </a:r>
          </a:p>
          <a:p>
            <a:endParaRPr dirty="0"/>
          </a:p>
          <a:p>
            <a:r>
              <a:rPr dirty="0"/>
              <a:t>CIC-IDS2017 (20% attack rate): Intermediate behavior. More diverse attack types create moderate variance. Final buffer around 32 flows.</a:t>
            </a:r>
          </a:p>
          <a:p>
            <a:endParaRPr dirty="0"/>
          </a:p>
          <a:p>
            <a:r>
              <a:rPr dirty="0"/>
              <a:t>The buffer sizes 30-37 are all above the context reliability threshold of 30, meaning all three datasets produce reliable context estimates for Stage 8.</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effectLst/>
                <a:latin typeface="Google Sans Text"/>
              </a:rPr>
              <a:t>Stage 7 - Dynamic Threshold Adaptation</a:t>
            </a:r>
            <a:endParaRPr lang="en-US" b="1" dirty="0">
              <a:effectLst/>
              <a:latin typeface="Google Sans"/>
            </a:endParaRPr>
          </a:p>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Just like the buffer, our decision threshold ($\tau$) is dynamic.</a:t>
            </a:r>
          </a:p>
          <a:p>
            <a:pPr>
              <a:buFont typeface="Arial" panose="020B0604020202020204" pitchFamily="34" charset="0"/>
              <a:buChar char="•"/>
            </a:pPr>
            <a:r>
              <a:rPr lang="en-US" dirty="0">
                <a:effectLst/>
                <a:latin typeface="Google Sans Text"/>
              </a:rPr>
              <a:t>Instead of hardcoding a 0.50 cutoff, the system continuously tracks its False Positive and False Negative rates.</a:t>
            </a:r>
          </a:p>
          <a:p>
            <a:pPr>
              <a:buFont typeface="Arial" panose="020B0604020202020204" pitchFamily="34" charset="0"/>
              <a:buChar char="•"/>
            </a:pPr>
            <a:r>
              <a:rPr lang="en-US" dirty="0">
                <a:effectLst/>
                <a:latin typeface="Google Sans Text"/>
              </a:rPr>
              <a:t>If False Positives are too high, the threshold shifts upward to be more conservative. If False Negatives are too high, it shifts downward to be more sensitive.</a:t>
            </a:r>
          </a:p>
          <a:p>
            <a:pPr>
              <a:buFont typeface="Arial" panose="020B0604020202020204" pitchFamily="34" charset="0"/>
              <a:buChar char="•"/>
            </a:pPr>
            <a:r>
              <a:rPr lang="en-US" dirty="0">
                <a:effectLst/>
                <a:latin typeface="Google Sans Text"/>
              </a:rPr>
              <a:t>You can see that each dataset organically converged to its own optimal threshold—UNSW at 0.65, and CSE at 0.625—based purely on their unique traffic patterns.</a:t>
            </a:r>
          </a:p>
          <a:p>
            <a:endParaRPr lang="en-US" b="1" dirty="0">
              <a:effectLst/>
              <a:latin typeface="Google Sans Text"/>
            </a:endParaRPr>
          </a:p>
          <a:p>
            <a:endParaRPr lang="en-US" b="1" dirty="0">
              <a:effectLst/>
              <a:latin typeface="Google Sans Text"/>
            </a:endParaRPr>
          </a:p>
          <a:p>
            <a:endParaRPr lang="en-US" b="1" dirty="0">
              <a:effectLst/>
              <a:latin typeface="Google Sans Text"/>
            </a:endParaRPr>
          </a:p>
          <a:p>
            <a:endParaRPr lang="en-US" b="1" dirty="0">
              <a:effectLst/>
              <a:latin typeface="Google Sans Text"/>
            </a:endParaRPr>
          </a:p>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Just like the buffer, our decision threshold ($\tau$) is dynamic.</a:t>
            </a:r>
          </a:p>
          <a:p>
            <a:pPr>
              <a:buFont typeface="Arial" panose="020B0604020202020204" pitchFamily="34" charset="0"/>
              <a:buChar char="•"/>
            </a:pPr>
            <a:r>
              <a:rPr lang="en-US" dirty="0">
                <a:effectLst/>
                <a:latin typeface="Google Sans Text"/>
              </a:rPr>
              <a:t>Instead of hardcoding a 0.50 cutoff, the system continuously tracks its False Positive and False Negative rates.</a:t>
            </a:r>
          </a:p>
          <a:p>
            <a:pPr>
              <a:buFont typeface="Arial" panose="020B0604020202020204" pitchFamily="34" charset="0"/>
              <a:buChar char="•"/>
            </a:pPr>
            <a:r>
              <a:rPr lang="en-US" dirty="0">
                <a:effectLst/>
                <a:latin typeface="Google Sans Text"/>
              </a:rPr>
              <a:t>If False Positives are too high, the threshold shifts upward to be more conservative. If False Negatives are too high, it shifts downward to be more sensitive.</a:t>
            </a:r>
          </a:p>
          <a:p>
            <a:pPr>
              <a:buFont typeface="Arial" panose="020B0604020202020204" pitchFamily="34" charset="0"/>
              <a:buChar char="•"/>
            </a:pPr>
            <a:r>
              <a:rPr lang="en-US" dirty="0">
                <a:effectLst/>
                <a:latin typeface="Google Sans Text"/>
              </a:rPr>
              <a:t>You can see that each dataset organically converged to its own optimal threshold—UNSW at 0.65, and CSE at 0.625—based purely on their unique traffic patterns.</a:t>
            </a:r>
          </a:p>
          <a:p>
            <a:endParaRPr lang="en-US" dirty="0"/>
          </a:p>
          <a:p>
            <a:endParaRPr lang="en-US" dirty="0"/>
          </a:p>
          <a:p>
            <a:endParaRPr lang="en-US" dirty="0"/>
          </a:p>
          <a:p>
            <a:endParaRPr lang="en-US" dirty="0"/>
          </a:p>
          <a:p>
            <a:r>
              <a:rPr dirty="0"/>
              <a:t>SLIDE 10 — Stage 7: Dynamic Threshold Adaptation</a:t>
            </a:r>
          </a:p>
          <a:p>
            <a:endParaRPr dirty="0"/>
          </a:p>
          <a:p>
            <a:r>
              <a:rPr dirty="0"/>
              <a:t>PURPOSE: Learn a dataset-specific classification threshold that optimally balances false positive rate (FPR) and false negative rate (FNR), adapting during both training and test phases.</a:t>
            </a:r>
          </a:p>
          <a:p>
            <a:endParaRPr dirty="0"/>
          </a:p>
          <a:p>
            <a:r>
              <a:rPr dirty="0"/>
              <a:t>WHY NOT A FIXED THRESHOLD (0.5):</a:t>
            </a:r>
          </a:p>
          <a:p>
            <a:r>
              <a:rPr dirty="0"/>
              <a:t>A fixed threshold treats all datasets identically, but optimal operating points differ:</a:t>
            </a:r>
          </a:p>
          <a:p>
            <a:r>
              <a:rPr dirty="0"/>
              <a:t>- High attack-rate datasets (UNSW, 30%): A higher threshold reduces false positives in the abundant attack class</a:t>
            </a:r>
          </a:p>
          <a:p>
            <a:r>
              <a:rPr dirty="0"/>
              <a:t>- Low attack-rate datasets (CSE, 15%): A moderate threshold prevents excessive false negatives on the rarer attack class</a:t>
            </a:r>
          </a:p>
          <a:p>
            <a:r>
              <a:rPr dirty="0"/>
              <a:t>- Different attack type distributions create different precision-recall tradeoffs</a:t>
            </a:r>
          </a:p>
          <a:p>
            <a:endParaRPr dirty="0"/>
          </a:p>
          <a:p>
            <a:r>
              <a:rPr dirty="0"/>
              <a:t>TWO-PHASE ADAPTATION:</a:t>
            </a:r>
          </a:p>
          <a:p>
            <a:endParaRPr dirty="0"/>
          </a:p>
          <a:p>
            <a:r>
              <a:rPr dirty="0"/>
              <a:t>TRAINING PHASE — Accuracy-Based Adaptation:</a:t>
            </a:r>
          </a:p>
          <a:p>
            <a:r>
              <a:rPr dirty="0"/>
              <a:t>During training, the threshold adjusts based on per-window accuracy:</a:t>
            </a:r>
          </a:p>
          <a:p>
            <a:r>
              <a:rPr dirty="0"/>
              <a:t>- If accuracy &gt; 0.95 (very good): Increase tau by 0.01 (become more selective, up to 0.70). The model is confident, so we can afford a stricter threshold.</a:t>
            </a:r>
          </a:p>
          <a:p>
            <a:r>
              <a:rPr dirty="0"/>
              <a:t>- If accuracy &lt; 0.85 (poor): Decrease tau by 0.01 (become more sensitive, down to 0.40). The model is struggling, so we lower the bar to catch more attacks.</a:t>
            </a:r>
          </a:p>
          <a:p>
            <a:r>
              <a:rPr dirty="0"/>
              <a:t>- Reward-based fine-tuning: +0.005 if mean reward &gt; 0.8 (good decisions), -0.005 if mean reward &lt; 0 (bad decisions). These small adjustments refine the threshold based on the RL agent's feedback.</a:t>
            </a:r>
          </a:p>
          <a:p>
            <a:endParaRPr dirty="0"/>
          </a:p>
          <a:p>
            <a:r>
              <a:rPr dirty="0"/>
              <a:t>TEST PHASE — EMA Error-Rate Balancing:</a:t>
            </a:r>
          </a:p>
          <a:p>
            <a:r>
              <a:rPr dirty="0"/>
              <a:t>During test evaluation, the threshold adapts online using exponential moving averages (EMA) of error rates:</a:t>
            </a:r>
          </a:p>
          <a:p>
            <a:r>
              <a:rPr dirty="0"/>
              <a:t>- </a:t>
            </a:r>
            <a:r>
              <a:rPr dirty="0" err="1"/>
              <a:t>FPR_hat_t</a:t>
            </a:r>
            <a:r>
              <a:rPr dirty="0"/>
              <a:t> = 0.3 * </a:t>
            </a:r>
            <a:r>
              <a:rPr dirty="0" err="1"/>
              <a:t>FPR_window</a:t>
            </a:r>
            <a:r>
              <a:rPr dirty="0"/>
              <a:t> + 0.7 * </a:t>
            </a:r>
            <a:r>
              <a:rPr dirty="0" err="1"/>
              <a:t>FPR_hat</a:t>
            </a:r>
            <a:r>
              <a:rPr dirty="0"/>
              <a:t>_{t-1} — smoothed false positive rate</a:t>
            </a:r>
          </a:p>
          <a:p>
            <a:r>
              <a:rPr dirty="0"/>
              <a:t>- </a:t>
            </a:r>
            <a:r>
              <a:rPr dirty="0" err="1"/>
              <a:t>FNR_hat_t</a:t>
            </a:r>
            <a:r>
              <a:rPr dirty="0"/>
              <a:t> = 0.3 * </a:t>
            </a:r>
            <a:r>
              <a:rPr dirty="0" err="1"/>
              <a:t>FNR_window</a:t>
            </a:r>
            <a:r>
              <a:rPr dirty="0"/>
              <a:t> + 0.7 * </a:t>
            </a:r>
            <a:r>
              <a:rPr dirty="0" err="1"/>
              <a:t>FNR_hat</a:t>
            </a:r>
            <a:r>
              <a:rPr dirty="0"/>
              <a:t>_{t-1} — smoothed false negative rate</a:t>
            </a:r>
          </a:p>
          <a:p>
            <a:r>
              <a:rPr dirty="0"/>
              <a:t>- alpha = 0.3: Moderate smoothing that responds to recent trends without overreacting to single-window anomalies</a:t>
            </a:r>
          </a:p>
          <a:p>
            <a:endParaRPr dirty="0"/>
          </a:p>
          <a:p>
            <a:r>
              <a:rPr dirty="0"/>
              <a:t>The balancing rule:</a:t>
            </a:r>
          </a:p>
          <a:p>
            <a:r>
              <a:rPr dirty="0"/>
              <a:t>- If </a:t>
            </a:r>
            <a:r>
              <a:rPr dirty="0" err="1"/>
              <a:t>FPR_hat</a:t>
            </a:r>
            <a:r>
              <a:rPr dirty="0"/>
              <a:t> &gt; 2 * </a:t>
            </a:r>
            <a:r>
              <a:rPr dirty="0" err="1"/>
              <a:t>FNR_hat</a:t>
            </a:r>
            <a:r>
              <a:rPr dirty="0"/>
              <a:t>: Too many false positives, increase tau by 0.005 (stricter)</a:t>
            </a:r>
          </a:p>
          <a:p>
            <a:r>
              <a:rPr dirty="0"/>
              <a:t>- If </a:t>
            </a:r>
            <a:r>
              <a:rPr dirty="0" err="1"/>
              <a:t>FNR_hat</a:t>
            </a:r>
            <a:r>
              <a:rPr dirty="0"/>
              <a:t> &gt; 2 * </a:t>
            </a:r>
            <a:r>
              <a:rPr dirty="0" err="1"/>
              <a:t>FPR_hat</a:t>
            </a:r>
            <a:r>
              <a:rPr dirty="0"/>
              <a:t>: Too many missed attacks, decrease tau by 0.005 (more sensitive)</a:t>
            </a:r>
          </a:p>
          <a:p>
            <a:r>
              <a:rPr dirty="0"/>
              <a:t>- Otherwise: Hold steady</a:t>
            </a:r>
          </a:p>
          <a:p>
            <a:endParaRPr dirty="0"/>
          </a:p>
          <a:p>
            <a:r>
              <a:rPr dirty="0"/>
              <a:t>The factor of 2 creates a "dead zone" where small imbalances are tolerated, preventing oscillation. The small step size (0.005 vs 0.01 in training) ensures stable test-time behavior.</a:t>
            </a:r>
          </a:p>
          <a:p>
            <a:endParaRPr dirty="0"/>
          </a:p>
          <a:p>
            <a:r>
              <a:rPr dirty="0"/>
              <a:t>BOUNDS:</a:t>
            </a:r>
          </a:p>
          <a:p>
            <a:r>
              <a:rPr dirty="0"/>
              <a:t>tau is always clipped to [0.40, 0.70]:</a:t>
            </a:r>
          </a:p>
          <a:p>
            <a:r>
              <a:rPr dirty="0"/>
              <a:t>- 0.40 lower bound: Prevents the threshold from becoming so low that nearly everything is classified as attack</a:t>
            </a:r>
          </a:p>
          <a:p>
            <a:r>
              <a:rPr dirty="0"/>
              <a:t>- 0.70 upper bound: Prevents the threshold from becoming so high that only the most extreme attacks are detected</a:t>
            </a:r>
          </a:p>
          <a:p>
            <a:endParaRPr dirty="0"/>
          </a:p>
          <a:p>
            <a:r>
              <a:rPr dirty="0"/>
              <a:t>PER-DATASET LEARNED THRESHOLDS:</a:t>
            </a:r>
          </a:p>
          <a:p>
            <a:r>
              <a:rPr dirty="0"/>
              <a:t>UNSW-NB15: tau* = 0.65 — High attack rate (30%) means the training phase encounters many attack windows with good accuracy, pushing tau upward. The higher threshold reduces false positives in the large attack class.</a:t>
            </a:r>
          </a:p>
          <a:p>
            <a:endParaRPr dirty="0"/>
          </a:p>
          <a:p>
            <a:r>
              <a:rPr dirty="0"/>
              <a:t>CSE-CIC-IDS-2018: tau* = 0.625 — Lower attack rate (15%) produces a moderate threshold. The FPR/FNR balance settles at a middle ground because attacks are rarer but must still be caught.</a:t>
            </a:r>
          </a:p>
          <a:p>
            <a:endParaRPr dirty="0"/>
          </a:p>
          <a:p>
            <a:r>
              <a:rPr dirty="0"/>
              <a:t>CIC-IDS2017: tau* = 0.685 — Highest threshold among the three. The 14 diverse attack types create varied probability distributions; a stricter threshold achieves higher precision by only flagging high-confidence detections.</a:t>
            </a:r>
          </a:p>
          <a:p>
            <a:endParaRPr dirty="0"/>
          </a:p>
          <a:p>
            <a:r>
              <a:rPr dirty="0"/>
              <a:t>KEY INSIGHT: The fact that each dataset converges to a different threshold demonstrates that ASRRL is truly adaptive — it doesn't use a one-size-fits-all decision boundary but learns the optimal operating point per deployment environment.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effectLst/>
                <a:latin typeface="Google Sans Text"/>
              </a:rPr>
              <a:t>Speaker Notes:</a:t>
            </a:r>
            <a:endParaRPr lang="en-US" dirty="0">
              <a:effectLst/>
              <a:latin typeface="Google Sans Text"/>
            </a:endParaRPr>
          </a:p>
          <a:p>
            <a:pPr>
              <a:buFont typeface="Arial" panose="020B0604020202020204" pitchFamily="34" charset="0"/>
              <a:buChar char="•"/>
            </a:pPr>
            <a:r>
              <a:rPr lang="en-US" dirty="0">
                <a:effectLst/>
                <a:latin typeface="Google Sans Text"/>
              </a:rPr>
              <a:t>The final stage is the classification decision, gated by our dynamic threshold and backed by the Z3-shielded RL agent for ambiguous cases.</a:t>
            </a:r>
          </a:p>
          <a:p>
            <a:pPr>
              <a:buFont typeface="Arial" panose="020B0604020202020204" pitchFamily="34" charset="0"/>
              <a:buChar char="•"/>
            </a:pPr>
            <a:r>
              <a:rPr lang="en-US" dirty="0">
                <a:effectLst/>
                <a:latin typeface="Google Sans Text"/>
              </a:rPr>
              <a:t>The results are exceptional. Across all datasets, we achieved F1 scores between 0.981 and 0.989, making ASRRL highly competitive with standard black-box models like </a:t>
            </a:r>
            <a:r>
              <a:rPr lang="en-US" dirty="0" err="1">
                <a:effectLst/>
                <a:latin typeface="Google Sans Text"/>
              </a:rPr>
              <a:t>XGBoost</a:t>
            </a:r>
            <a:r>
              <a:rPr lang="en-US" dirty="0">
                <a:effectLst/>
                <a:latin typeface="Google Sans Text"/>
              </a:rPr>
              <a:t> and Random Forest.</a:t>
            </a:r>
          </a:p>
          <a:p>
            <a:pPr>
              <a:buFont typeface="Arial" panose="020B0604020202020204" pitchFamily="34" charset="0"/>
              <a:buChar char="•"/>
            </a:pPr>
            <a:r>
              <a:rPr lang="en-US" dirty="0">
                <a:effectLst/>
                <a:latin typeface="Google Sans Text"/>
              </a:rPr>
              <a:t>However, our key differentiator is verifiability. ASRRL achieved a Composite Verifiability Score (CVS) of 0.96, which is 3.3 times higher than the best black-box baselines.</a:t>
            </a:r>
          </a:p>
          <a:p>
            <a:pPr>
              <a:buFont typeface="Arial" panose="020B0604020202020204" pitchFamily="34" charset="0"/>
              <a:buChar char="•"/>
            </a:pPr>
            <a:r>
              <a:rPr lang="en-US" dirty="0">
                <a:effectLst/>
                <a:latin typeface="Google Sans Text"/>
              </a:rPr>
              <a:t>Ultimately, ASRRL provides state-of-the-art accuracy, but more importantly, it provides a mathematical audit trail for every single decision.</a:t>
            </a:r>
          </a:p>
          <a:p>
            <a:endParaRPr lang="en-US" dirty="0"/>
          </a:p>
          <a:p>
            <a:endParaRPr lang="en-US" dirty="0"/>
          </a:p>
          <a:p>
            <a:r>
              <a:rPr dirty="0"/>
              <a:t>SLIDE 11 — Stage 8: Final Classification Decision</a:t>
            </a:r>
          </a:p>
          <a:p>
            <a:endParaRPr dirty="0"/>
          </a:p>
          <a:p>
            <a:r>
              <a:rPr dirty="0"/>
              <a:t>PURPOSE: Combine all upstream signals — DT probability, dynamic threshold, buffer context, and RL+Z3 safety shield — into a final binary classification for each network flow.</a:t>
            </a:r>
          </a:p>
          <a:p>
            <a:endParaRPr dirty="0"/>
          </a:p>
          <a:p>
            <a:r>
              <a:rPr dirty="0"/>
              <a:t>DECISION LOGIC (5 cases, evaluated in order):</a:t>
            </a:r>
          </a:p>
          <a:p>
            <a:r>
              <a:rPr dirty="0"/>
              <a:t>The classification uses a threshold-gated decision with contextual overrides and an RL fallback:</a:t>
            </a:r>
          </a:p>
          <a:p>
            <a:endParaRPr dirty="0"/>
          </a:p>
          <a:p>
            <a:r>
              <a:rPr dirty="0"/>
              <a:t>Case 1 — Confident Attack (</a:t>
            </a:r>
            <a:r>
              <a:rPr dirty="0" err="1"/>
              <a:t>p_i</a:t>
            </a:r>
            <a:r>
              <a:rPr dirty="0"/>
              <a:t> &gt;= </a:t>
            </a:r>
            <a:r>
              <a:rPr dirty="0" err="1"/>
              <a:t>tau_t</a:t>
            </a:r>
            <a:r>
              <a:rPr dirty="0"/>
              <a:t>):</a:t>
            </a:r>
          </a:p>
          <a:p>
            <a:r>
              <a:rPr dirty="0"/>
              <a:t>If the DT's attack probability exceeds the learned threshold, classify as ATTACK. This handles the clear-cut cases where the model is confident. For UNSW with tau=0.65, any flow with P(attack) &gt;= 0.65 is immediately flagged.</a:t>
            </a:r>
          </a:p>
          <a:p>
            <a:endParaRPr dirty="0"/>
          </a:p>
          <a:p>
            <a:r>
              <a:rPr dirty="0"/>
              <a:t>Case 2 — Confident Benign (</a:t>
            </a:r>
            <a:r>
              <a:rPr dirty="0" err="1"/>
              <a:t>p_i</a:t>
            </a:r>
            <a:r>
              <a:rPr dirty="0"/>
              <a:t> &lt;= 1 - </a:t>
            </a:r>
            <a:r>
              <a:rPr dirty="0" err="1"/>
              <a:t>tau_t</a:t>
            </a:r>
            <a:r>
              <a:rPr dirty="0"/>
              <a:t>):</a:t>
            </a:r>
          </a:p>
          <a:p>
            <a:r>
              <a:rPr dirty="0"/>
              <a:t>If the attack probability is below (1 - tau), classify as BENIGN. For tau=0.65, this means P(attack) &lt;= 0.35. These are clearly non-malicious flows.</a:t>
            </a:r>
          </a:p>
          <a:p>
            <a:endParaRPr dirty="0"/>
          </a:p>
          <a:p>
            <a:r>
              <a:rPr dirty="0"/>
              <a:t>Case 3 — Ambiguous + High-Attack Context:</a:t>
            </a:r>
          </a:p>
          <a:p>
            <a:r>
              <a:rPr dirty="0"/>
              <a:t>If the probability falls in the ambiguous zone (1-tau &lt; </a:t>
            </a:r>
            <a:r>
              <a:rPr dirty="0" err="1"/>
              <a:t>p_i</a:t>
            </a:r>
            <a:r>
              <a:rPr dirty="0"/>
              <a:t> &lt; tau) AND the buffer's estimated attack rate &gt; 0.5 AND the buffer is reliable (rho=1, meaning |</a:t>
            </a:r>
            <a:r>
              <a:rPr dirty="0" err="1"/>
              <a:t>B_t</a:t>
            </a:r>
            <a:r>
              <a:rPr dirty="0"/>
              <a:t>| &gt;= 30), classify as ATTACK. Rationale: when the immediate context is attack-heavy, ambiguous flows are more likely attacks.</a:t>
            </a:r>
          </a:p>
          <a:p>
            <a:endParaRPr dirty="0"/>
          </a:p>
          <a:p>
            <a:r>
              <a:rPr dirty="0"/>
              <a:t>Case 4 — Ambiguous + Low-Attack Context:</a:t>
            </a:r>
          </a:p>
          <a:p>
            <a:r>
              <a:rPr dirty="0"/>
              <a:t>If ambiguous AND estimated attack rate &lt; 0.25 AND buffer reliable, classify as BENIGN. Rationale: in a predominantly benign context, ambiguous flows are more likely benign.</a:t>
            </a:r>
          </a:p>
          <a:p>
            <a:endParaRPr dirty="0"/>
          </a:p>
          <a:p>
            <a:r>
              <a:rPr dirty="0"/>
              <a:t>Case 5 — RL Agent + Z3 Shield (Fallback):</a:t>
            </a:r>
          </a:p>
          <a:p>
            <a:r>
              <a:rPr dirty="0"/>
              <a:t>For all remaining cases (ambiguous probability, unreliable buffer, or intermediate context), defer to the Q-learning agent with Z3 safety shielding:</a:t>
            </a:r>
          </a:p>
          <a:p>
            <a:r>
              <a:rPr dirty="0"/>
              <a:t>- a* = </a:t>
            </a:r>
            <a:r>
              <a:rPr dirty="0" err="1"/>
              <a:t>argmax_a</a:t>
            </a:r>
            <a:r>
              <a:rPr dirty="0"/>
              <a:t> Q(</a:t>
            </a:r>
            <a:r>
              <a:rPr dirty="0" err="1"/>
              <a:t>s_i</a:t>
            </a:r>
            <a:r>
              <a:rPr dirty="0"/>
              <a:t>, a) — Q-table lookup for the flow's leaf state</a:t>
            </a:r>
          </a:p>
          <a:p>
            <a:r>
              <a:rPr dirty="0"/>
              <a:t>- If verify(</a:t>
            </a:r>
            <a:r>
              <a:rPr dirty="0" err="1"/>
              <a:t>x_i</a:t>
            </a:r>
            <a:r>
              <a:rPr dirty="0"/>
              <a:t>, a*) = SAT: use a* (the Q-learning action is Z3-safe)</a:t>
            </a:r>
          </a:p>
          <a:p>
            <a:r>
              <a:rPr dirty="0"/>
              <a:t>- If verify(</a:t>
            </a:r>
            <a:r>
              <a:rPr dirty="0" err="1"/>
              <a:t>x_i</a:t>
            </a:r>
            <a:r>
              <a:rPr dirty="0"/>
              <a:t>, a*) = UNSAT: override with argmax_{a in </a:t>
            </a:r>
            <a:r>
              <a:rPr dirty="0" err="1"/>
              <a:t>A_safe</a:t>
            </a:r>
            <a:r>
              <a:rPr dirty="0"/>
              <a:t>} Q(</a:t>
            </a:r>
            <a:r>
              <a:rPr dirty="0" err="1"/>
              <a:t>s_i</a:t>
            </a:r>
            <a:r>
              <a:rPr dirty="0"/>
              <a:t>, a) — best safe alternative</a:t>
            </a:r>
          </a:p>
          <a:p>
            <a:endParaRPr dirty="0"/>
          </a:p>
          <a:p>
            <a:r>
              <a:rPr dirty="0"/>
              <a:t>This cascading decision structure ensures that:</a:t>
            </a:r>
          </a:p>
          <a:p>
            <a:r>
              <a:rPr dirty="0"/>
              <a:t>1. High-confidence cases are handled quickly (Cases 1-2)</a:t>
            </a:r>
          </a:p>
          <a:p>
            <a:r>
              <a:rPr dirty="0"/>
              <a:t>2. Context-aware decisions resolve ambiguity when possible (Cases 3-4)</a:t>
            </a:r>
          </a:p>
          <a:p>
            <a:r>
              <a:rPr dirty="0"/>
              <a:t>3. The RL+Z3 system handles the hardest cases with formal safety guarantees (Case 5)</a:t>
            </a:r>
          </a:p>
          <a:p>
            <a:endParaRPr dirty="0"/>
          </a:p>
          <a:p>
            <a:r>
              <a:rPr dirty="0"/>
              <a:t>PER-DATASET FINAL RESULTS:</a:t>
            </a:r>
          </a:p>
          <a:p>
            <a:endParaRPr dirty="0"/>
          </a:p>
          <a:p>
            <a:r>
              <a:rPr dirty="0"/>
              <a:t>UNSW-NB15 (ASRRL Dynamic):</a:t>
            </a:r>
          </a:p>
          <a:p>
            <a:r>
              <a:rPr dirty="0"/>
              <a:t>- F1 = 0.989, Accuracy = 0.993</a:t>
            </a:r>
          </a:p>
          <a:p>
            <a:r>
              <a:rPr dirty="0"/>
              <a:t>- Precision = 1.000 (zero false positives!), Recall = 0.978</a:t>
            </a:r>
          </a:p>
          <a:p>
            <a:r>
              <a:rPr dirty="0"/>
              <a:t>- FPR = 0.000, FNR = 0.022 — misses only 2.2% of attacks</a:t>
            </a:r>
          </a:p>
          <a:p>
            <a:r>
              <a:rPr dirty="0"/>
              <a:t>- The high threshold (0.65) combined with a 30% attack rate produces excellent precision</a:t>
            </a:r>
          </a:p>
          <a:p>
            <a:r>
              <a:rPr dirty="0"/>
              <a:t>- Buffer size 37 provides reliable context for the ambiguous zone</a:t>
            </a:r>
          </a:p>
          <a:p>
            <a:endParaRPr dirty="0"/>
          </a:p>
          <a:p>
            <a:r>
              <a:rPr dirty="0"/>
              <a:t>CSE-CIC-IDS-2018 (ASRRL Dynamic):</a:t>
            </a:r>
          </a:p>
          <a:p>
            <a:r>
              <a:rPr dirty="0"/>
              <a:t>- F1 = 0.981, Accuracy = 0.989</a:t>
            </a:r>
          </a:p>
          <a:p>
            <a:r>
              <a:rPr dirty="0"/>
              <a:t>- Precision = 0.989, Recall = 0.974</a:t>
            </a:r>
          </a:p>
          <a:p>
            <a:r>
              <a:rPr dirty="0"/>
              <a:t>- FPR = 0.005, FNR = 0.026</a:t>
            </a:r>
          </a:p>
          <a:p>
            <a:r>
              <a:rPr dirty="0"/>
              <a:t>- Slightly lower precision because the 15% attack rate means more benign flows near the boundary</a:t>
            </a:r>
          </a:p>
          <a:p>
            <a:endParaRPr dirty="0"/>
          </a:p>
          <a:p>
            <a:r>
              <a:rPr dirty="0"/>
              <a:t>CIC-IDS2017 (ASRRL Dynamic):</a:t>
            </a:r>
          </a:p>
          <a:p>
            <a:r>
              <a:rPr dirty="0"/>
              <a:t>- F1 = 0.984, Accuracy = 0.991</a:t>
            </a:r>
          </a:p>
          <a:p>
            <a:r>
              <a:rPr dirty="0"/>
              <a:t>- Precision = 0.996, Recall = 0.974</a:t>
            </a:r>
          </a:p>
          <a:p>
            <a:r>
              <a:rPr dirty="0"/>
              <a:t>- FPR = 0.002, FNR = 0.026</a:t>
            </a:r>
          </a:p>
          <a:p>
            <a:r>
              <a:rPr dirty="0"/>
              <a:t>- High precision from the strict threshold (0.685) with very low false positive rate</a:t>
            </a:r>
          </a:p>
          <a:p>
            <a:endParaRPr dirty="0"/>
          </a:p>
          <a:p>
            <a:r>
              <a:rPr dirty="0"/>
              <a:t>EVALUATION METRICS:</a:t>
            </a:r>
          </a:p>
          <a:p>
            <a:r>
              <a:rPr dirty="0"/>
              <a:t>- F1: Harmonic mean of precision and recall — our primary metric for comparing with baselines</a:t>
            </a:r>
          </a:p>
          <a:p>
            <a:r>
              <a:rPr dirty="0"/>
              <a:t>- FPR (False Positive Rate): Fraction of benign flows incorrectly flagged — critical for operational IDS (high FPR = alert fatigue)</a:t>
            </a:r>
          </a:p>
          <a:p>
            <a:r>
              <a:rPr dirty="0"/>
              <a:t>- FNR (False Negative Rate): Fraction of attacks missed — critical for security (high FNR = missed threats)</a:t>
            </a:r>
          </a:p>
          <a:p>
            <a:r>
              <a:rPr dirty="0"/>
              <a:t>- CVS (Composite Verifiability Score): Average of 7 sub-metrics measuring constraint fidelity, shield rate, constraint coverage, etc. ASRRL achieves 0.96 CVS vs 0.29 for black-box baselines — this is the key differentiator</a:t>
            </a:r>
          </a:p>
          <a:p>
            <a:endParaRPr dirty="0"/>
          </a:p>
          <a:p>
            <a:r>
              <a:rPr dirty="0"/>
              <a:t>AUDIT TRAIL:</a:t>
            </a:r>
          </a:p>
          <a:p>
            <a:r>
              <a:rPr dirty="0"/>
              <a:t>Every classification decision includes: the DT leaf path, the Z3 constraint that was satisfied, whether the safety shield activated, the Q-value of the chosen action, and the buffer context at decision time. This provides full provenance for forensic analysis.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Key Results: ASRRL vs Baselines Across 3 Datasets</a:t>
            </a:r>
          </a:p>
          <a:p>
            <a:endParaRPr/>
          </a:p>
          <a:p>
            <a:r>
              <a:t>This slide summarizes the key findings from the comprehensive evaluation of ASRRL against 7 baseline classifiers (Random Forest, XGBoost, LightGBM, SVM, KNN, Naive Bayes, MLP) across all three datasets.</a:t>
            </a:r>
          </a:p>
          <a:p>
            <a:endParaRPr/>
          </a:p>
          <a:p>
            <a:r>
              <a:t>F1 SCORE (0.981 - 0.989):</a:t>
            </a:r>
          </a:p>
          <a:p>
            <a:r>
              <a:t>Evaluated with n=50,000 samples per dataset over 10 independent trials with different random seeds. ASRRL achieves F1 scores between 0.981 (CSE-CIC-2018) and 0.989 (UNSW-NB15). For comparison, Random Forest achieves 0.996-1.000, XGBoost 0.993-0.997, and LightGBM 0.993-1.000. While the baselines achieve marginally higher raw F1, they do so without any verifiability guarantees. The F1 gap is small (&lt; 2%) and within the range of practical equivalence for IDS applications.</a:t>
            </a:r>
          </a:p>
          <a:p>
            <a:endParaRPr/>
          </a:p>
          <a:p>
            <a:r>
              <a:t>COMPOSITE VERIFIABILITY SCORE (CVS): 0.96 vs 0.29:</a:t>
            </a:r>
          </a:p>
          <a:p>
            <a:r>
              <a:t>This is ASRRL's key differentiator. The CVS averages 7 sub-metrics:</a:t>
            </a:r>
          </a:p>
          <a:p>
            <a:r>
              <a:t>1. Constraint Fidelity: Do Z3 constraints match DT predictions? (1.0 for ASRRL)</a:t>
            </a:r>
          </a:p>
          <a:p>
            <a:r>
              <a:t>2. Safety Shield Rate: Are unsafe actions prevented? (&gt;0 activations for ASRRL, 0 for baselines)</a:t>
            </a:r>
          </a:p>
          <a:p>
            <a:r>
              <a:t>3. Constraint Coverage: Do constraints cover the feature space? (1.0 for ASRRL)</a:t>
            </a:r>
          </a:p>
          <a:p>
            <a:r>
              <a:t>4. Opinion Rate: Does the system always produce a decision? (1.0)</a:t>
            </a:r>
          </a:p>
          <a:p>
            <a:r>
              <a:t>5. Explanation Completeness: Can every decision be traced to a constraint? (1.0)</a:t>
            </a:r>
          </a:p>
          <a:p>
            <a:r>
              <a:t>6. Novel Pattern Detection: Does the system adapt to new attacks? (&gt;0 for ASRRL)</a:t>
            </a:r>
          </a:p>
          <a:p>
            <a:r>
              <a:t>7. Audit Trail: Is the decision provenance recorded? (1.0 for ASRRL)</a:t>
            </a:r>
          </a:p>
          <a:p>
            <a:r>
              <a:t>Black-box baselines (RF, XGBoost, etc.) score 0.29 because they can only provide feature importance, not formal proofs. ASRRL's 0.96 CVS means it is 3.3x more verifiable.</a:t>
            </a:r>
          </a:p>
          <a:p>
            <a:endParaRPr/>
          </a:p>
          <a:p>
            <a:r>
              <a:t>Z3 CONSTRAINT FIDELITY (100%):</a:t>
            </a:r>
          </a:p>
          <a:p>
            <a:r>
              <a:t>On 2000 test samples per dataset, every Z3 constraint prediction exactly matches the DT's prediction. This confirms the constraint extraction is lossless — the formal verification system faithfully represents the model's decision logic.</a:t>
            </a:r>
          </a:p>
          <a:p>
            <a:endParaRPr/>
          </a:p>
          <a:p>
            <a:r>
              <a:t>DYNAMIC THRESHOLD (0.625 - 0.685):</a:t>
            </a:r>
          </a:p>
          <a:p>
            <a:r>
              <a:t>Each dataset converges to its own optimal threshold, demonstrating true adaptivity:</a:t>
            </a:r>
          </a:p>
          <a:p>
            <a:r>
              <a:t>- CSE-CIC-2018: 0.625 (moderate, balanced for 15% attack rate)</a:t>
            </a:r>
          </a:p>
          <a:p>
            <a:r>
              <a:t>- UNSW-NB15: 0.65 (higher, optimized for 30% attack rate)</a:t>
            </a:r>
          </a:p>
          <a:p>
            <a:r>
              <a:t>- CIC-IDS2017: 0.685 (highest, stricter for 14 diverse attack types)</a:t>
            </a:r>
          </a:p>
          <a:p>
            <a:endParaRPr/>
          </a:p>
          <a:p>
            <a:r>
              <a:t>ADAPTIVE BUFFER (30 - 37 flows):</a:t>
            </a:r>
          </a:p>
          <a:p>
            <a:r>
              <a:t>Buffer sizes converge per-dataset attack characteristics:</a:t>
            </a:r>
          </a:p>
          <a:p>
            <a:r>
              <a:t>- CSE: 30 flows (lower volatility, stable traffic)</a:t>
            </a:r>
          </a:p>
          <a:p>
            <a:r>
              <a:t>- CIC2017: 32 flows (moderate)</a:t>
            </a:r>
          </a:p>
          <a:p>
            <a:r>
              <a:t>- UNSW: 37 flows (higher volatility from 30% attack rate)</a:t>
            </a:r>
          </a:p>
          <a:p>
            <a:endParaRPr/>
          </a:p>
          <a:p>
            <a:r>
              <a:t>STATISTICAL SIGNIFICANCE (p &lt; 0.05):</a:t>
            </a:r>
          </a:p>
          <a:p>
            <a:r>
              <a:t>Wilcoxon signed-rank tests confirm ASRRL significantly outperforms SVM, KNN, and MLP across all three datasets. Against Random Forest and XGBoost, the difference is not always significant — but ASRRL offers verifiability that these baselines fundamentally cannot provide.</a:t>
            </a:r>
          </a:p>
          <a:p>
            <a:endParaRPr/>
          </a:p>
          <a:p>
            <a:r>
              <a:t>SAFETY SHIELD ACTIVATIONS (&gt; 0):</a:t>
            </a:r>
          </a:p>
          <a:p>
            <a:r>
              <a:t>The Z3 safety shield activates during training, correcting unsafe RL agent proposals. This proves the shield is not just theoretical — it actively prevents constraint-violating classifications. No baseline offers this capability.</a:t>
            </a:r>
          </a:p>
          <a:p>
            <a:endParaRPr/>
          </a:p>
          <a:p>
            <a:r>
              <a:t>DBSCAN NOVEL PATTERNS (Detected):</a:t>
            </a:r>
          </a:p>
          <a:p>
            <a:r>
              <a:t>Novel attack clusters are discovered in all three datasets and converted to Z3 constraints, demonstrating the system's ability to adapt to previously unseen attack signatures. This is an ongoing capability — as new misclassifications accumulate, new patterns emerge.</a:t>
            </a:r>
          </a:p>
          <a:p>
            <a:endParaRPr/>
          </a:p>
          <a:p>
            <a:r>
              <a:t>BOTTOM LINE:</a:t>
            </a:r>
          </a:p>
          <a:p>
            <a:r>
              <a:t>ASRRL trades a small amount of raw F1 performance (&lt; 2% vs best baselines) for a 3.3x improvement in verifiability. In regulated environments (government, finance, healthcare) where IDS decisions must be explainable and auditable, this tradeoff is strongly favorable.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C71"/>
        </a:solidFill>
        <a:effectLst/>
      </p:bgPr>
    </p:bg>
    <p:spTree>
      <p:nvGrpSpPr>
        <p:cNvPr id="1" name=""/>
        <p:cNvGrpSpPr/>
        <p:nvPr/>
      </p:nvGrpSpPr>
      <p:grpSpPr>
        <a:xfrm>
          <a:off x="0" y="0"/>
          <a:ext cx="0" cy="0"/>
          <a:chOff x="0" y="0"/>
          <a:chExt cx="0" cy="0"/>
        </a:xfrm>
      </p:grpSpPr>
      <p:sp>
        <p:nvSpPr>
          <p:cNvPr id="2" name="TextBox 1"/>
          <p:cNvSpPr txBox="1"/>
          <p:nvPr/>
        </p:nvSpPr>
        <p:spPr>
          <a:xfrm>
            <a:off x="914400" y="1097280"/>
            <a:ext cx="10332720" cy="1371600"/>
          </a:xfrm>
          <a:prstGeom prst="rect">
            <a:avLst/>
          </a:prstGeom>
          <a:noFill/>
        </p:spPr>
        <p:txBody>
          <a:bodyPr wrap="square">
            <a:spAutoFit/>
          </a:bodyPr>
          <a:lstStyle/>
          <a:p>
            <a:pPr algn="ctr">
              <a:defRPr sz="3600" b="1">
                <a:solidFill>
                  <a:srgbClr val="FFFFFF"/>
                </a:solidFill>
                <a:latin typeface="Calibri"/>
              </a:defRPr>
            </a:pPr>
            <a:r>
              <a:t>ASRRL: Adaptive Symbolic Reasoning and</a:t>
            </a:r>
            <a:br/>
            <a:r>
              <a:t>Reinforcement Learning for Dynamic</a:t>
            </a:r>
            <a:br/>
            <a:r>
              <a:t>Network Traffic Classification</a:t>
            </a:r>
          </a:p>
        </p:txBody>
      </p:sp>
      <p:sp>
        <p:nvSpPr>
          <p:cNvPr id="3" name="TextBox 2"/>
          <p:cNvSpPr txBox="1"/>
          <p:nvPr/>
        </p:nvSpPr>
        <p:spPr>
          <a:xfrm>
            <a:off x="914400" y="3474720"/>
            <a:ext cx="10332720" cy="731520"/>
          </a:xfrm>
          <a:prstGeom prst="rect">
            <a:avLst/>
          </a:prstGeom>
          <a:noFill/>
        </p:spPr>
        <p:txBody>
          <a:bodyPr wrap="square">
            <a:spAutoFit/>
          </a:bodyPr>
          <a:lstStyle/>
          <a:p>
            <a:pPr algn="ctr">
              <a:defRPr sz="1800" b="0">
                <a:solidFill>
                  <a:srgbClr val="BDC3C7"/>
                </a:solidFill>
                <a:latin typeface="Calibri"/>
              </a:defRPr>
            </a:pPr>
            <a:r>
              <a:t>A Verifiable IDS Framework with Z3 Formal Verification,</a:t>
            </a:r>
            <a:br/>
            <a:r>
              <a:t>Q-Learning Safety Shielding, and DBSCAN Novel Pattern Detection</a:t>
            </a:r>
          </a:p>
        </p:txBody>
      </p:sp>
      <p:sp>
        <p:nvSpPr>
          <p:cNvPr id="4" name="TextBox 3"/>
          <p:cNvSpPr txBox="1"/>
          <p:nvPr/>
        </p:nvSpPr>
        <p:spPr>
          <a:xfrm>
            <a:off x="914400" y="5029200"/>
            <a:ext cx="10332720" cy="457200"/>
          </a:xfrm>
          <a:prstGeom prst="rect">
            <a:avLst/>
          </a:prstGeom>
          <a:noFill/>
        </p:spPr>
        <p:txBody>
          <a:bodyPr wrap="square">
            <a:spAutoFit/>
          </a:bodyPr>
          <a:lstStyle/>
          <a:p>
            <a:pPr algn="ctr">
              <a:defRPr sz="1600" b="0">
                <a:solidFill>
                  <a:srgbClr val="95A5A6"/>
                </a:solidFill>
                <a:latin typeface="Calibri"/>
              </a:defRPr>
            </a:pPr>
            <a:r>
              <a:t>3 Benchmark Datasets  |  8-Stage Pipeline  |  IEEE Format Algorithms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0972800" cy="548640"/>
          </a:xfrm>
          <a:prstGeom prst="rect">
            <a:avLst/>
          </a:prstGeom>
          <a:noFill/>
        </p:spPr>
        <p:txBody>
          <a:bodyPr wrap="square">
            <a:spAutoFit/>
          </a:bodyPr>
          <a:lstStyle/>
          <a:p>
            <a:pPr algn="ctr">
              <a:defRPr sz="2800" b="1">
                <a:solidFill>
                  <a:srgbClr val="003C71"/>
                </a:solidFill>
                <a:latin typeface="Calibri"/>
              </a:defRPr>
            </a:pPr>
            <a:r>
              <a:t>ASRRL Architecture — End-to-End Pipeline</a:t>
            </a:r>
          </a:p>
        </p:txBody>
      </p:sp>
      <p:sp>
        <p:nvSpPr>
          <p:cNvPr id="3" name="Rounded Rectangle 2"/>
          <p:cNvSpPr/>
          <p:nvPr/>
        </p:nvSpPr>
        <p:spPr>
          <a:xfrm>
            <a:off x="365760" y="1005840"/>
            <a:ext cx="1234440" cy="777240"/>
          </a:xfrm>
          <a:prstGeom prst="round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Calibri"/>
              </a:defRPr>
            </a:pPr>
            <a:r>
              <a:t>1. Data Ingestion</a:t>
            </a:r>
            <a:br/>
            <a:r>
              <a:t>&amp; Preprocessing</a:t>
            </a:r>
          </a:p>
        </p:txBody>
      </p:sp>
      <p:sp>
        <p:nvSpPr>
          <p:cNvPr id="4" name="Right Arrow 3"/>
          <p:cNvSpPr/>
          <p:nvPr/>
        </p:nvSpPr>
        <p:spPr>
          <a:xfrm>
            <a:off x="1618488" y="1234440"/>
            <a:ext cx="182880"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0" y="1005840"/>
            <a:ext cx="1234440" cy="77724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Calibri"/>
              </a:defRPr>
            </a:pPr>
            <a:r>
              <a:t>2. Decision Tree</a:t>
            </a:r>
            <a:br/>
            <a:r>
              <a:t>Symbolic Model</a:t>
            </a:r>
          </a:p>
        </p:txBody>
      </p:sp>
      <p:sp>
        <p:nvSpPr>
          <p:cNvPr id="6" name="Right Arrow 5"/>
          <p:cNvSpPr/>
          <p:nvPr/>
        </p:nvSpPr>
        <p:spPr>
          <a:xfrm>
            <a:off x="3081528" y="1234440"/>
            <a:ext cx="182880"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91840" y="1005840"/>
            <a:ext cx="1234440" cy="7772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Calibri"/>
              </a:defRPr>
            </a:pPr>
            <a:r>
              <a:t>3. Z3 Constraint</a:t>
            </a:r>
            <a:br/>
            <a:r>
              <a:t>Extraction</a:t>
            </a:r>
          </a:p>
        </p:txBody>
      </p:sp>
      <p:sp>
        <p:nvSpPr>
          <p:cNvPr id="8" name="Right Arrow 7"/>
          <p:cNvSpPr/>
          <p:nvPr/>
        </p:nvSpPr>
        <p:spPr>
          <a:xfrm>
            <a:off x="4544568" y="1234440"/>
            <a:ext cx="182880"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754880" y="1005840"/>
            <a:ext cx="1234440" cy="77724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Calibri"/>
              </a:defRPr>
            </a:pPr>
            <a:r>
              <a:t>4. Q-Learning RL</a:t>
            </a:r>
            <a:br/>
            <a:r>
              <a:t>Safety Shielding</a:t>
            </a:r>
          </a:p>
        </p:txBody>
      </p:sp>
      <p:sp>
        <p:nvSpPr>
          <p:cNvPr id="10" name="Right Arrow 9"/>
          <p:cNvSpPr/>
          <p:nvPr/>
        </p:nvSpPr>
        <p:spPr>
          <a:xfrm>
            <a:off x="6007608" y="1234440"/>
            <a:ext cx="182880"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17920" y="1005840"/>
            <a:ext cx="1234440" cy="77724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Calibri"/>
              </a:defRPr>
            </a:pPr>
            <a:r>
              <a:t>5. DBSCAN Novel</a:t>
            </a:r>
            <a:br/>
            <a:r>
              <a:t>Pattern Detection</a:t>
            </a:r>
          </a:p>
        </p:txBody>
      </p:sp>
      <p:sp>
        <p:nvSpPr>
          <p:cNvPr id="12" name="Right Arrow 11"/>
          <p:cNvSpPr/>
          <p:nvPr/>
        </p:nvSpPr>
        <p:spPr>
          <a:xfrm>
            <a:off x="7470648" y="1234440"/>
            <a:ext cx="182880"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680960" y="1005840"/>
            <a:ext cx="1234440" cy="77724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Calibri"/>
              </a:defRPr>
            </a:pPr>
            <a:r>
              <a:t>6. Adaptive Buffer</a:t>
            </a:r>
            <a:br/>
            <a:r>
              <a:t>Management</a:t>
            </a:r>
          </a:p>
        </p:txBody>
      </p:sp>
      <p:sp>
        <p:nvSpPr>
          <p:cNvPr id="14" name="Right Arrow 13"/>
          <p:cNvSpPr/>
          <p:nvPr/>
        </p:nvSpPr>
        <p:spPr>
          <a:xfrm>
            <a:off x="8933688" y="1234440"/>
            <a:ext cx="182880"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144000" y="1005840"/>
            <a:ext cx="1234440" cy="777240"/>
          </a:xfrm>
          <a:prstGeom prst="round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Calibri"/>
              </a:defRPr>
            </a:pPr>
            <a:r>
              <a:t>7. Dynamic Threshold</a:t>
            </a:r>
            <a:br/>
            <a:r>
              <a:t>Adaptation</a:t>
            </a:r>
          </a:p>
        </p:txBody>
      </p:sp>
      <p:sp>
        <p:nvSpPr>
          <p:cNvPr id="16" name="Right Arrow 15"/>
          <p:cNvSpPr/>
          <p:nvPr/>
        </p:nvSpPr>
        <p:spPr>
          <a:xfrm>
            <a:off x="10396728" y="1234440"/>
            <a:ext cx="182880" cy="320040"/>
          </a:xfrm>
          <a:prstGeom prst="rightArrow">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607040" y="1005840"/>
            <a:ext cx="1234440" cy="777240"/>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latin typeface="Calibri"/>
              </a:defRPr>
            </a:pPr>
            <a:r>
              <a:t>8. Final Classification</a:t>
            </a:r>
            <a:br/>
            <a:r>
              <a:t>Decision</a:t>
            </a:r>
          </a:p>
        </p:txBody>
      </p:sp>
      <p:sp>
        <p:nvSpPr>
          <p:cNvPr id="18" name="TextBox 17"/>
          <p:cNvSpPr txBox="1"/>
          <p:nvPr/>
        </p:nvSpPr>
        <p:spPr>
          <a:xfrm>
            <a:off x="274320" y="2011680"/>
            <a:ext cx="11430000" cy="365760"/>
          </a:xfrm>
          <a:prstGeom prst="rect">
            <a:avLst/>
          </a:prstGeom>
          <a:noFill/>
        </p:spPr>
        <p:txBody>
          <a:bodyPr wrap="square">
            <a:spAutoFit/>
          </a:bodyPr>
          <a:lstStyle/>
          <a:p>
            <a:pPr algn="ctr">
              <a:defRPr sz="1300" b="1">
                <a:solidFill>
                  <a:srgbClr val="003C71"/>
                </a:solidFill>
                <a:latin typeface="Calibri"/>
              </a:defRPr>
            </a:pPr>
            <a:r>
              <a:t>Three Primary Datasets: UNSW-NB15 (2.5M flows, 9 attacks)  |  CSE-CIC-IDS-2018 (16M flows, 7 attacks)  |  CIC-IDS2017 (3.1M flows, 14 attacks)</a:t>
            </a:r>
          </a:p>
        </p:txBody>
      </p:sp>
      <p:sp>
        <p:nvSpPr>
          <p:cNvPr id="19" name="TextBox 18"/>
          <p:cNvSpPr txBox="1"/>
          <p:nvPr/>
        </p:nvSpPr>
        <p:spPr>
          <a:xfrm>
            <a:off x="274320" y="2560320"/>
            <a:ext cx="11430000" cy="320040"/>
          </a:xfrm>
          <a:prstGeom prst="rect">
            <a:avLst/>
          </a:prstGeom>
          <a:noFill/>
        </p:spPr>
        <p:txBody>
          <a:bodyPr wrap="square">
            <a:spAutoFit/>
          </a:bodyPr>
          <a:lstStyle/>
          <a:p>
            <a:pPr algn="l">
              <a:defRPr sz="1500" b="1">
                <a:solidFill>
                  <a:srgbClr val="003C71"/>
                </a:solidFill>
                <a:latin typeface="Calibri"/>
              </a:defRPr>
            </a:pPr>
            <a:r>
              <a:t>Data Transformation Summary (per flow x_i):</a:t>
            </a:r>
          </a:p>
        </p:txBody>
      </p:sp>
      <p:sp>
        <p:nvSpPr>
          <p:cNvPr id="20" name="TextBox 19"/>
          <p:cNvSpPr txBox="1"/>
          <p:nvPr/>
        </p:nvSpPr>
        <p:spPr>
          <a:xfrm>
            <a:off x="365760" y="2926080"/>
            <a:ext cx="11430000" cy="3657600"/>
          </a:xfrm>
          <a:prstGeom prst="rect">
            <a:avLst/>
          </a:prstGeom>
          <a:noFill/>
        </p:spPr>
        <p:txBody>
          <a:bodyPr wrap="square">
            <a:spAutoFit/>
          </a:bodyPr>
          <a:lstStyle/>
          <a:p>
            <a:pPr>
              <a:spcAft>
                <a:spcPts val="200"/>
              </a:spcAft>
              <a:defRPr sz="1000" b="0">
                <a:solidFill>
                  <a:srgbClr val="000000"/>
                </a:solidFill>
                <a:latin typeface="Consolas"/>
              </a:defRPr>
            </a:pPr>
            <a:r>
              <a:t>Stage 1:  Raw columns (dur, rate, sbytes, ...)  →  x_i = [flow_duration, pkt_rate, byte_rate, entropy, port_cat, size_cat, protocol] ∈ R^7</a:t>
            </a:r>
          </a:p>
          <a:p>
            <a:pPr>
              <a:spcAft>
                <a:spcPts val="200"/>
              </a:spcAft>
              <a:defRPr sz="1000" b="0">
                <a:solidFill>
                  <a:srgbClr val="000000"/>
                </a:solidFill>
                <a:latin typeface="Consolas"/>
              </a:defRPr>
            </a:pPr>
            <a:r>
              <a:t>Stage 2:  X_norm ∈ R^(n×7) → DecisionTree(max_depth=6) →  leaf_id(x_i), P(attack|x_i), ŷ_DT(x_i) ∈ {0,1}</a:t>
            </a:r>
          </a:p>
          <a:p>
            <a:pPr>
              <a:spcAft>
                <a:spcPts val="200"/>
              </a:spcAft>
              <a:defRPr sz="1000" b="0">
                <a:solidFill>
                  <a:srgbClr val="000000"/>
                </a:solidFill>
                <a:latin typeface="Consolas"/>
              </a:defRPr>
            </a:pPr>
            <a:r>
              <a:t>Stage 3:  DT paths (root → leaf) → Z3 Implies(∧ (f_j op θ_j), action=class)  →  constraint set C = {φ_1,...,φ_L}</a:t>
            </a:r>
          </a:p>
          <a:p>
            <a:pPr>
              <a:spcAft>
                <a:spcPts val="200"/>
              </a:spcAft>
              <a:defRPr sz="1000" b="0">
                <a:solidFill>
                  <a:srgbClr val="000000"/>
                </a:solidFill>
                <a:latin typeface="Consolas"/>
              </a:defRPr>
            </a:pPr>
            <a:r>
              <a:t>Stage 4:  state s_i = leaf_id(x_i) → Q(s,a) → a_i* = argmax Q(s_i,a)  subject to Z3 verify(x_i, a_i*) = sat</a:t>
            </a:r>
          </a:p>
          <a:p>
            <a:pPr>
              <a:spcAft>
                <a:spcPts val="200"/>
              </a:spcAft>
              <a:defRPr sz="1000" b="0">
                <a:solidFill>
                  <a:srgbClr val="000000"/>
                </a:solidFill>
                <a:latin typeface="Consolas"/>
              </a:defRPr>
            </a:pPr>
            <a:r>
              <a:t>Stage 5:  misclassified {x_i : â_i ≠ a_i*} → DBSCAN(ε=1.5, minPts=5) → novel centroids → C' = C ∪ C_novel</a:t>
            </a:r>
          </a:p>
          <a:p>
            <a:pPr>
              <a:spcAft>
                <a:spcPts val="200"/>
              </a:spcAft>
              <a:defRPr sz="1000" b="0">
                <a:solidFill>
                  <a:srgbClr val="000000"/>
                </a:solidFill>
                <a:latin typeface="Consolas"/>
              </a:defRPr>
            </a:pPr>
            <a:r>
              <a:t>Stage 6:  σ_entropy, σ²_bytes of window W_t → |B_{t+1}| = clip(|B_t| ± Δ, 10, 200)</a:t>
            </a:r>
          </a:p>
          <a:p>
            <a:pPr>
              <a:spcAft>
                <a:spcPts val="200"/>
              </a:spcAft>
              <a:defRPr sz="1000" b="0">
                <a:solidFill>
                  <a:srgbClr val="000000"/>
                </a:solidFill>
                <a:latin typeface="Consolas"/>
              </a:defRPr>
            </a:pPr>
            <a:r>
              <a:t>Stage 7:  EMA(FPR_t, FNR_t) → τ_{t+1} = clip(τ_t ± 0.005, 0.40, 0.70)</a:t>
            </a:r>
          </a:p>
          <a:p>
            <a:pPr>
              <a:spcAft>
                <a:spcPts val="200"/>
              </a:spcAft>
              <a:defRPr sz="1000" b="0">
                <a:solidFill>
                  <a:srgbClr val="000000"/>
                </a:solidFill>
                <a:latin typeface="Consolas"/>
              </a:defRPr>
            </a:pPr>
            <a:r>
              <a:t>Stage 8:  p_i ≥ τ → ATTACK;  p_i ≤ 1-τ → BENIGN;  else → RL+Z3 shield → ŷ_i ∈ {0,1}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74320" y="137160"/>
            <a:ext cx="11430000" cy="457200"/>
          </a:xfrm>
          <a:prstGeom prst="rect">
            <a:avLst/>
          </a:prstGeom>
          <a:noFill/>
        </p:spPr>
        <p:txBody>
          <a:bodyPr wrap="square">
            <a:spAutoFit/>
          </a:bodyPr>
          <a:lstStyle/>
          <a:p>
            <a:pPr algn="ctr">
              <a:defRPr sz="2600" b="1">
                <a:solidFill>
                  <a:srgbClr val="003C71"/>
                </a:solidFill>
                <a:latin typeface="Calibri"/>
              </a:defRPr>
            </a:pPr>
            <a:r>
              <a:t>Three Benchmark Datasets — Raw Features &amp; Standardized Extraction</a:t>
            </a:r>
          </a:p>
        </p:txBody>
      </p:sp>
      <p:sp>
        <p:nvSpPr>
          <p:cNvPr id="3" name="Rounded Rectangle 2"/>
          <p:cNvSpPr/>
          <p:nvPr/>
        </p:nvSpPr>
        <p:spPr>
          <a:xfrm>
            <a:off x="182880" y="731520"/>
            <a:ext cx="3840480" cy="411480"/>
          </a:xfrm>
          <a:prstGeom prst="round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Calibri"/>
              </a:defRPr>
            </a:pPr>
            <a:r>
              <a:t>UNSW-NB15  (2015, UNSW Canberra)</a:t>
            </a:r>
          </a:p>
        </p:txBody>
      </p:sp>
      <p:sp>
        <p:nvSpPr>
          <p:cNvPr id="4" name="TextBox 3"/>
          <p:cNvSpPr txBox="1"/>
          <p:nvPr/>
        </p:nvSpPr>
        <p:spPr>
          <a:xfrm>
            <a:off x="182880" y="1188720"/>
            <a:ext cx="3840480" cy="5029200"/>
          </a:xfrm>
          <a:prstGeom prst="rect">
            <a:avLst/>
          </a:prstGeom>
          <a:noFill/>
        </p:spPr>
        <p:txBody>
          <a:bodyPr wrap="square">
            <a:spAutoFit/>
          </a:bodyPr>
          <a:lstStyle/>
          <a:p>
            <a:pPr>
              <a:spcAft>
                <a:spcPts val="200"/>
              </a:spcAft>
              <a:defRPr sz="1100" b="1">
                <a:solidFill>
                  <a:srgbClr val="000000"/>
                </a:solidFill>
                <a:latin typeface="Consolas"/>
              </a:defRPr>
            </a:pPr>
            <a:r>
              <a:t>Raw Columns (49 features):</a:t>
            </a:r>
          </a:p>
          <a:p>
            <a:pPr>
              <a:spcAft>
                <a:spcPts val="200"/>
              </a:spcAft>
              <a:defRPr sz="1000" b="0">
                <a:solidFill>
                  <a:srgbClr val="7F8C8D"/>
                </a:solidFill>
                <a:latin typeface="Consolas"/>
              </a:defRPr>
            </a:pPr>
            <a:r>
              <a:t>  dur, rate, sbytes, dbytes, spkts, dpkts,</a:t>
            </a:r>
          </a:p>
          <a:p>
            <a:pPr>
              <a:spcAft>
                <a:spcPts val="200"/>
              </a:spcAft>
              <a:defRPr sz="1000" b="0">
                <a:solidFill>
                  <a:srgbClr val="7F8C8D"/>
                </a:solidFill>
                <a:latin typeface="Consolas"/>
              </a:defRPr>
            </a:pPr>
            <a:r>
              <a:t>  ct_srv_src, sttl, sjit, dsport, proto, ...</a:t>
            </a:r>
          </a:p>
          <a:p>
            <a:pPr>
              <a:spcAft>
                <a:spcPts val="200"/>
              </a:spcAft>
              <a:defRPr sz="400" b="0">
                <a:solidFill>
                  <a:srgbClr val="000000"/>
                </a:solidFill>
                <a:latin typeface="Consolas"/>
              </a:defRPr>
            </a:pPr>
            <a:endParaRPr/>
          </a:p>
          <a:p>
            <a:pPr>
              <a:spcAft>
                <a:spcPts val="200"/>
              </a:spcAft>
              <a:defRPr sz="1100" b="1">
                <a:solidFill>
                  <a:srgbClr val="003C71"/>
                </a:solidFill>
                <a:latin typeface="Consolas"/>
              </a:defRPr>
            </a:pPr>
            <a:r>
              <a:t>Feature Extraction:</a:t>
            </a:r>
          </a:p>
          <a:p>
            <a:pPr>
              <a:spcAft>
                <a:spcPts val="200"/>
              </a:spcAft>
              <a:defRPr sz="1000" b="0">
                <a:solidFill>
                  <a:srgbClr val="000000"/>
                </a:solidFill>
                <a:latin typeface="Consolas"/>
              </a:defRPr>
            </a:pPr>
            <a:r>
              <a:t>  flow_duration = dur × 1000  (sec → ms)</a:t>
            </a:r>
          </a:p>
          <a:p>
            <a:pPr>
              <a:spcAft>
                <a:spcPts val="200"/>
              </a:spcAft>
              <a:defRPr sz="1000" b="0">
                <a:solidFill>
                  <a:srgbClr val="000000"/>
                </a:solidFill>
                <a:latin typeface="Consolas"/>
              </a:defRPr>
            </a:pPr>
            <a:r>
              <a:t>  pkt_rate      = rate  (or (spkts+dpkts)/dur)</a:t>
            </a:r>
          </a:p>
          <a:p>
            <a:pPr>
              <a:spcAft>
                <a:spcPts val="200"/>
              </a:spcAft>
              <a:defRPr sz="1000" b="0">
                <a:solidFill>
                  <a:srgbClr val="000000"/>
                </a:solidFill>
                <a:latin typeface="Consolas"/>
              </a:defRPr>
            </a:pPr>
            <a:r>
              <a:t>  byte_rate     = sbytes + dbytes</a:t>
            </a:r>
          </a:p>
          <a:p>
            <a:pPr>
              <a:spcAft>
                <a:spcPts val="200"/>
              </a:spcAft>
              <a:defRPr sz="1000" b="0">
                <a:solidFill>
                  <a:srgbClr val="000000"/>
                </a:solidFill>
                <a:latin typeface="Consolas"/>
              </a:defRPr>
            </a:pPr>
            <a:r>
              <a:t>  entropy       = normalize(ct_srv_src, [0,1])</a:t>
            </a:r>
          </a:p>
          <a:p>
            <a:pPr>
              <a:spcAft>
                <a:spcPts val="200"/>
              </a:spcAft>
              <a:defRPr sz="1000" b="0">
                <a:solidFill>
                  <a:srgbClr val="000000"/>
                </a:solidFill>
                <a:latin typeface="Consolas"/>
              </a:defRPr>
            </a:pPr>
            <a:r>
              <a:t>  port_cat      = bin(dsport, [80,443,1K,5K,10K,65K])</a:t>
            </a:r>
          </a:p>
          <a:p>
            <a:pPr>
              <a:spcAft>
                <a:spcPts val="200"/>
              </a:spcAft>
              <a:defRPr sz="1000" b="0">
                <a:solidFill>
                  <a:srgbClr val="000000"/>
                </a:solidFill>
                <a:latin typeface="Consolas"/>
              </a:defRPr>
            </a:pPr>
            <a:r>
              <a:t>  size_cat      = bin(byte_rate, [100,1K,10K,∞])</a:t>
            </a:r>
          </a:p>
          <a:p>
            <a:pPr>
              <a:spcAft>
                <a:spcPts val="200"/>
              </a:spcAft>
              <a:defRPr sz="1000" b="0">
                <a:solidFill>
                  <a:srgbClr val="000000"/>
                </a:solidFill>
                <a:latin typeface="Consolas"/>
              </a:defRPr>
            </a:pPr>
            <a:r>
              <a:t>  protocol      = {tcp:0, udp:1, icmp:2}</a:t>
            </a:r>
          </a:p>
          <a:p>
            <a:pPr>
              <a:spcAft>
                <a:spcPts val="200"/>
              </a:spcAft>
              <a:defRPr sz="1000" b="0">
                <a:solidFill>
                  <a:srgbClr val="000000"/>
                </a:solidFill>
                <a:latin typeface="Consolas"/>
              </a:defRPr>
            </a:pPr>
            <a:r>
              <a:t>  label         = label column (0/1)</a:t>
            </a:r>
          </a:p>
          <a:p>
            <a:pPr>
              <a:spcAft>
                <a:spcPts val="200"/>
              </a:spcAft>
              <a:defRPr sz="400" b="0">
                <a:solidFill>
                  <a:srgbClr val="000000"/>
                </a:solidFill>
                <a:latin typeface="Consolas"/>
              </a:defRPr>
            </a:pPr>
            <a:endParaRPr/>
          </a:p>
          <a:p>
            <a:pPr>
              <a:spcAft>
                <a:spcPts val="200"/>
              </a:spcAft>
              <a:defRPr sz="1000" b="0">
                <a:solidFill>
                  <a:srgbClr val="C0392B"/>
                </a:solidFill>
                <a:latin typeface="Consolas"/>
              </a:defRPr>
            </a:pPr>
            <a:r>
              <a:t>Attack Types (9): Generic, Exploits, Fuzzers,</a:t>
            </a:r>
          </a:p>
          <a:p>
            <a:pPr>
              <a:spcAft>
                <a:spcPts val="200"/>
              </a:spcAft>
              <a:defRPr sz="1000" b="0">
                <a:solidFill>
                  <a:srgbClr val="C0392B"/>
                </a:solidFill>
                <a:latin typeface="Consolas"/>
              </a:defRPr>
            </a:pPr>
            <a:r>
              <a:t>  DoS, Recon, Analysis, Backdoor, Shellcode, Worms</a:t>
            </a:r>
          </a:p>
          <a:p>
            <a:pPr>
              <a:spcAft>
                <a:spcPts val="200"/>
              </a:spcAft>
              <a:defRPr sz="1000" b="1">
                <a:solidFill>
                  <a:srgbClr val="C0392B"/>
                </a:solidFill>
                <a:latin typeface="Consolas"/>
              </a:defRPr>
            </a:pPr>
            <a:r>
              <a:t>Attack Ratio: ~30%</a:t>
            </a:r>
          </a:p>
        </p:txBody>
      </p:sp>
      <p:sp>
        <p:nvSpPr>
          <p:cNvPr id="5" name="Rounded Rectangle 4"/>
          <p:cNvSpPr/>
          <p:nvPr/>
        </p:nvSpPr>
        <p:spPr>
          <a:xfrm>
            <a:off x="4206240" y="731520"/>
            <a:ext cx="3840480" cy="411480"/>
          </a:xfrm>
          <a:prstGeom prst="round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Calibri"/>
              </a:defRPr>
            </a:pPr>
            <a:r>
              <a:t>CSE-CIC-IDS-2018  (2018, CIC/UNB)</a:t>
            </a:r>
          </a:p>
        </p:txBody>
      </p:sp>
      <p:sp>
        <p:nvSpPr>
          <p:cNvPr id="6" name="TextBox 5"/>
          <p:cNvSpPr txBox="1"/>
          <p:nvPr/>
        </p:nvSpPr>
        <p:spPr>
          <a:xfrm>
            <a:off x="4206240" y="1188720"/>
            <a:ext cx="3840480" cy="5029200"/>
          </a:xfrm>
          <a:prstGeom prst="rect">
            <a:avLst/>
          </a:prstGeom>
          <a:noFill/>
        </p:spPr>
        <p:txBody>
          <a:bodyPr wrap="square">
            <a:spAutoFit/>
          </a:bodyPr>
          <a:lstStyle/>
          <a:p>
            <a:pPr>
              <a:spcAft>
                <a:spcPts val="200"/>
              </a:spcAft>
              <a:defRPr sz="1100" b="1">
                <a:solidFill>
                  <a:srgbClr val="000000"/>
                </a:solidFill>
                <a:latin typeface="Consolas"/>
              </a:defRPr>
            </a:pPr>
            <a:r>
              <a:t>Raw Columns (80+ CICFlowMeter features):</a:t>
            </a:r>
          </a:p>
          <a:p>
            <a:pPr>
              <a:spcAft>
                <a:spcPts val="200"/>
              </a:spcAft>
              <a:defRPr sz="1000" b="0">
                <a:solidFill>
                  <a:srgbClr val="7F8C8D"/>
                </a:solidFill>
                <a:latin typeface="Consolas"/>
              </a:defRPr>
            </a:pPr>
            <a:r>
              <a:t>  Flow Duration, Flow Packets/s,</a:t>
            </a:r>
          </a:p>
          <a:p>
            <a:pPr>
              <a:spcAft>
                <a:spcPts val="200"/>
              </a:spcAft>
              <a:defRPr sz="1000" b="0">
                <a:solidFill>
                  <a:srgbClr val="7F8C8D"/>
                </a:solidFill>
                <a:latin typeface="Consolas"/>
              </a:defRPr>
            </a:pPr>
            <a:r>
              <a:t>  Flow Bytes/s, Fwd IAT Std,</a:t>
            </a:r>
          </a:p>
          <a:p>
            <a:pPr>
              <a:spcAft>
                <a:spcPts val="200"/>
              </a:spcAft>
              <a:defRPr sz="1000" b="0">
                <a:solidFill>
                  <a:srgbClr val="7F8C8D"/>
                </a:solidFill>
                <a:latin typeface="Consolas"/>
              </a:defRPr>
            </a:pPr>
            <a:r>
              <a:t>  Dst Port, Protocol, Label, ...</a:t>
            </a:r>
          </a:p>
          <a:p>
            <a:pPr>
              <a:spcAft>
                <a:spcPts val="200"/>
              </a:spcAft>
              <a:defRPr sz="400" b="0">
                <a:solidFill>
                  <a:srgbClr val="000000"/>
                </a:solidFill>
                <a:latin typeface="Consolas"/>
              </a:defRPr>
            </a:pPr>
            <a:endParaRPr/>
          </a:p>
          <a:p>
            <a:pPr>
              <a:spcAft>
                <a:spcPts val="200"/>
              </a:spcAft>
              <a:defRPr sz="1100" b="1">
                <a:solidFill>
                  <a:srgbClr val="003C71"/>
                </a:solidFill>
                <a:latin typeface="Consolas"/>
              </a:defRPr>
            </a:pPr>
            <a:r>
              <a:t>Feature Extraction:</a:t>
            </a:r>
          </a:p>
          <a:p>
            <a:pPr>
              <a:spcAft>
                <a:spcPts val="200"/>
              </a:spcAft>
              <a:defRPr sz="1000" b="0">
                <a:solidFill>
                  <a:srgbClr val="000000"/>
                </a:solidFill>
                <a:latin typeface="Consolas"/>
              </a:defRPr>
            </a:pPr>
            <a:r>
              <a:t>  flow_duration = Flow Duration / 1000  (μs → ms)</a:t>
            </a:r>
          </a:p>
          <a:p>
            <a:pPr>
              <a:spcAft>
                <a:spcPts val="200"/>
              </a:spcAft>
              <a:defRPr sz="1000" b="0">
                <a:solidFill>
                  <a:srgbClr val="000000"/>
                </a:solidFill>
                <a:latin typeface="Consolas"/>
              </a:defRPr>
            </a:pPr>
            <a:r>
              <a:t>  pkt_rate      = Flow Packets/s</a:t>
            </a:r>
          </a:p>
          <a:p>
            <a:pPr>
              <a:spcAft>
                <a:spcPts val="200"/>
              </a:spcAft>
              <a:defRPr sz="1000" b="0">
                <a:solidFill>
                  <a:srgbClr val="000000"/>
                </a:solidFill>
                <a:latin typeface="Consolas"/>
              </a:defRPr>
            </a:pPr>
            <a:r>
              <a:t>  byte_rate     = Flow Bytes/s</a:t>
            </a:r>
          </a:p>
          <a:p>
            <a:pPr>
              <a:spcAft>
                <a:spcPts val="200"/>
              </a:spcAft>
              <a:defRPr sz="1000" b="0">
                <a:solidFill>
                  <a:srgbClr val="000000"/>
                </a:solidFill>
                <a:latin typeface="Consolas"/>
              </a:defRPr>
            </a:pPr>
            <a:r>
              <a:t>  entropy       = quantile_norm(Fwd IAT Std)</a:t>
            </a:r>
          </a:p>
          <a:p>
            <a:pPr>
              <a:spcAft>
                <a:spcPts val="200"/>
              </a:spcAft>
              <a:defRPr sz="1000" b="0">
                <a:solidFill>
                  <a:srgbClr val="000000"/>
                </a:solidFill>
                <a:latin typeface="Consolas"/>
              </a:defRPr>
            </a:pPr>
            <a:r>
              <a:t>  port_cat      = bin(Dst Port, [80,443,1K,5K,10K,65K])</a:t>
            </a:r>
          </a:p>
          <a:p>
            <a:pPr>
              <a:spcAft>
                <a:spcPts val="200"/>
              </a:spcAft>
              <a:defRPr sz="1000" b="0">
                <a:solidFill>
                  <a:srgbClr val="000000"/>
                </a:solidFill>
                <a:latin typeface="Consolas"/>
              </a:defRPr>
            </a:pPr>
            <a:r>
              <a:t>  size_cat      = bin(bytes×dur, [100,1K,10K,∞])</a:t>
            </a:r>
          </a:p>
          <a:p>
            <a:pPr>
              <a:spcAft>
                <a:spcPts val="200"/>
              </a:spcAft>
              <a:defRPr sz="1000" b="0">
                <a:solidFill>
                  <a:srgbClr val="000000"/>
                </a:solidFill>
                <a:latin typeface="Consolas"/>
              </a:defRPr>
            </a:pPr>
            <a:r>
              <a:t>  protocol      = {6→TCP:0, 17→UDP:1, 1→ICMP:2}</a:t>
            </a:r>
          </a:p>
          <a:p>
            <a:pPr>
              <a:spcAft>
                <a:spcPts val="200"/>
              </a:spcAft>
              <a:defRPr sz="1000" b="0">
                <a:solidFill>
                  <a:srgbClr val="000000"/>
                </a:solidFill>
                <a:latin typeface="Consolas"/>
              </a:defRPr>
            </a:pPr>
            <a:r>
              <a:t>  label         = BENIGN→0, else→1</a:t>
            </a:r>
          </a:p>
          <a:p>
            <a:pPr>
              <a:spcAft>
                <a:spcPts val="200"/>
              </a:spcAft>
              <a:defRPr sz="400" b="0">
                <a:solidFill>
                  <a:srgbClr val="000000"/>
                </a:solidFill>
                <a:latin typeface="Consolas"/>
              </a:defRPr>
            </a:pPr>
            <a:endParaRPr/>
          </a:p>
          <a:p>
            <a:pPr>
              <a:spcAft>
                <a:spcPts val="200"/>
              </a:spcAft>
              <a:defRPr sz="1000" b="0">
                <a:solidFill>
                  <a:srgbClr val="C0392B"/>
                </a:solidFill>
                <a:latin typeface="Consolas"/>
              </a:defRPr>
            </a:pPr>
            <a:r>
              <a:t>Attack Types (7): DoS, DDoS, BruteForce,</a:t>
            </a:r>
          </a:p>
          <a:p>
            <a:pPr>
              <a:spcAft>
                <a:spcPts val="200"/>
              </a:spcAft>
              <a:defRPr sz="1000" b="0">
                <a:solidFill>
                  <a:srgbClr val="C0392B"/>
                </a:solidFill>
                <a:latin typeface="Consolas"/>
              </a:defRPr>
            </a:pPr>
            <a:r>
              <a:t>  Infiltration, BotNet, WebAttack, SQL Injection</a:t>
            </a:r>
          </a:p>
          <a:p>
            <a:pPr>
              <a:spcAft>
                <a:spcPts val="200"/>
              </a:spcAft>
              <a:defRPr sz="1000" b="1">
                <a:solidFill>
                  <a:srgbClr val="C0392B"/>
                </a:solidFill>
                <a:latin typeface="Consolas"/>
              </a:defRPr>
            </a:pPr>
            <a:r>
              <a:t>Attack Ratio: ~15%</a:t>
            </a:r>
          </a:p>
        </p:txBody>
      </p:sp>
      <p:sp>
        <p:nvSpPr>
          <p:cNvPr id="7" name="Rounded Rectangle 6"/>
          <p:cNvSpPr/>
          <p:nvPr/>
        </p:nvSpPr>
        <p:spPr>
          <a:xfrm>
            <a:off x="8229600" y="731520"/>
            <a:ext cx="3840480" cy="411480"/>
          </a:xfrm>
          <a:prstGeom prst="round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Calibri"/>
              </a:defRPr>
            </a:pPr>
            <a:r>
              <a:t>CIC-IDS2017  (2017, CIC/UNB)</a:t>
            </a:r>
          </a:p>
        </p:txBody>
      </p:sp>
      <p:sp>
        <p:nvSpPr>
          <p:cNvPr id="8" name="TextBox 7"/>
          <p:cNvSpPr txBox="1"/>
          <p:nvPr/>
        </p:nvSpPr>
        <p:spPr>
          <a:xfrm>
            <a:off x="8229600" y="1188720"/>
            <a:ext cx="3840480" cy="5029200"/>
          </a:xfrm>
          <a:prstGeom prst="rect">
            <a:avLst/>
          </a:prstGeom>
          <a:noFill/>
        </p:spPr>
        <p:txBody>
          <a:bodyPr wrap="square">
            <a:spAutoFit/>
          </a:bodyPr>
          <a:lstStyle/>
          <a:p>
            <a:pPr>
              <a:spcAft>
                <a:spcPts val="200"/>
              </a:spcAft>
              <a:defRPr sz="1100" b="1">
                <a:solidFill>
                  <a:srgbClr val="000000"/>
                </a:solidFill>
                <a:latin typeface="Consolas"/>
              </a:defRPr>
            </a:pPr>
            <a:r>
              <a:t>Raw Columns (80+ CICFlowMeter features):</a:t>
            </a:r>
          </a:p>
          <a:p>
            <a:pPr>
              <a:spcAft>
                <a:spcPts val="200"/>
              </a:spcAft>
              <a:defRPr sz="1000" b="0">
                <a:solidFill>
                  <a:srgbClr val="7F8C8D"/>
                </a:solidFill>
                <a:latin typeface="Consolas"/>
              </a:defRPr>
            </a:pPr>
            <a:r>
              <a:t>  Flow Duration, Flow Pkts/s,</a:t>
            </a:r>
          </a:p>
          <a:p>
            <a:pPr>
              <a:spcAft>
                <a:spcPts val="200"/>
              </a:spcAft>
              <a:defRPr sz="1000" b="0">
                <a:solidFill>
                  <a:srgbClr val="7F8C8D"/>
                </a:solidFill>
                <a:latin typeface="Consolas"/>
              </a:defRPr>
            </a:pPr>
            <a:r>
              <a:t>  Flow Byts/s, Flow IAT Std,</a:t>
            </a:r>
          </a:p>
          <a:p>
            <a:pPr>
              <a:spcAft>
                <a:spcPts val="200"/>
              </a:spcAft>
              <a:defRPr sz="1000" b="0">
                <a:solidFill>
                  <a:srgbClr val="7F8C8D"/>
                </a:solidFill>
                <a:latin typeface="Consolas"/>
              </a:defRPr>
            </a:pPr>
            <a:r>
              <a:t>  Destination Port, Protocol, Label, ...</a:t>
            </a:r>
          </a:p>
          <a:p>
            <a:pPr>
              <a:spcAft>
                <a:spcPts val="200"/>
              </a:spcAft>
              <a:defRPr sz="400" b="0">
                <a:solidFill>
                  <a:srgbClr val="000000"/>
                </a:solidFill>
                <a:latin typeface="Consolas"/>
              </a:defRPr>
            </a:pPr>
            <a:endParaRPr/>
          </a:p>
          <a:p>
            <a:pPr>
              <a:spcAft>
                <a:spcPts val="200"/>
              </a:spcAft>
              <a:defRPr sz="1100" b="1">
                <a:solidFill>
                  <a:srgbClr val="003C71"/>
                </a:solidFill>
                <a:latin typeface="Consolas"/>
              </a:defRPr>
            </a:pPr>
            <a:r>
              <a:t>Feature Extraction (same as CSE-CIC):</a:t>
            </a:r>
          </a:p>
          <a:p>
            <a:pPr>
              <a:spcAft>
                <a:spcPts val="200"/>
              </a:spcAft>
              <a:defRPr sz="1000" b="0">
                <a:solidFill>
                  <a:srgbClr val="000000"/>
                </a:solidFill>
                <a:latin typeface="Consolas"/>
              </a:defRPr>
            </a:pPr>
            <a:r>
              <a:t>  flow_duration = Flow Duration / 1000  (μs → ms)</a:t>
            </a:r>
          </a:p>
          <a:p>
            <a:pPr>
              <a:spcAft>
                <a:spcPts val="200"/>
              </a:spcAft>
              <a:defRPr sz="1000" b="0">
                <a:solidFill>
                  <a:srgbClr val="000000"/>
                </a:solidFill>
                <a:latin typeface="Consolas"/>
              </a:defRPr>
            </a:pPr>
            <a:r>
              <a:t>  pkt_rate      = Flow Packets/s</a:t>
            </a:r>
          </a:p>
          <a:p>
            <a:pPr>
              <a:spcAft>
                <a:spcPts val="200"/>
              </a:spcAft>
              <a:defRPr sz="1000" b="0">
                <a:solidFill>
                  <a:srgbClr val="000000"/>
                </a:solidFill>
                <a:latin typeface="Consolas"/>
              </a:defRPr>
            </a:pPr>
            <a:r>
              <a:t>  byte_rate     = Flow Bytes/s</a:t>
            </a:r>
          </a:p>
          <a:p>
            <a:pPr>
              <a:spcAft>
                <a:spcPts val="200"/>
              </a:spcAft>
              <a:defRPr sz="1000" b="0">
                <a:solidFill>
                  <a:srgbClr val="000000"/>
                </a:solidFill>
                <a:latin typeface="Consolas"/>
              </a:defRPr>
            </a:pPr>
            <a:r>
              <a:t>  entropy       = quantile_norm(Fwd IAT Std)</a:t>
            </a:r>
          </a:p>
          <a:p>
            <a:pPr>
              <a:spcAft>
                <a:spcPts val="200"/>
              </a:spcAft>
              <a:defRPr sz="1000" b="0">
                <a:solidFill>
                  <a:srgbClr val="000000"/>
                </a:solidFill>
                <a:latin typeface="Consolas"/>
              </a:defRPr>
            </a:pPr>
            <a:r>
              <a:t>  port_cat      = bin(Dst Port, [80,443,1K,5K,10K,65K])</a:t>
            </a:r>
          </a:p>
          <a:p>
            <a:pPr>
              <a:spcAft>
                <a:spcPts val="200"/>
              </a:spcAft>
              <a:defRPr sz="1000" b="0">
                <a:solidFill>
                  <a:srgbClr val="000000"/>
                </a:solidFill>
                <a:latin typeface="Consolas"/>
              </a:defRPr>
            </a:pPr>
            <a:r>
              <a:t>  size_cat      = bin(bytes×dur, [100,1K,10K,∞])</a:t>
            </a:r>
          </a:p>
          <a:p>
            <a:pPr>
              <a:spcAft>
                <a:spcPts val="200"/>
              </a:spcAft>
              <a:defRPr sz="1000" b="0">
                <a:solidFill>
                  <a:srgbClr val="000000"/>
                </a:solidFill>
                <a:latin typeface="Consolas"/>
              </a:defRPr>
            </a:pPr>
            <a:r>
              <a:t>  protocol      = {6→TCP:0, 17→UDP:1, 1→ICMP:2}</a:t>
            </a:r>
          </a:p>
          <a:p>
            <a:pPr>
              <a:spcAft>
                <a:spcPts val="200"/>
              </a:spcAft>
              <a:defRPr sz="1000" b="0">
                <a:solidFill>
                  <a:srgbClr val="000000"/>
                </a:solidFill>
                <a:latin typeface="Consolas"/>
              </a:defRPr>
            </a:pPr>
            <a:r>
              <a:t>  label         = BENIGN→0, else→1</a:t>
            </a:r>
          </a:p>
          <a:p>
            <a:pPr>
              <a:spcAft>
                <a:spcPts val="200"/>
              </a:spcAft>
              <a:defRPr sz="400" b="0">
                <a:solidFill>
                  <a:srgbClr val="000000"/>
                </a:solidFill>
                <a:latin typeface="Consolas"/>
              </a:defRPr>
            </a:pPr>
            <a:endParaRPr/>
          </a:p>
          <a:p>
            <a:pPr>
              <a:spcAft>
                <a:spcPts val="200"/>
              </a:spcAft>
              <a:defRPr sz="1000" b="0">
                <a:solidFill>
                  <a:srgbClr val="C0392B"/>
                </a:solidFill>
                <a:latin typeface="Consolas"/>
              </a:defRPr>
            </a:pPr>
            <a:r>
              <a:t>Attack Types (14): DoS, PortScan, DDoS,</a:t>
            </a:r>
          </a:p>
          <a:p>
            <a:pPr>
              <a:spcAft>
                <a:spcPts val="200"/>
              </a:spcAft>
              <a:defRPr sz="1000" b="0">
                <a:solidFill>
                  <a:srgbClr val="C0392B"/>
                </a:solidFill>
                <a:latin typeface="Consolas"/>
              </a:defRPr>
            </a:pPr>
            <a:r>
              <a:t>  BruteForce, WebAttack, Infiltration,</a:t>
            </a:r>
          </a:p>
          <a:p>
            <a:pPr>
              <a:spcAft>
                <a:spcPts val="200"/>
              </a:spcAft>
              <a:defRPr sz="1000" b="0">
                <a:solidFill>
                  <a:srgbClr val="C0392B"/>
                </a:solidFill>
                <a:latin typeface="Consolas"/>
              </a:defRPr>
            </a:pPr>
            <a:r>
              <a:t>  Heartbleed, Botnet, SSH-Patator, ...</a:t>
            </a:r>
          </a:p>
          <a:p>
            <a:pPr>
              <a:spcAft>
                <a:spcPts val="200"/>
              </a:spcAft>
              <a:defRPr sz="1000" b="1">
                <a:solidFill>
                  <a:srgbClr val="C0392B"/>
                </a:solidFill>
                <a:latin typeface="Consolas"/>
              </a:defRPr>
            </a:pPr>
            <a:r>
              <a:t>Attack Ratio: ~20%</a:t>
            </a:r>
          </a:p>
        </p:txBody>
      </p:sp>
      <p:sp>
        <p:nvSpPr>
          <p:cNvPr id="9" name="TextBox 8"/>
          <p:cNvSpPr txBox="1"/>
          <p:nvPr/>
        </p:nvSpPr>
        <p:spPr>
          <a:xfrm>
            <a:off x="274320" y="6126480"/>
            <a:ext cx="11430000" cy="457200"/>
          </a:xfrm>
          <a:prstGeom prst="rect">
            <a:avLst/>
          </a:prstGeom>
          <a:noFill/>
        </p:spPr>
        <p:txBody>
          <a:bodyPr wrap="square">
            <a:spAutoFit/>
          </a:bodyPr>
          <a:lstStyle/>
          <a:p>
            <a:pPr algn="ctr">
              <a:defRPr sz="1300" b="1">
                <a:solidFill>
                  <a:srgbClr val="2980B9"/>
                </a:solidFill>
                <a:latin typeface="Calibri"/>
              </a:defRPr>
            </a:pPr>
            <a:r>
              <a:t>All 3 datasets → Standardized schema:  x_i = [flow_duration, pkt_rate, byte_rate, entropy, port_cat, size_cat, protocol],  y_i ∈ {0,1}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4572000" cy="457200"/>
          </a:xfrm>
          <a:prstGeom prst="roundRect">
            <a:avLst/>
          </a:prstGeom>
          <a:solidFill>
            <a:srgbClr val="003C7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Stage 1: Data Ingestion &amp; StandardScaler Normalization</a:t>
            </a:r>
          </a:p>
        </p:txBody>
      </p:sp>
      <p:sp>
        <p:nvSpPr>
          <p:cNvPr id="3" name="TextBox 2"/>
          <p:cNvSpPr txBox="1"/>
          <p:nvPr/>
        </p:nvSpPr>
        <p:spPr>
          <a:xfrm>
            <a:off x="274320" y="731520"/>
            <a:ext cx="5943600" cy="1828800"/>
          </a:xfrm>
          <a:prstGeom prst="rect">
            <a:avLst/>
          </a:prstGeom>
          <a:noFill/>
        </p:spPr>
        <p:txBody>
          <a:bodyPr wrap="square">
            <a:spAutoFit/>
          </a:bodyPr>
          <a:lstStyle/>
          <a:p>
            <a:pPr>
              <a:spcAft>
                <a:spcPts val="200"/>
              </a:spcAft>
              <a:defRPr sz="1300" b="1">
                <a:solidFill>
                  <a:srgbClr val="003C71"/>
                </a:solidFill>
                <a:latin typeface="Calibri"/>
              </a:defRPr>
            </a:pPr>
            <a:r>
              <a:t>Algorithm 1: Feature Extraction &amp; Z-Score Normalization</a:t>
            </a:r>
          </a:p>
          <a:p>
            <a:pPr>
              <a:spcAft>
                <a:spcPts val="200"/>
              </a:spcAft>
              <a:defRPr sz="400" b="0">
                <a:solidFill>
                  <a:srgbClr val="000000"/>
                </a:solidFill>
                <a:latin typeface="Calibri"/>
              </a:defRPr>
            </a:pPr>
            <a:endParaRPr/>
          </a:p>
          <a:p>
            <a:pPr>
              <a:spcAft>
                <a:spcPts val="200"/>
              </a:spcAft>
              <a:defRPr sz="1100" b="1">
                <a:solidFill>
                  <a:srgbClr val="000000"/>
                </a:solidFill>
                <a:latin typeface="Calibri"/>
              </a:defRPr>
            </a:pPr>
            <a:r>
              <a:t>Input:  Raw dataset D_k (k ∈ {UNSW, CSE, CIC2017})</a:t>
            </a:r>
          </a:p>
          <a:p>
            <a:pPr>
              <a:spcAft>
                <a:spcPts val="200"/>
              </a:spcAft>
              <a:defRPr sz="400" b="0">
                <a:solidFill>
                  <a:srgbClr val="000000"/>
                </a:solidFill>
                <a:latin typeface="Calibri"/>
              </a:defRPr>
            </a:pPr>
            <a:endParaRPr/>
          </a:p>
          <a:p>
            <a:pPr>
              <a:spcAft>
                <a:spcPts val="200"/>
              </a:spcAft>
              <a:defRPr sz="1100" b="0">
                <a:solidFill>
                  <a:srgbClr val="000000"/>
                </a:solidFill>
                <a:latin typeface="Calibri"/>
              </a:defRPr>
            </a:pPr>
            <a:r>
              <a:t>for each dataset D_k do:</a:t>
            </a:r>
          </a:p>
          <a:p>
            <a:pPr>
              <a:spcAft>
                <a:spcPts val="200"/>
              </a:spcAft>
              <a:defRPr sz="1100" b="0">
                <a:solidFill>
                  <a:srgbClr val="000000"/>
                </a:solidFill>
                <a:latin typeface="Calibri"/>
              </a:defRPr>
            </a:pPr>
            <a:r>
              <a:t>    x_j^(i) ← map(D_k.col_j)   ∀ j ∈ {1,...,7}</a:t>
            </a:r>
          </a:p>
        </p:txBody>
      </p:sp>
      <p:pic>
        <p:nvPicPr>
          <p:cNvPr id="4" name="Picture 3" descr="image.png"/>
          <p:cNvPicPr>
            <a:picLocks noChangeAspect="1"/>
          </p:cNvPicPr>
          <p:nvPr/>
        </p:nvPicPr>
        <p:blipFill>
          <a:blip r:embed="rId3"/>
          <a:stretch>
            <a:fillRect/>
          </a:stretch>
        </p:blipFill>
        <p:spPr>
          <a:xfrm>
            <a:off x="274320" y="2194560"/>
            <a:ext cx="6400800" cy="1087120"/>
          </a:xfrm>
          <a:prstGeom prst="rect">
            <a:avLst/>
          </a:prstGeom>
        </p:spPr>
      </p:pic>
      <p:sp>
        <p:nvSpPr>
          <p:cNvPr id="5" name="TextBox 4"/>
          <p:cNvSpPr txBox="1"/>
          <p:nvPr/>
        </p:nvSpPr>
        <p:spPr>
          <a:xfrm>
            <a:off x="274320" y="3200400"/>
            <a:ext cx="11430000" cy="320040"/>
          </a:xfrm>
          <a:prstGeom prst="rect">
            <a:avLst/>
          </a:prstGeom>
          <a:noFill/>
        </p:spPr>
        <p:txBody>
          <a:bodyPr wrap="square">
            <a:spAutoFit/>
          </a:bodyPr>
          <a:lstStyle/>
          <a:p>
            <a:pPr algn="l">
              <a:defRPr sz="1300" b="1">
                <a:solidFill>
                  <a:srgbClr val="003C71"/>
                </a:solidFill>
                <a:latin typeface="Calibri"/>
              </a:defRPr>
            </a:pPr>
            <a:r>
              <a:t>Concrete Example — One flow from each dataset before &amp; after normalization:</a:t>
            </a:r>
          </a:p>
        </p:txBody>
      </p:sp>
      <p:sp>
        <p:nvSpPr>
          <p:cNvPr id="6" name="TextBox 5"/>
          <p:cNvSpPr txBox="1"/>
          <p:nvPr/>
        </p:nvSpPr>
        <p:spPr>
          <a:xfrm>
            <a:off x="274320" y="3566160"/>
            <a:ext cx="11430000" cy="2743200"/>
          </a:xfrm>
          <a:prstGeom prst="rect">
            <a:avLst/>
          </a:prstGeom>
          <a:noFill/>
        </p:spPr>
        <p:txBody>
          <a:bodyPr wrap="square">
            <a:spAutoFit/>
          </a:bodyPr>
          <a:lstStyle/>
          <a:p>
            <a:pPr>
              <a:spcAft>
                <a:spcPts val="200"/>
              </a:spcAft>
              <a:defRPr sz="900" b="0">
                <a:solidFill>
                  <a:srgbClr val="000000"/>
                </a:solidFill>
                <a:latin typeface="Consolas"/>
              </a:defRPr>
            </a:pPr>
            <a:r>
              <a:t>UNSW-NB15 raw:      dur=0.12s  rate=45.2  sbytes=3200  ct_srv_src=8   dsport=443  proto=tcp</a:t>
            </a:r>
          </a:p>
          <a:p>
            <a:pPr>
              <a:spcAft>
                <a:spcPts val="200"/>
              </a:spcAft>
              <a:defRPr sz="900" b="0">
                <a:solidFill>
                  <a:srgbClr val="2980B9"/>
                </a:solidFill>
                <a:latin typeface="Consolas"/>
              </a:defRPr>
            </a:pPr>
            <a:r>
              <a:t>  → extracted:      [120.0,  45.2,  3200.0,  0.31,  1,  2,  0]</a:t>
            </a:r>
          </a:p>
          <a:p>
            <a:pPr>
              <a:spcAft>
                <a:spcPts val="200"/>
              </a:spcAft>
              <a:defRPr sz="900" b="1">
                <a:solidFill>
                  <a:srgbClr val="2980B9"/>
                </a:solidFill>
                <a:latin typeface="Consolas"/>
              </a:defRPr>
            </a:pPr>
            <a:r>
              <a:t>  → z-scored:       [-0.82, -0.45,  0.21,  -0.58,  1,  2,  0]</a:t>
            </a:r>
          </a:p>
          <a:p>
            <a:pPr>
              <a:spcAft>
                <a:spcPts val="200"/>
              </a:spcAft>
              <a:defRPr sz="400" b="0">
                <a:solidFill>
                  <a:srgbClr val="000000"/>
                </a:solidFill>
                <a:latin typeface="Consolas"/>
              </a:defRPr>
            </a:pPr>
            <a:endParaRPr/>
          </a:p>
          <a:p>
            <a:pPr>
              <a:spcAft>
                <a:spcPts val="200"/>
              </a:spcAft>
              <a:defRPr sz="900" b="0">
                <a:solidFill>
                  <a:srgbClr val="000000"/>
                </a:solidFill>
                <a:latin typeface="Consolas"/>
              </a:defRPr>
            </a:pPr>
            <a:r>
              <a:t>CSE-CIC-2018 raw:   Flow Duration=250000μs  Flow Packets/s=1200  Flow Bytes/s=850000  Fwd IAT Std=4500</a:t>
            </a:r>
          </a:p>
          <a:p>
            <a:pPr>
              <a:spcAft>
                <a:spcPts val="200"/>
              </a:spcAft>
              <a:defRPr sz="900" b="0">
                <a:solidFill>
                  <a:srgbClr val="2980B9"/>
                </a:solidFill>
                <a:latin typeface="Consolas"/>
              </a:defRPr>
            </a:pPr>
            <a:r>
              <a:t>  → extracted:      [250.0,  1200.0,  850000.0,  0.62,  3,  2,  0]</a:t>
            </a:r>
          </a:p>
          <a:p>
            <a:pPr>
              <a:spcAft>
                <a:spcPts val="200"/>
              </a:spcAft>
              <a:defRPr sz="900" b="1">
                <a:solidFill>
                  <a:srgbClr val="2980B9"/>
                </a:solidFill>
                <a:latin typeface="Consolas"/>
              </a:defRPr>
            </a:pPr>
            <a:r>
              <a:t>  → z-scored:       [ 0.34,   0.78,   1.12,    0.45,  3,  2,  0]</a:t>
            </a:r>
          </a:p>
          <a:p>
            <a:pPr>
              <a:spcAft>
                <a:spcPts val="200"/>
              </a:spcAft>
              <a:defRPr sz="400" b="0">
                <a:solidFill>
                  <a:srgbClr val="000000"/>
                </a:solidFill>
                <a:latin typeface="Consolas"/>
              </a:defRPr>
            </a:pPr>
            <a:endParaRPr/>
          </a:p>
          <a:p>
            <a:pPr>
              <a:spcAft>
                <a:spcPts val="200"/>
              </a:spcAft>
              <a:defRPr sz="900" b="0">
                <a:solidFill>
                  <a:srgbClr val="000000"/>
                </a:solidFill>
                <a:latin typeface="Consolas"/>
              </a:defRPr>
            </a:pPr>
            <a:r>
              <a:t>CIC-IDS2017 raw:    Flow Duration=180000μs  Flow Pkts/s=2400  Flow Byts/s=1800000  Fwd IAT Std=8200</a:t>
            </a:r>
          </a:p>
          <a:p>
            <a:pPr>
              <a:spcAft>
                <a:spcPts val="200"/>
              </a:spcAft>
              <a:defRPr sz="900" b="0">
                <a:solidFill>
                  <a:srgbClr val="2980B9"/>
                </a:solidFill>
                <a:latin typeface="Consolas"/>
              </a:defRPr>
            </a:pPr>
            <a:r>
              <a:t>  → extracted:      [180.0,  2400.0,  1800000.0,  0.88,  4,  3,  0]</a:t>
            </a:r>
          </a:p>
          <a:p>
            <a:pPr>
              <a:spcAft>
                <a:spcPts val="200"/>
              </a:spcAft>
              <a:defRPr sz="900" b="1">
                <a:solidFill>
                  <a:srgbClr val="2980B9"/>
                </a:solidFill>
                <a:latin typeface="Consolas"/>
              </a:defRPr>
            </a:pPr>
            <a:r>
              <a:t>  → z-scored:       [-0.15,   1.95,    2.31,    1.22,  4,  3,  0]</a:t>
            </a:r>
          </a:p>
        </p:txBody>
      </p:sp>
      <p:sp>
        <p:nvSpPr>
          <p:cNvPr id="7" name="TextBox 6"/>
          <p:cNvSpPr txBox="1"/>
          <p:nvPr/>
        </p:nvSpPr>
        <p:spPr>
          <a:xfrm>
            <a:off x="274320" y="6217920"/>
            <a:ext cx="11430000" cy="365760"/>
          </a:xfrm>
          <a:prstGeom prst="rect">
            <a:avLst/>
          </a:prstGeom>
          <a:noFill/>
        </p:spPr>
        <p:txBody>
          <a:bodyPr wrap="square">
            <a:spAutoFit/>
          </a:bodyPr>
          <a:lstStyle/>
          <a:p>
            <a:pPr algn="ctr">
              <a:defRPr sz="1200" b="1">
                <a:solidFill>
                  <a:srgbClr val="2980B9"/>
                </a:solidFill>
                <a:latin typeface="Calibri"/>
              </a:defRPr>
            </a:pPr>
            <a:r>
              <a:t>Output:  X_norm ∈ R^(n×7), y ∈ {0,1}^n  (zero mean, unit variance per feature)    → Feeds into Stage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4114800" cy="45720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Stage 2: Decision Tree Symbolic Model (CART)</a:t>
            </a:r>
          </a:p>
        </p:txBody>
      </p:sp>
      <p:sp>
        <p:nvSpPr>
          <p:cNvPr id="3" name="TextBox 2"/>
          <p:cNvSpPr txBox="1"/>
          <p:nvPr/>
        </p:nvSpPr>
        <p:spPr>
          <a:xfrm>
            <a:off x="274320" y="731520"/>
            <a:ext cx="5943600" cy="2743200"/>
          </a:xfrm>
          <a:prstGeom prst="rect">
            <a:avLst/>
          </a:prstGeom>
          <a:noFill/>
        </p:spPr>
        <p:txBody>
          <a:bodyPr wrap="square">
            <a:spAutoFit/>
          </a:bodyPr>
          <a:lstStyle/>
          <a:p>
            <a:pPr>
              <a:spcAft>
                <a:spcPts val="200"/>
              </a:spcAft>
              <a:defRPr sz="1300" b="1">
                <a:solidFill>
                  <a:srgbClr val="8E44AD"/>
                </a:solidFill>
                <a:latin typeface="Calibri"/>
              </a:defRPr>
            </a:pPr>
            <a:r>
              <a:t>Algorithm 2: CART Decision Tree Training</a:t>
            </a:r>
          </a:p>
          <a:p>
            <a:pPr>
              <a:spcAft>
                <a:spcPts val="200"/>
              </a:spcAft>
              <a:defRPr sz="400" b="0">
                <a:solidFill>
                  <a:srgbClr val="000000"/>
                </a:solidFill>
                <a:latin typeface="Calibri"/>
              </a:defRPr>
            </a:pPr>
            <a:endParaRPr/>
          </a:p>
          <a:p>
            <a:pPr>
              <a:spcAft>
                <a:spcPts val="200"/>
              </a:spcAft>
              <a:defRPr sz="1100" b="1">
                <a:solidFill>
                  <a:srgbClr val="000000"/>
                </a:solidFill>
                <a:latin typeface="Calibri"/>
              </a:defRPr>
            </a:pPr>
            <a:r>
              <a:t>Input:  X_norm ∈ R^(n×7),  y ∈ {0,1}^n</a:t>
            </a:r>
          </a:p>
          <a:p>
            <a:pPr>
              <a:spcAft>
                <a:spcPts val="200"/>
              </a:spcAft>
              <a:defRPr sz="1100" b="0">
                <a:solidFill>
                  <a:srgbClr val="7F8C8D"/>
                </a:solidFill>
                <a:latin typeface="Calibri"/>
              </a:defRPr>
            </a:pPr>
            <a:r>
              <a:t>Hyperparams: max_depth=6, min_samples_leaf=15</a:t>
            </a:r>
          </a:p>
          <a:p>
            <a:pPr>
              <a:spcAft>
                <a:spcPts val="200"/>
              </a:spcAft>
              <a:defRPr sz="400" b="0">
                <a:solidFill>
                  <a:srgbClr val="000000"/>
                </a:solidFill>
                <a:latin typeface="Calibri"/>
              </a:defRPr>
            </a:pPr>
            <a:endParaRPr/>
          </a:p>
          <a:p>
            <a:pPr>
              <a:spcAft>
                <a:spcPts val="200"/>
              </a:spcAft>
              <a:defRPr sz="1100" b="0">
                <a:solidFill>
                  <a:srgbClr val="000000"/>
                </a:solidFill>
                <a:latin typeface="Calibri"/>
              </a:defRPr>
            </a:pPr>
            <a:r>
              <a:t>for each node v do:</a:t>
            </a:r>
          </a:p>
          <a:p>
            <a:pPr>
              <a:spcAft>
                <a:spcPts val="200"/>
              </a:spcAft>
              <a:defRPr sz="1100" b="0">
                <a:solidFill>
                  <a:srgbClr val="000000"/>
                </a:solidFill>
                <a:latin typeface="Calibri"/>
              </a:defRPr>
            </a:pPr>
            <a:r>
              <a:t>  Find best split (j*, θ*) minimizing weighted Gini:</a:t>
            </a:r>
          </a:p>
          <a:p>
            <a:pPr>
              <a:spcAft>
                <a:spcPts val="200"/>
              </a:spcAft>
              <a:defRPr sz="1000" b="0">
                <a:solidFill>
                  <a:srgbClr val="000000"/>
                </a:solidFill>
                <a:latin typeface="Calibri"/>
              </a:defRPr>
            </a:pPr>
            <a:r>
              <a:t>  S_L = {(x,y) : x_{j*} ≤ θ*}</a:t>
            </a:r>
          </a:p>
          <a:p>
            <a:pPr>
              <a:spcAft>
                <a:spcPts val="200"/>
              </a:spcAft>
              <a:defRPr sz="1000" b="0">
                <a:solidFill>
                  <a:srgbClr val="000000"/>
                </a:solidFill>
                <a:latin typeface="Calibri"/>
              </a:defRPr>
            </a:pPr>
            <a:r>
              <a:t>  S_R = {(x,y) : x_{j*} &gt; θ*}</a:t>
            </a:r>
          </a:p>
        </p:txBody>
      </p:sp>
      <p:pic>
        <p:nvPicPr>
          <p:cNvPr id="4" name="Picture 3" descr="image.png"/>
          <p:cNvPicPr>
            <a:picLocks noChangeAspect="1"/>
          </p:cNvPicPr>
          <p:nvPr/>
        </p:nvPicPr>
        <p:blipFill>
          <a:blip r:embed="rId3"/>
          <a:stretch>
            <a:fillRect/>
          </a:stretch>
        </p:blipFill>
        <p:spPr>
          <a:xfrm>
            <a:off x="274320" y="2926080"/>
            <a:ext cx="5486400" cy="810359"/>
          </a:xfrm>
          <a:prstGeom prst="rect">
            <a:avLst/>
          </a:prstGeom>
        </p:spPr>
      </p:pic>
      <p:sp>
        <p:nvSpPr>
          <p:cNvPr id="5" name="TextBox 4"/>
          <p:cNvSpPr txBox="1"/>
          <p:nvPr/>
        </p:nvSpPr>
        <p:spPr>
          <a:xfrm>
            <a:off x="6400800" y="731520"/>
            <a:ext cx="5486400" cy="320040"/>
          </a:xfrm>
          <a:prstGeom prst="rect">
            <a:avLst/>
          </a:prstGeom>
          <a:noFill/>
        </p:spPr>
        <p:txBody>
          <a:bodyPr wrap="square">
            <a:spAutoFit/>
          </a:bodyPr>
          <a:lstStyle/>
          <a:p>
            <a:pPr algn="l">
              <a:defRPr sz="1400" b="1">
                <a:solidFill>
                  <a:srgbClr val="8E44AD"/>
                </a:solidFill>
                <a:latin typeface="Calibri"/>
              </a:defRPr>
            </a:pPr>
            <a:r>
              <a:t>Output per Dataset (n=50,000 each):</a:t>
            </a:r>
          </a:p>
        </p:txBody>
      </p:sp>
      <p:sp>
        <p:nvSpPr>
          <p:cNvPr id="6" name="TextBox 5"/>
          <p:cNvSpPr txBox="1"/>
          <p:nvPr/>
        </p:nvSpPr>
        <p:spPr>
          <a:xfrm>
            <a:off x="6400800" y="1097280"/>
            <a:ext cx="5486400" cy="4114800"/>
          </a:xfrm>
          <a:prstGeom prst="rect">
            <a:avLst/>
          </a:prstGeom>
          <a:noFill/>
        </p:spPr>
        <p:txBody>
          <a:bodyPr wrap="square">
            <a:spAutoFit/>
          </a:bodyPr>
          <a:lstStyle/>
          <a:p>
            <a:pPr>
              <a:spcAft>
                <a:spcPts val="200"/>
              </a:spcAft>
              <a:defRPr sz="1200" b="1">
                <a:solidFill>
                  <a:srgbClr val="000000"/>
                </a:solidFill>
                <a:latin typeface="Consolas"/>
              </a:defRPr>
            </a:pPr>
            <a:r>
              <a:t>UNSW-NB15:</a:t>
            </a:r>
          </a:p>
          <a:p>
            <a:pPr>
              <a:spcAft>
                <a:spcPts val="200"/>
              </a:spcAft>
              <a:defRPr sz="1000" b="0">
                <a:solidFill>
                  <a:srgbClr val="000000"/>
                </a:solidFill>
                <a:latin typeface="Consolas"/>
              </a:defRPr>
            </a:pPr>
            <a:r>
              <a:t>  DT trained: 63 leaf nodes (max_depth=6)</a:t>
            </a:r>
          </a:p>
          <a:p>
            <a:pPr>
              <a:spcAft>
                <a:spcPts val="200"/>
              </a:spcAft>
              <a:defRPr sz="1000" b="0">
                <a:solidFill>
                  <a:srgbClr val="7F8C8D"/>
                </a:solidFill>
                <a:latin typeface="Consolas"/>
              </a:defRPr>
            </a:pPr>
            <a:r>
              <a:t>  Leaf IDs used as RL states: {0, 3, 7, 12, ...}</a:t>
            </a:r>
          </a:p>
          <a:p>
            <a:pPr>
              <a:spcAft>
                <a:spcPts val="200"/>
              </a:spcAft>
              <a:defRPr sz="1000" b="0">
                <a:solidFill>
                  <a:srgbClr val="7F8C8D"/>
                </a:solidFill>
                <a:latin typeface="Consolas"/>
              </a:defRPr>
            </a:pPr>
            <a:r>
              <a:t>  Example path: z_pkt_rate &gt; 0.82 ∧ z_entropy &gt; 0.45</a:t>
            </a:r>
          </a:p>
          <a:p>
            <a:pPr>
              <a:spcAft>
                <a:spcPts val="200"/>
              </a:spcAft>
              <a:defRPr sz="1000" b="0">
                <a:solidFill>
                  <a:srgbClr val="2980B9"/>
                </a:solidFill>
                <a:latin typeface="Consolas"/>
              </a:defRPr>
            </a:pPr>
            <a:r>
              <a:t>    → leaf_42: P(attack)=0.94, class=BLOCK</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CSE-CIC-IDS-2018:</a:t>
            </a:r>
          </a:p>
          <a:p>
            <a:pPr>
              <a:spcAft>
                <a:spcPts val="200"/>
              </a:spcAft>
              <a:defRPr sz="1000" b="0">
                <a:solidFill>
                  <a:srgbClr val="000000"/>
                </a:solidFill>
                <a:latin typeface="Consolas"/>
              </a:defRPr>
            </a:pPr>
            <a:r>
              <a:t>  DT trained: 58 leaf nodes</a:t>
            </a:r>
          </a:p>
          <a:p>
            <a:pPr>
              <a:spcAft>
                <a:spcPts val="200"/>
              </a:spcAft>
              <a:defRPr sz="1000" b="0">
                <a:solidFill>
                  <a:srgbClr val="7F8C8D"/>
                </a:solidFill>
                <a:latin typeface="Consolas"/>
              </a:defRPr>
            </a:pPr>
            <a:r>
              <a:t>  Example path: z_byte_rate &gt; 1.5 ∧ z_flow_dur &lt; -0.3</a:t>
            </a:r>
          </a:p>
          <a:p>
            <a:pPr>
              <a:spcAft>
                <a:spcPts val="200"/>
              </a:spcAft>
              <a:defRPr sz="1000" b="0">
                <a:solidFill>
                  <a:srgbClr val="2980B9"/>
                </a:solidFill>
                <a:latin typeface="Consolas"/>
              </a:defRPr>
            </a:pPr>
            <a:r>
              <a:t>    → leaf_27: P(attack)=0.89, class=BLOCK</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CIC-IDS2017:</a:t>
            </a:r>
          </a:p>
          <a:p>
            <a:pPr>
              <a:spcAft>
                <a:spcPts val="200"/>
              </a:spcAft>
              <a:defRPr sz="1000" b="0">
                <a:solidFill>
                  <a:srgbClr val="000000"/>
                </a:solidFill>
                <a:latin typeface="Consolas"/>
              </a:defRPr>
            </a:pPr>
            <a:r>
              <a:t>  DT trained: 61 leaf nodes</a:t>
            </a:r>
          </a:p>
          <a:p>
            <a:pPr>
              <a:spcAft>
                <a:spcPts val="200"/>
              </a:spcAft>
              <a:defRPr sz="1000" b="0">
                <a:solidFill>
                  <a:srgbClr val="7F8C8D"/>
                </a:solidFill>
                <a:latin typeface="Consolas"/>
              </a:defRPr>
            </a:pPr>
            <a:r>
              <a:t>  Example path: z_pkt_rate &gt; 1.2 ∧ z_entropy &gt; 0.6</a:t>
            </a:r>
          </a:p>
          <a:p>
            <a:pPr>
              <a:spcAft>
                <a:spcPts val="200"/>
              </a:spcAft>
              <a:defRPr sz="1000" b="0">
                <a:solidFill>
                  <a:srgbClr val="2980B9"/>
                </a:solidFill>
                <a:latin typeface="Consolas"/>
              </a:defRPr>
            </a:pPr>
            <a:r>
              <a:t>    → leaf_35: P(attack)=0.91, class=BLOCK</a:t>
            </a:r>
          </a:p>
        </p:txBody>
      </p:sp>
      <p:sp>
        <p:nvSpPr>
          <p:cNvPr id="7" name="TextBox 6"/>
          <p:cNvSpPr txBox="1"/>
          <p:nvPr/>
        </p:nvSpPr>
        <p:spPr>
          <a:xfrm>
            <a:off x="274320" y="5669280"/>
            <a:ext cx="11430000" cy="457200"/>
          </a:xfrm>
          <a:prstGeom prst="rect">
            <a:avLst/>
          </a:prstGeom>
          <a:noFill/>
        </p:spPr>
        <p:txBody>
          <a:bodyPr wrap="square">
            <a:spAutoFit/>
          </a:bodyPr>
          <a:lstStyle/>
          <a:p>
            <a:pPr algn="ctr">
              <a:defRPr sz="1200" b="1">
                <a:solidFill>
                  <a:srgbClr val="2980B9"/>
                </a:solidFill>
                <a:latin typeface="Calibri"/>
              </a:defRPr>
            </a:pPr>
            <a:r>
              <a:t>Output:  Trained tree T with L leaf nodes.  Each flow x_i → leaf_id(x_i), P(attack|x_i), ŷ_DT(x_i)</a:t>
            </a:r>
            <a:br/>
            <a:r>
              <a:t>Feeds into: Stage 3 (leaf paths → Z3)  +  Stage 4 (leaf_id as RL discrete state)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4572000" cy="45720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Stage 3: Z3 SMT Constraint Extraction from Decision Tree</a:t>
            </a:r>
          </a:p>
        </p:txBody>
      </p:sp>
      <p:sp>
        <p:nvSpPr>
          <p:cNvPr id="3" name="TextBox 2"/>
          <p:cNvSpPr txBox="1"/>
          <p:nvPr/>
        </p:nvSpPr>
        <p:spPr>
          <a:xfrm>
            <a:off x="274320" y="731520"/>
            <a:ext cx="5943600" cy="4114800"/>
          </a:xfrm>
          <a:prstGeom prst="rect">
            <a:avLst/>
          </a:prstGeom>
          <a:noFill/>
        </p:spPr>
        <p:txBody>
          <a:bodyPr wrap="square">
            <a:spAutoFit/>
          </a:bodyPr>
          <a:lstStyle/>
          <a:p>
            <a:pPr>
              <a:spcAft>
                <a:spcPts val="200"/>
              </a:spcAft>
              <a:defRPr sz="1300" b="1">
                <a:solidFill>
                  <a:srgbClr val="27AE60"/>
                </a:solidFill>
                <a:latin typeface="Calibri"/>
              </a:defRPr>
            </a:pPr>
            <a:r>
              <a:t>Algorithm 3: Z3 Constraint Extraction</a:t>
            </a:r>
          </a:p>
          <a:p>
            <a:pPr>
              <a:spcAft>
                <a:spcPts val="200"/>
              </a:spcAft>
              <a:defRPr sz="400" b="0">
                <a:solidFill>
                  <a:srgbClr val="000000"/>
                </a:solidFill>
                <a:latin typeface="Calibri"/>
              </a:defRPr>
            </a:pPr>
            <a:endParaRPr/>
          </a:p>
          <a:p>
            <a:pPr>
              <a:spcAft>
                <a:spcPts val="200"/>
              </a:spcAft>
              <a:defRPr sz="1100" b="1">
                <a:solidFill>
                  <a:srgbClr val="000000"/>
                </a:solidFill>
                <a:latin typeface="Calibri"/>
              </a:defRPr>
            </a:pPr>
            <a:r>
              <a:t>Input:  Trained DT T with L leaf nodes</a:t>
            </a:r>
          </a:p>
          <a:p>
            <a:pPr>
              <a:spcAft>
                <a:spcPts val="200"/>
              </a:spcAft>
              <a:defRPr sz="1100" b="0">
                <a:solidFill>
                  <a:srgbClr val="000000"/>
                </a:solidFill>
                <a:latin typeface="Calibri"/>
              </a:defRPr>
            </a:pPr>
            <a:r>
              <a:t>C ← ∅</a:t>
            </a:r>
          </a:p>
          <a:p>
            <a:pPr>
              <a:spcAft>
                <a:spcPts val="200"/>
              </a:spcAft>
              <a:defRPr sz="1100" b="0">
                <a:solidFill>
                  <a:srgbClr val="000000"/>
                </a:solidFill>
                <a:latin typeface="Calibri"/>
              </a:defRPr>
            </a:pPr>
            <a:r>
              <a:t>for each leaf l ∈ {1, ..., L} do:</a:t>
            </a:r>
          </a:p>
          <a:p>
            <a:pPr>
              <a:spcAft>
                <a:spcPts val="200"/>
              </a:spcAft>
              <a:defRPr sz="1100" b="0">
                <a:solidFill>
                  <a:srgbClr val="000000"/>
                </a:solidFill>
                <a:latin typeface="Calibri"/>
              </a:defRPr>
            </a:pPr>
            <a:r>
              <a:t>    π_l ← extract_path(root, l)    # walk tree root→leaf</a:t>
            </a:r>
          </a:p>
          <a:p>
            <a:pPr>
              <a:spcAft>
                <a:spcPts val="200"/>
              </a:spcAft>
              <a:defRPr sz="1100" b="0">
                <a:solidFill>
                  <a:srgbClr val="000000"/>
                </a:solidFill>
                <a:latin typeface="Calibri"/>
              </a:defRPr>
            </a:pPr>
            <a:r>
              <a:t>    φ_l ← Implies(</a:t>
            </a:r>
          </a:p>
          <a:p>
            <a:pPr>
              <a:spcAft>
                <a:spcPts val="200"/>
              </a:spcAft>
              <a:defRPr sz="1000" b="0">
                <a:solidFill>
                  <a:srgbClr val="7F8C8D"/>
                </a:solidFill>
                <a:latin typeface="Calibri"/>
              </a:defRPr>
            </a:pPr>
            <a:r>
              <a:t>        And( Real(f_j) op θ_j  for (j,θ,op) in π_l ),</a:t>
            </a:r>
          </a:p>
          <a:p>
            <a:pPr>
              <a:spcAft>
                <a:spcPts val="200"/>
              </a:spcAft>
              <a:defRPr sz="1000" b="0">
                <a:solidFill>
                  <a:srgbClr val="7F8C8D"/>
                </a:solidFill>
                <a:latin typeface="Calibri"/>
              </a:defRPr>
            </a:pPr>
            <a:r>
              <a:t>        Int(action) == class(l)</a:t>
            </a:r>
          </a:p>
          <a:p>
            <a:pPr>
              <a:spcAft>
                <a:spcPts val="200"/>
              </a:spcAft>
              <a:defRPr sz="1100" b="0">
                <a:solidFill>
                  <a:srgbClr val="000000"/>
                </a:solidFill>
                <a:latin typeface="Calibri"/>
              </a:defRPr>
            </a:pPr>
            <a:r>
              <a:t>    )</a:t>
            </a:r>
          </a:p>
          <a:p>
            <a:pPr>
              <a:spcAft>
                <a:spcPts val="200"/>
              </a:spcAft>
              <a:defRPr sz="1100" b="0">
                <a:solidFill>
                  <a:srgbClr val="000000"/>
                </a:solidFill>
                <a:latin typeface="Calibri"/>
              </a:defRPr>
            </a:pPr>
            <a:r>
              <a:t>    if Solver(C ∪ {φ_l}).check() == sat:</a:t>
            </a:r>
          </a:p>
          <a:p>
            <a:pPr>
              <a:spcAft>
                <a:spcPts val="200"/>
              </a:spcAft>
              <a:defRPr sz="1100" b="0">
                <a:solidFill>
                  <a:srgbClr val="000000"/>
                </a:solidFill>
                <a:latin typeface="Calibri"/>
              </a:defRPr>
            </a:pPr>
            <a:r>
              <a:t>        C ← C ∪ {φ_l}</a:t>
            </a:r>
          </a:p>
          <a:p>
            <a:pPr>
              <a:spcAft>
                <a:spcPts val="200"/>
              </a:spcAft>
              <a:defRPr sz="1100" b="1">
                <a:solidFill>
                  <a:srgbClr val="000000"/>
                </a:solidFill>
                <a:latin typeface="Calibri"/>
              </a:defRPr>
            </a:pPr>
            <a:r>
              <a:t>Output:  C = {φ_1, ..., φ_|C|}</a:t>
            </a:r>
          </a:p>
        </p:txBody>
      </p:sp>
      <p:sp>
        <p:nvSpPr>
          <p:cNvPr id="4" name="TextBox 3"/>
          <p:cNvSpPr txBox="1"/>
          <p:nvPr/>
        </p:nvSpPr>
        <p:spPr>
          <a:xfrm>
            <a:off x="6400800" y="731520"/>
            <a:ext cx="5486400" cy="320040"/>
          </a:xfrm>
          <a:prstGeom prst="rect">
            <a:avLst/>
          </a:prstGeom>
          <a:noFill/>
        </p:spPr>
        <p:txBody>
          <a:bodyPr wrap="square">
            <a:spAutoFit/>
          </a:bodyPr>
          <a:lstStyle/>
          <a:p>
            <a:pPr algn="l">
              <a:defRPr sz="1400" b="1">
                <a:solidFill>
                  <a:srgbClr val="27AE60"/>
                </a:solidFill>
                <a:latin typeface="Calibri"/>
              </a:defRPr>
            </a:pPr>
            <a:r>
              <a:t>Extracted Constraints per Dataset:</a:t>
            </a:r>
          </a:p>
        </p:txBody>
      </p:sp>
      <p:sp>
        <p:nvSpPr>
          <p:cNvPr id="5" name="TextBox 4"/>
          <p:cNvSpPr txBox="1"/>
          <p:nvPr/>
        </p:nvSpPr>
        <p:spPr>
          <a:xfrm>
            <a:off x="6400800" y="1097280"/>
            <a:ext cx="5486400" cy="4572000"/>
          </a:xfrm>
          <a:prstGeom prst="rect">
            <a:avLst/>
          </a:prstGeom>
          <a:noFill/>
        </p:spPr>
        <p:txBody>
          <a:bodyPr wrap="square">
            <a:spAutoFit/>
          </a:bodyPr>
          <a:lstStyle/>
          <a:p>
            <a:pPr>
              <a:spcAft>
                <a:spcPts val="200"/>
              </a:spcAft>
              <a:defRPr sz="1200" b="1">
                <a:solidFill>
                  <a:srgbClr val="000000"/>
                </a:solidFill>
                <a:latin typeface="Consolas"/>
              </a:defRPr>
            </a:pPr>
            <a:r>
              <a:t>UNSW-NB15:  |C| = 13 constraints</a:t>
            </a:r>
          </a:p>
          <a:p>
            <a:pPr>
              <a:spcAft>
                <a:spcPts val="200"/>
              </a:spcAft>
              <a:defRPr sz="900" b="0">
                <a:solidFill>
                  <a:srgbClr val="000000"/>
                </a:solidFill>
                <a:latin typeface="Consolas"/>
              </a:defRPr>
            </a:pPr>
            <a:r>
              <a:t>  φ_1: Implies(And(</a:t>
            </a:r>
          </a:p>
          <a:p>
            <a:pPr>
              <a:spcAft>
                <a:spcPts val="200"/>
              </a:spcAft>
              <a:defRPr sz="900" b="0">
                <a:solidFill>
                  <a:srgbClr val="7F8C8D"/>
                </a:solidFill>
                <a:latin typeface="Consolas"/>
              </a:defRPr>
            </a:pPr>
            <a:r>
              <a:t>    Real(pkt_rate) &gt; 0.82,</a:t>
            </a:r>
          </a:p>
          <a:p>
            <a:pPr>
              <a:spcAft>
                <a:spcPts val="200"/>
              </a:spcAft>
              <a:defRPr sz="900" b="0">
                <a:solidFill>
                  <a:srgbClr val="7F8C8D"/>
                </a:solidFill>
                <a:latin typeface="Consolas"/>
              </a:defRPr>
            </a:pPr>
            <a:r>
              <a:t>    Real(entropy) &gt; 0.45),</a:t>
            </a:r>
          </a:p>
          <a:p>
            <a:pPr>
              <a:spcAft>
                <a:spcPts val="200"/>
              </a:spcAft>
              <a:defRPr sz="900" b="0">
                <a:solidFill>
                  <a:srgbClr val="C0392B"/>
                </a:solidFill>
                <a:latin typeface="Consolas"/>
              </a:defRPr>
            </a:pPr>
            <a:r>
              <a:t>    Int(action) == 1)  # BLOCK</a:t>
            </a:r>
          </a:p>
          <a:p>
            <a:pPr>
              <a:spcAft>
                <a:spcPts val="200"/>
              </a:spcAft>
              <a:defRPr sz="900" b="0">
                <a:solidFill>
                  <a:srgbClr val="000000"/>
                </a:solidFill>
                <a:latin typeface="Consolas"/>
              </a:defRPr>
            </a:pPr>
            <a:r>
              <a:t>  φ_2: Implies(And(</a:t>
            </a:r>
          </a:p>
          <a:p>
            <a:pPr>
              <a:spcAft>
                <a:spcPts val="200"/>
              </a:spcAft>
              <a:defRPr sz="900" b="0">
                <a:solidFill>
                  <a:srgbClr val="7F8C8D"/>
                </a:solidFill>
                <a:latin typeface="Consolas"/>
              </a:defRPr>
            </a:pPr>
            <a:r>
              <a:t>    Real(pkt_rate) &lt;= 0.82,</a:t>
            </a:r>
          </a:p>
          <a:p>
            <a:pPr>
              <a:spcAft>
                <a:spcPts val="200"/>
              </a:spcAft>
              <a:defRPr sz="900" b="0">
                <a:solidFill>
                  <a:srgbClr val="7F8C8D"/>
                </a:solidFill>
                <a:latin typeface="Consolas"/>
              </a:defRPr>
            </a:pPr>
            <a:r>
              <a:t>    Real(byte_rate) &lt;= -0.5),</a:t>
            </a:r>
          </a:p>
          <a:p>
            <a:pPr>
              <a:spcAft>
                <a:spcPts val="200"/>
              </a:spcAft>
              <a:defRPr sz="900" b="0">
                <a:solidFill>
                  <a:srgbClr val="1E8E3E"/>
                </a:solidFill>
                <a:latin typeface="Consolas"/>
              </a:defRPr>
            </a:pPr>
            <a:r>
              <a:t>    Int(action) == 0)  # ALLOW</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CSE-CIC-IDS-2018:  |C| = 13 constraints</a:t>
            </a:r>
          </a:p>
          <a:p>
            <a:pPr>
              <a:spcAft>
                <a:spcPts val="200"/>
              </a:spcAft>
              <a:defRPr sz="1200" b="1">
                <a:solidFill>
                  <a:srgbClr val="000000"/>
                </a:solidFill>
                <a:latin typeface="Consolas"/>
              </a:defRPr>
            </a:pPr>
            <a:r>
              <a:t>CIC-IDS2017:       |C| = 12 constraints</a:t>
            </a:r>
          </a:p>
          <a:p>
            <a:pPr>
              <a:spcAft>
                <a:spcPts val="200"/>
              </a:spcAft>
              <a:defRPr sz="400" b="0">
                <a:solidFill>
                  <a:srgbClr val="000000"/>
                </a:solidFill>
                <a:latin typeface="Consolas"/>
              </a:defRPr>
            </a:pPr>
            <a:endParaRPr/>
          </a:p>
          <a:p>
            <a:pPr>
              <a:spcAft>
                <a:spcPts val="200"/>
              </a:spcAft>
              <a:defRPr sz="1200" b="1">
                <a:solidFill>
                  <a:srgbClr val="1E8E3E"/>
                </a:solidFill>
                <a:latin typeface="Consolas"/>
              </a:defRPr>
            </a:pPr>
            <a:r>
              <a:t>Fidelity = 100% (all 3 datasets)</a:t>
            </a:r>
          </a:p>
          <a:p>
            <a:pPr>
              <a:spcAft>
                <a:spcPts val="200"/>
              </a:spcAft>
              <a:defRPr sz="1100" b="0">
                <a:solidFill>
                  <a:srgbClr val="1E8E3E"/>
                </a:solidFill>
                <a:latin typeface="Consolas"/>
              </a:defRPr>
            </a:pPr>
            <a:r>
              <a:t>Coverage = 100%, Opinion Rate = 100%</a:t>
            </a:r>
          </a:p>
        </p:txBody>
      </p:sp>
      <p:sp>
        <p:nvSpPr>
          <p:cNvPr id="6" name="TextBox 5"/>
          <p:cNvSpPr txBox="1"/>
          <p:nvPr/>
        </p:nvSpPr>
        <p:spPr>
          <a:xfrm>
            <a:off x="274320" y="4572000"/>
            <a:ext cx="5943600" cy="320040"/>
          </a:xfrm>
          <a:prstGeom prst="rect">
            <a:avLst/>
          </a:prstGeom>
          <a:noFill/>
        </p:spPr>
        <p:txBody>
          <a:bodyPr wrap="square">
            <a:spAutoFit/>
          </a:bodyPr>
          <a:lstStyle/>
          <a:p>
            <a:pPr algn="l">
              <a:defRPr sz="1300" b="1">
                <a:solidFill>
                  <a:srgbClr val="27AE60"/>
                </a:solidFill>
                <a:latin typeface="Calibri"/>
              </a:defRPr>
            </a:pPr>
            <a:r>
              <a:t>Runtime Safety Verification:</a:t>
            </a:r>
          </a:p>
        </p:txBody>
      </p:sp>
      <p:sp>
        <p:nvSpPr>
          <p:cNvPr id="7" name="TextBox 6"/>
          <p:cNvSpPr txBox="1"/>
          <p:nvPr/>
        </p:nvSpPr>
        <p:spPr>
          <a:xfrm>
            <a:off x="274320" y="4937760"/>
            <a:ext cx="5486400" cy="1371600"/>
          </a:xfrm>
          <a:prstGeom prst="rect">
            <a:avLst/>
          </a:prstGeom>
          <a:noFill/>
        </p:spPr>
        <p:txBody>
          <a:bodyPr wrap="square">
            <a:spAutoFit/>
          </a:bodyPr>
          <a:lstStyle/>
          <a:p>
            <a:pPr>
              <a:spcAft>
                <a:spcPts val="200"/>
              </a:spcAft>
              <a:defRPr sz="1100" b="1">
                <a:solidFill>
                  <a:srgbClr val="000000"/>
                </a:solidFill>
                <a:latin typeface="Consolas"/>
              </a:defRPr>
            </a:pPr>
            <a:r>
              <a:t>verify(x, a):</a:t>
            </a:r>
          </a:p>
          <a:p>
            <a:pPr>
              <a:spcAft>
                <a:spcPts val="200"/>
              </a:spcAft>
              <a:defRPr sz="1000" b="0">
                <a:solidFill>
                  <a:srgbClr val="000000"/>
                </a:solidFill>
                <a:latin typeface="Consolas"/>
              </a:defRPr>
            </a:pPr>
            <a:r>
              <a:t>  S = Solver(); S.add(C)</a:t>
            </a:r>
          </a:p>
          <a:p>
            <a:pPr>
              <a:spcAft>
                <a:spcPts val="200"/>
              </a:spcAft>
              <a:defRPr sz="1000" b="0">
                <a:solidFill>
                  <a:srgbClr val="000000"/>
                </a:solidFill>
                <a:latin typeface="Consolas"/>
              </a:defRPr>
            </a:pPr>
            <a:r>
              <a:t>  S.add(Real(f_j) == x_j  ∀j)</a:t>
            </a:r>
          </a:p>
          <a:p>
            <a:pPr>
              <a:spcAft>
                <a:spcPts val="200"/>
              </a:spcAft>
              <a:defRPr sz="1000" b="0">
                <a:solidFill>
                  <a:srgbClr val="000000"/>
                </a:solidFill>
                <a:latin typeface="Consolas"/>
              </a:defRPr>
            </a:pPr>
            <a:r>
              <a:t>  S.add(Int(action) == a_proposed)</a:t>
            </a:r>
          </a:p>
          <a:p>
            <a:pPr>
              <a:spcAft>
                <a:spcPts val="200"/>
              </a:spcAft>
              <a:defRPr sz="1000" b="0">
                <a:solidFill>
                  <a:srgbClr val="000000"/>
                </a:solidFill>
                <a:latin typeface="Consolas"/>
              </a:defRPr>
            </a:pPr>
            <a:r>
              <a:t>  return S.check() == sat</a:t>
            </a:r>
          </a:p>
          <a:p>
            <a:pPr>
              <a:spcAft>
                <a:spcPts val="200"/>
              </a:spcAft>
              <a:defRPr sz="900" b="0">
                <a:solidFill>
                  <a:srgbClr val="7F8C8D"/>
                </a:solidFill>
                <a:latin typeface="Consolas"/>
              </a:defRPr>
            </a:pPr>
            <a:r>
              <a:t>  Timeout: 500ms, cached by MD5(x)</a:t>
            </a:r>
          </a:p>
        </p:txBody>
      </p:sp>
      <p:sp>
        <p:nvSpPr>
          <p:cNvPr id="8" name="TextBox 7"/>
          <p:cNvSpPr txBox="1"/>
          <p:nvPr/>
        </p:nvSpPr>
        <p:spPr>
          <a:xfrm>
            <a:off x="274320" y="6217920"/>
            <a:ext cx="11430000" cy="365760"/>
          </a:xfrm>
          <a:prstGeom prst="rect">
            <a:avLst/>
          </a:prstGeom>
          <a:noFill/>
        </p:spPr>
        <p:txBody>
          <a:bodyPr wrap="square">
            <a:spAutoFit/>
          </a:bodyPr>
          <a:lstStyle/>
          <a:p>
            <a:pPr algn="ctr">
              <a:defRPr sz="1200" b="1">
                <a:solidFill>
                  <a:srgbClr val="2980B9"/>
                </a:solidFill>
                <a:latin typeface="Calibri"/>
              </a:defRPr>
            </a:pPr>
            <a:r>
              <a:t>Output:  Satisfiable constraint set C with provable safety guarantees    → Feeds into Stage 4 (safety shield) + Stage 5 (augmented with novel patterns)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4572000" cy="45720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Stage 4: Q-Learning with Z3 Safety Shielding</a:t>
            </a:r>
          </a:p>
        </p:txBody>
      </p:sp>
      <p:sp>
        <p:nvSpPr>
          <p:cNvPr id="3" name="TextBox 2"/>
          <p:cNvSpPr txBox="1"/>
          <p:nvPr/>
        </p:nvSpPr>
        <p:spPr>
          <a:xfrm>
            <a:off x="274320" y="731520"/>
            <a:ext cx="6400800" cy="4114800"/>
          </a:xfrm>
          <a:prstGeom prst="rect">
            <a:avLst/>
          </a:prstGeom>
          <a:noFill/>
        </p:spPr>
        <p:txBody>
          <a:bodyPr wrap="square">
            <a:spAutoFit/>
          </a:bodyPr>
          <a:lstStyle/>
          <a:p>
            <a:pPr>
              <a:spcAft>
                <a:spcPts val="200"/>
              </a:spcAft>
              <a:defRPr sz="1300" b="1">
                <a:solidFill>
                  <a:srgbClr val="E67E22"/>
                </a:solidFill>
                <a:latin typeface="Calibri"/>
              </a:defRPr>
            </a:pPr>
            <a:r>
              <a:t>Algorithm 4: Tabular Q-Learning + Symbolic Shield</a:t>
            </a:r>
          </a:p>
          <a:p>
            <a:pPr>
              <a:spcAft>
                <a:spcPts val="200"/>
              </a:spcAft>
              <a:defRPr sz="400" b="0">
                <a:solidFill>
                  <a:srgbClr val="000000"/>
                </a:solidFill>
                <a:latin typeface="Calibri"/>
              </a:defRPr>
            </a:pPr>
            <a:endParaRPr/>
          </a:p>
          <a:p>
            <a:pPr>
              <a:spcAft>
                <a:spcPts val="200"/>
              </a:spcAft>
              <a:defRPr sz="1100" b="1">
                <a:solidFill>
                  <a:srgbClr val="000000"/>
                </a:solidFill>
                <a:latin typeface="Calibri"/>
              </a:defRPr>
            </a:pPr>
            <a:r>
              <a:t>Input:  X_train, y_train, DT model T, constraint set C</a:t>
            </a:r>
          </a:p>
          <a:p>
            <a:pPr>
              <a:spcAft>
                <a:spcPts val="200"/>
              </a:spcAft>
              <a:defRPr sz="1100" b="0">
                <a:solidFill>
                  <a:srgbClr val="000000"/>
                </a:solidFill>
                <a:latin typeface="Calibri"/>
              </a:defRPr>
            </a:pPr>
            <a:r>
              <a:t>Init:  Q(s,a) ← 0 ∀s,a;  ε=0.20;  α=0.15;  γ=0.95</a:t>
            </a:r>
          </a:p>
          <a:p>
            <a:pPr>
              <a:spcAft>
                <a:spcPts val="200"/>
              </a:spcAft>
              <a:defRPr sz="1100" b="0">
                <a:solidFill>
                  <a:srgbClr val="7F8C8D"/>
                </a:solidFill>
                <a:latin typeface="Calibri"/>
              </a:defRPr>
            </a:pPr>
            <a:r>
              <a:t>Actions A = {ALLOW=0, BLOCK=1, UNKNOWN=2}</a:t>
            </a:r>
          </a:p>
          <a:p>
            <a:pPr>
              <a:spcAft>
                <a:spcPts val="200"/>
              </a:spcAft>
              <a:defRPr sz="400" b="0">
                <a:solidFill>
                  <a:srgbClr val="000000"/>
                </a:solidFill>
                <a:latin typeface="Calibri"/>
              </a:defRPr>
            </a:pPr>
            <a:endParaRPr/>
          </a:p>
          <a:p>
            <a:pPr>
              <a:spcAft>
                <a:spcPts val="200"/>
              </a:spcAft>
              <a:defRPr sz="1100" b="0">
                <a:solidFill>
                  <a:srgbClr val="000000"/>
                </a:solidFill>
                <a:latin typeface="Calibri"/>
              </a:defRPr>
            </a:pPr>
            <a:r>
              <a:t>for epoch = 1,...,10 do:</a:t>
            </a:r>
          </a:p>
          <a:p>
            <a:pPr>
              <a:spcAft>
                <a:spcPts val="200"/>
              </a:spcAft>
              <a:defRPr sz="1100" b="0">
                <a:solidFill>
                  <a:srgbClr val="000000"/>
                </a:solidFill>
                <a:latin typeface="Calibri"/>
              </a:defRPr>
            </a:pPr>
            <a:r>
              <a:t>  for each flow x_i do:</a:t>
            </a:r>
          </a:p>
          <a:p>
            <a:pPr>
              <a:spcAft>
                <a:spcPts val="200"/>
              </a:spcAft>
              <a:defRPr sz="1100" b="0">
                <a:solidFill>
                  <a:srgbClr val="000000"/>
                </a:solidFill>
                <a:latin typeface="Calibri"/>
              </a:defRPr>
            </a:pPr>
            <a:r>
              <a:t>    s_i ← leaf_T(x_i)    # DT leaf ID as state</a:t>
            </a:r>
          </a:p>
          <a:p>
            <a:pPr>
              <a:spcAft>
                <a:spcPts val="200"/>
              </a:spcAft>
              <a:defRPr sz="1000" b="0">
                <a:solidFill>
                  <a:srgbClr val="000000"/>
                </a:solidFill>
                <a:latin typeface="Calibri"/>
              </a:defRPr>
            </a:pPr>
            <a:r>
              <a:t>    a_prop ← random(A) w.p. ε;  argmax_a Q(s_i,a) w.p. 1-ε</a:t>
            </a:r>
          </a:p>
          <a:p>
            <a:pPr>
              <a:spcAft>
                <a:spcPts val="200"/>
              </a:spcAft>
              <a:defRPr sz="1000" b="0">
                <a:solidFill>
                  <a:srgbClr val="000000"/>
                </a:solidFill>
                <a:latin typeface="Calibri"/>
              </a:defRPr>
            </a:pPr>
            <a:r>
              <a:t>    if verify(x_i, a_prop) = false:</a:t>
            </a:r>
          </a:p>
          <a:p>
            <a:pPr>
              <a:spcAft>
                <a:spcPts val="200"/>
              </a:spcAft>
              <a:defRPr sz="1000" b="0">
                <a:solidFill>
                  <a:srgbClr val="C0392B"/>
                </a:solidFill>
                <a:latin typeface="Calibri"/>
              </a:defRPr>
            </a:pPr>
            <a:r>
              <a:t>      a_i ← argmax_{a ∈ A_safe} Q(s_i,a)</a:t>
            </a:r>
          </a:p>
          <a:p>
            <a:pPr>
              <a:spcAft>
                <a:spcPts val="200"/>
              </a:spcAft>
              <a:defRPr sz="1000" b="0">
                <a:solidFill>
                  <a:srgbClr val="C0392B"/>
                </a:solidFill>
                <a:latin typeface="Calibri"/>
              </a:defRPr>
            </a:pPr>
            <a:r>
              <a:t>      shield_activations += 1</a:t>
            </a:r>
          </a:p>
        </p:txBody>
      </p:sp>
      <p:pic>
        <p:nvPicPr>
          <p:cNvPr id="4" name="Picture 3" descr="image.png"/>
          <p:cNvPicPr>
            <a:picLocks noChangeAspect="1"/>
          </p:cNvPicPr>
          <p:nvPr/>
        </p:nvPicPr>
        <p:blipFill>
          <a:blip r:embed="rId3"/>
          <a:stretch>
            <a:fillRect/>
          </a:stretch>
        </p:blipFill>
        <p:spPr>
          <a:xfrm>
            <a:off x="274320" y="4206240"/>
            <a:ext cx="6400800" cy="506636"/>
          </a:xfrm>
          <a:prstGeom prst="rect">
            <a:avLst/>
          </a:prstGeom>
        </p:spPr>
      </p:pic>
      <p:sp>
        <p:nvSpPr>
          <p:cNvPr id="5" name="TextBox 4"/>
          <p:cNvSpPr txBox="1"/>
          <p:nvPr/>
        </p:nvSpPr>
        <p:spPr>
          <a:xfrm>
            <a:off x="6858000" y="731520"/>
            <a:ext cx="5029200" cy="320040"/>
          </a:xfrm>
          <a:prstGeom prst="rect">
            <a:avLst/>
          </a:prstGeom>
          <a:noFill/>
        </p:spPr>
        <p:txBody>
          <a:bodyPr wrap="square">
            <a:spAutoFit/>
          </a:bodyPr>
          <a:lstStyle/>
          <a:p>
            <a:pPr algn="l">
              <a:defRPr sz="1400" b="1">
                <a:solidFill>
                  <a:srgbClr val="E67E22"/>
                </a:solidFill>
                <a:latin typeface="Calibri"/>
              </a:defRPr>
            </a:pPr>
            <a:r>
              <a:t>Reward Function R(a, y):</a:t>
            </a:r>
          </a:p>
        </p:txBody>
      </p:sp>
      <p:sp>
        <p:nvSpPr>
          <p:cNvPr id="6" name="TextBox 5"/>
          <p:cNvSpPr txBox="1"/>
          <p:nvPr/>
        </p:nvSpPr>
        <p:spPr>
          <a:xfrm>
            <a:off x="6858000" y="1097280"/>
            <a:ext cx="5029200" cy="4572000"/>
          </a:xfrm>
          <a:prstGeom prst="rect">
            <a:avLst/>
          </a:prstGeom>
          <a:noFill/>
        </p:spPr>
        <p:txBody>
          <a:bodyPr wrap="square">
            <a:spAutoFit/>
          </a:bodyPr>
          <a:lstStyle/>
          <a:p>
            <a:pPr>
              <a:spcAft>
                <a:spcPts val="200"/>
              </a:spcAft>
              <a:defRPr sz="1000" b="0">
                <a:solidFill>
                  <a:srgbClr val="1E8E3E"/>
                </a:solidFill>
                <a:latin typeface="Consolas"/>
              </a:defRPr>
            </a:pPr>
            <a:r>
              <a:t>TP: a=BLOCK, y=1   R = +2.0 (+0.5 if shielded)</a:t>
            </a:r>
          </a:p>
          <a:p>
            <a:pPr>
              <a:spcAft>
                <a:spcPts val="200"/>
              </a:spcAft>
              <a:defRPr sz="1000" b="0">
                <a:solidFill>
                  <a:srgbClr val="C0392B"/>
                </a:solidFill>
                <a:latin typeface="Consolas"/>
              </a:defRPr>
            </a:pPr>
            <a:r>
              <a:t>FN: a=ALLOW, y=1   R = -3.0  (asymmetric penalty)</a:t>
            </a:r>
          </a:p>
          <a:p>
            <a:pPr>
              <a:spcAft>
                <a:spcPts val="200"/>
              </a:spcAft>
              <a:defRPr sz="1000" b="0">
                <a:solidFill>
                  <a:srgbClr val="1E8E3E"/>
                </a:solidFill>
                <a:latin typeface="Consolas"/>
              </a:defRPr>
            </a:pPr>
            <a:r>
              <a:t>TN: a=ALLOW, y=0   R = +1.0</a:t>
            </a:r>
          </a:p>
          <a:p>
            <a:pPr>
              <a:spcAft>
                <a:spcPts val="200"/>
              </a:spcAft>
              <a:defRPr sz="1000" b="0">
                <a:solidFill>
                  <a:srgbClr val="C0392B"/>
                </a:solidFill>
                <a:latin typeface="Consolas"/>
              </a:defRPr>
            </a:pPr>
            <a:r>
              <a:t>FP: a=BLOCK, y=0   R = -1.0</a:t>
            </a:r>
          </a:p>
          <a:p>
            <a:pPr>
              <a:spcAft>
                <a:spcPts val="200"/>
              </a:spcAft>
              <a:defRPr sz="1000" b="0">
                <a:solidFill>
                  <a:srgbClr val="7F8C8D"/>
                </a:solidFill>
                <a:latin typeface="Consolas"/>
              </a:defRPr>
            </a:pPr>
            <a:r>
              <a:t>UNK: a=UNK,  y=1   R = +0.5</a:t>
            </a:r>
          </a:p>
          <a:p>
            <a:pPr>
              <a:spcAft>
                <a:spcPts val="200"/>
              </a:spcAft>
              <a:defRPr sz="1000" b="0">
                <a:solidFill>
                  <a:srgbClr val="7F8C8D"/>
                </a:solidFill>
                <a:latin typeface="Consolas"/>
              </a:defRPr>
            </a:pPr>
            <a:r>
              <a:t>UNK: a=UNK,  y=0   R =  0.0</a:t>
            </a:r>
          </a:p>
          <a:p>
            <a:pPr>
              <a:spcAft>
                <a:spcPts val="200"/>
              </a:spcAft>
              <a:defRPr sz="600" b="0">
                <a:solidFill>
                  <a:srgbClr val="000000"/>
                </a:solidFill>
                <a:latin typeface="Consolas"/>
              </a:defRPr>
            </a:pPr>
            <a:endParaRPr/>
          </a:p>
          <a:p>
            <a:pPr>
              <a:spcAft>
                <a:spcPts val="200"/>
              </a:spcAft>
              <a:defRPr sz="1200" b="1">
                <a:solidFill>
                  <a:srgbClr val="E67E22"/>
                </a:solidFill>
                <a:latin typeface="Consolas"/>
              </a:defRPr>
            </a:pPr>
            <a:r>
              <a:t>Per-Dataset Training Output:</a:t>
            </a:r>
          </a:p>
          <a:p>
            <a:pPr>
              <a:spcAft>
                <a:spcPts val="200"/>
              </a:spcAft>
              <a:defRPr sz="400" b="0">
                <a:solidFill>
                  <a:srgbClr val="000000"/>
                </a:solidFill>
                <a:latin typeface="Consolas"/>
              </a:defRPr>
            </a:pPr>
            <a:endParaRPr/>
          </a:p>
          <a:p>
            <a:pPr>
              <a:spcAft>
                <a:spcPts val="200"/>
              </a:spcAft>
              <a:defRPr sz="1000" b="0">
                <a:solidFill>
                  <a:srgbClr val="000000"/>
                </a:solidFill>
                <a:latin typeface="Consolas"/>
              </a:defRPr>
            </a:pPr>
            <a:r>
              <a:t>UNSW-NB15:  Q-table: 63 states × 3 actions</a:t>
            </a:r>
          </a:p>
          <a:p>
            <a:pPr>
              <a:spcAft>
                <a:spcPts val="200"/>
              </a:spcAft>
              <a:defRPr sz="1000" b="0">
                <a:solidFill>
                  <a:srgbClr val="7F8C8D"/>
                </a:solidFill>
                <a:latin typeface="Consolas"/>
              </a:defRPr>
            </a:pPr>
            <a:r>
              <a:t>  ε decayed 0.20 → 0.01 over 10 epochs</a:t>
            </a:r>
          </a:p>
          <a:p>
            <a:pPr>
              <a:spcAft>
                <a:spcPts val="200"/>
              </a:spcAft>
              <a:defRPr sz="1000" b="0">
                <a:solidFill>
                  <a:srgbClr val="7F8C8D"/>
                </a:solidFill>
                <a:latin typeface="Consolas"/>
              </a:defRPr>
            </a:pPr>
            <a:r>
              <a:t>  Shield activations: &gt;0 (safety ensured)</a:t>
            </a:r>
          </a:p>
          <a:p>
            <a:pPr>
              <a:spcAft>
                <a:spcPts val="200"/>
              </a:spcAft>
              <a:defRPr sz="400" b="0">
                <a:solidFill>
                  <a:srgbClr val="000000"/>
                </a:solidFill>
                <a:latin typeface="Consolas"/>
              </a:defRPr>
            </a:pPr>
            <a:endParaRPr/>
          </a:p>
          <a:p>
            <a:pPr>
              <a:spcAft>
                <a:spcPts val="200"/>
              </a:spcAft>
              <a:defRPr sz="1000" b="0">
                <a:solidFill>
                  <a:srgbClr val="000000"/>
                </a:solidFill>
                <a:latin typeface="Consolas"/>
              </a:defRPr>
            </a:pPr>
            <a:r>
              <a:t>CSE-CIC-2018: Q-table: 58 states × 3 actions</a:t>
            </a:r>
          </a:p>
          <a:p>
            <a:pPr>
              <a:spcAft>
                <a:spcPts val="200"/>
              </a:spcAft>
              <a:defRPr sz="1000" b="0">
                <a:solidFill>
                  <a:srgbClr val="000000"/>
                </a:solidFill>
                <a:latin typeface="Consolas"/>
              </a:defRPr>
            </a:pPr>
            <a:r>
              <a:t>CIC-IDS2017:  Q-table: 61 states × 3 actions</a:t>
            </a:r>
          </a:p>
        </p:txBody>
      </p:sp>
      <p:sp>
        <p:nvSpPr>
          <p:cNvPr id="7" name="TextBox 6"/>
          <p:cNvSpPr txBox="1"/>
          <p:nvPr/>
        </p:nvSpPr>
        <p:spPr>
          <a:xfrm>
            <a:off x="274320" y="5486400"/>
            <a:ext cx="11430000" cy="457200"/>
          </a:xfrm>
          <a:prstGeom prst="rect">
            <a:avLst/>
          </a:prstGeom>
          <a:noFill/>
        </p:spPr>
        <p:txBody>
          <a:bodyPr wrap="square">
            <a:spAutoFit/>
          </a:bodyPr>
          <a:lstStyle/>
          <a:p>
            <a:pPr algn="ctr">
              <a:defRPr sz="1200" b="1">
                <a:solidFill>
                  <a:srgbClr val="2980B9"/>
                </a:solidFill>
                <a:latin typeface="Calibri"/>
              </a:defRPr>
            </a:pPr>
            <a:r>
              <a:t>Output:  Trained Q-table Q(s,a) with Z3-verified safe actions.  Misclassified flows logged for DBSCAN.</a:t>
            </a:r>
            <a:br/>
            <a:r>
              <a:t>→ Feeds into Stage 5 (misclassifications) + Stage 8 (test predictions)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4572000" cy="4572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Stage 5: DBSCAN Novel Attack Pattern Detection</a:t>
            </a:r>
          </a:p>
        </p:txBody>
      </p:sp>
      <p:sp>
        <p:nvSpPr>
          <p:cNvPr id="3" name="TextBox 2"/>
          <p:cNvSpPr txBox="1"/>
          <p:nvPr/>
        </p:nvSpPr>
        <p:spPr>
          <a:xfrm>
            <a:off x="274320" y="731520"/>
            <a:ext cx="6400800" cy="4389120"/>
          </a:xfrm>
          <a:prstGeom prst="rect">
            <a:avLst/>
          </a:prstGeom>
          <a:noFill/>
        </p:spPr>
        <p:txBody>
          <a:bodyPr wrap="square">
            <a:spAutoFit/>
          </a:bodyPr>
          <a:lstStyle/>
          <a:p>
            <a:pPr>
              <a:spcAft>
                <a:spcPts val="200"/>
              </a:spcAft>
              <a:defRPr sz="1300" b="1">
                <a:solidFill>
                  <a:srgbClr val="C0392B"/>
                </a:solidFill>
                <a:latin typeface="Calibri"/>
              </a:defRPr>
            </a:pPr>
            <a:r>
              <a:t>Algorithm 5: Density-Based Novel Pattern Discovery</a:t>
            </a:r>
          </a:p>
          <a:p>
            <a:pPr>
              <a:spcAft>
                <a:spcPts val="200"/>
              </a:spcAft>
              <a:defRPr sz="400" b="0">
                <a:solidFill>
                  <a:srgbClr val="000000"/>
                </a:solidFill>
                <a:latin typeface="Calibri"/>
              </a:defRPr>
            </a:pPr>
            <a:endParaRPr/>
          </a:p>
          <a:p>
            <a:pPr>
              <a:spcAft>
                <a:spcPts val="200"/>
              </a:spcAft>
              <a:defRPr sz="1100" b="1">
                <a:solidFill>
                  <a:srgbClr val="000000"/>
                </a:solidFill>
                <a:latin typeface="Calibri"/>
              </a:defRPr>
            </a:pPr>
            <a:r>
              <a:t>Input:  Misclassified samples M = {(x_i, â_i, a*_i) : â_i ≠ a*_i}</a:t>
            </a:r>
          </a:p>
          <a:p>
            <a:pPr>
              <a:spcAft>
                <a:spcPts val="200"/>
              </a:spcAft>
              <a:defRPr sz="1100" b="0">
                <a:solidFill>
                  <a:srgbClr val="7F8C8D"/>
                </a:solidFill>
                <a:latin typeface="Calibri"/>
              </a:defRPr>
            </a:pPr>
            <a:r>
              <a:t>Hyperparams: ε=1.5, min_samples=5, buffer=1000</a:t>
            </a:r>
          </a:p>
          <a:p>
            <a:pPr>
              <a:spcAft>
                <a:spcPts val="200"/>
              </a:spcAft>
              <a:defRPr sz="400" b="0">
                <a:solidFill>
                  <a:srgbClr val="000000"/>
                </a:solidFill>
                <a:latin typeface="Calibri"/>
              </a:defRPr>
            </a:pPr>
            <a:endParaRPr/>
          </a:p>
          <a:p>
            <a:pPr>
              <a:spcAft>
                <a:spcPts val="200"/>
              </a:spcAft>
              <a:defRPr sz="1100" b="0">
                <a:solidFill>
                  <a:srgbClr val="000000"/>
                </a:solidFill>
                <a:latin typeface="Calibri"/>
              </a:defRPr>
            </a:pPr>
            <a:r>
              <a:t>X_M ← feature vectors of misclassified flows</a:t>
            </a:r>
          </a:p>
          <a:p>
            <a:pPr>
              <a:spcAft>
                <a:spcPts val="200"/>
              </a:spcAft>
              <a:defRPr sz="1100" b="0">
                <a:solidFill>
                  <a:srgbClr val="000000"/>
                </a:solidFill>
                <a:latin typeface="Calibri"/>
              </a:defRPr>
            </a:pPr>
            <a:r>
              <a:t>labels ← DBSCAN(X_M, ε=1.5, minPts=5)</a:t>
            </a:r>
          </a:p>
          <a:p>
            <a:pPr>
              <a:spcAft>
                <a:spcPts val="200"/>
              </a:spcAft>
              <a:defRPr sz="400" b="0">
                <a:solidFill>
                  <a:srgbClr val="000000"/>
                </a:solidFill>
                <a:latin typeface="Calibri"/>
              </a:defRPr>
            </a:pPr>
            <a:endParaRPr/>
          </a:p>
          <a:p>
            <a:pPr>
              <a:spcAft>
                <a:spcPts val="200"/>
              </a:spcAft>
              <a:defRPr sz="1100" b="0">
                <a:solidFill>
                  <a:srgbClr val="000000"/>
                </a:solidFill>
                <a:latin typeface="Calibri"/>
              </a:defRPr>
            </a:pPr>
            <a:r>
              <a:t>for each cluster C_k (k ≠ noise) do:</a:t>
            </a:r>
          </a:p>
          <a:p>
            <a:pPr>
              <a:spcAft>
                <a:spcPts val="200"/>
              </a:spcAft>
              <a:defRPr sz="1100" b="0">
                <a:solidFill>
                  <a:srgbClr val="000000"/>
                </a:solidFill>
                <a:latin typeface="Calibri"/>
              </a:defRPr>
            </a:pPr>
            <a:r>
              <a:t>  μ_k = mean(C_k)   (cluster centroid)</a:t>
            </a:r>
          </a:p>
          <a:p>
            <a:pPr>
              <a:spcAft>
                <a:spcPts val="200"/>
              </a:spcAft>
              <a:defRPr sz="1100" b="0">
                <a:solidFill>
                  <a:srgbClr val="000000"/>
                </a:solidFill>
                <a:latin typeface="Calibri"/>
              </a:defRPr>
            </a:pPr>
            <a:r>
              <a:t>  Generate Z3 constraint:</a:t>
            </a:r>
          </a:p>
          <a:p>
            <a:pPr>
              <a:spcAft>
                <a:spcPts val="200"/>
              </a:spcAft>
              <a:defRPr sz="1000" b="0">
                <a:solidFill>
                  <a:srgbClr val="7F8C8D"/>
                </a:solidFill>
                <a:latin typeface="Calibri"/>
              </a:defRPr>
            </a:pPr>
            <a:r>
              <a:t>    ∧_j (f_j ≤ 1.1·μ_{k,j}) ∧ (f_j &gt; 0.9·μ_{k,j})</a:t>
            </a:r>
          </a:p>
          <a:p>
            <a:pPr>
              <a:spcAft>
                <a:spcPts val="200"/>
              </a:spcAft>
              <a:defRPr sz="1000" b="0">
                <a:solidFill>
                  <a:srgbClr val="7F8C8D"/>
                </a:solidFill>
                <a:latin typeface="Calibri"/>
              </a:defRPr>
            </a:pPr>
            <a:r>
              <a:t>      ⇒ action = BLOCK</a:t>
            </a:r>
          </a:p>
          <a:p>
            <a:pPr>
              <a:spcAft>
                <a:spcPts val="200"/>
              </a:spcAft>
              <a:defRPr sz="1100" b="0">
                <a:solidFill>
                  <a:srgbClr val="000000"/>
                </a:solidFill>
                <a:latin typeface="Calibri"/>
              </a:defRPr>
            </a:pPr>
            <a:r>
              <a:t>  C ← C ∪ {φ_novel,k}</a:t>
            </a:r>
          </a:p>
        </p:txBody>
      </p:sp>
      <p:pic>
        <p:nvPicPr>
          <p:cNvPr id="4" name="Picture 3" descr="image.png"/>
          <p:cNvPicPr>
            <a:picLocks noChangeAspect="1"/>
          </p:cNvPicPr>
          <p:nvPr/>
        </p:nvPicPr>
        <p:blipFill>
          <a:blip r:embed="rId3"/>
          <a:stretch>
            <a:fillRect/>
          </a:stretch>
        </p:blipFill>
        <p:spPr>
          <a:xfrm>
            <a:off x="274320" y="4572000"/>
            <a:ext cx="7315200" cy="579012"/>
          </a:xfrm>
          <a:prstGeom prst="rect">
            <a:avLst/>
          </a:prstGeom>
        </p:spPr>
      </p:pic>
      <p:sp>
        <p:nvSpPr>
          <p:cNvPr id="5" name="TextBox 4"/>
          <p:cNvSpPr txBox="1"/>
          <p:nvPr/>
        </p:nvSpPr>
        <p:spPr>
          <a:xfrm>
            <a:off x="6858000" y="731520"/>
            <a:ext cx="5029200" cy="320040"/>
          </a:xfrm>
          <a:prstGeom prst="rect">
            <a:avLst/>
          </a:prstGeom>
          <a:noFill/>
        </p:spPr>
        <p:txBody>
          <a:bodyPr wrap="square">
            <a:spAutoFit/>
          </a:bodyPr>
          <a:lstStyle/>
          <a:p>
            <a:pPr algn="l">
              <a:defRPr sz="1400" b="1">
                <a:solidFill>
                  <a:srgbClr val="C0392B"/>
                </a:solidFill>
                <a:latin typeface="Calibri"/>
              </a:defRPr>
            </a:pPr>
            <a:r>
              <a:t>Per-Dataset Output:</a:t>
            </a:r>
          </a:p>
        </p:txBody>
      </p:sp>
      <p:sp>
        <p:nvSpPr>
          <p:cNvPr id="6" name="TextBox 5"/>
          <p:cNvSpPr txBox="1"/>
          <p:nvPr/>
        </p:nvSpPr>
        <p:spPr>
          <a:xfrm>
            <a:off x="6858000" y="1097280"/>
            <a:ext cx="5029200" cy="4572000"/>
          </a:xfrm>
          <a:prstGeom prst="rect">
            <a:avLst/>
          </a:prstGeom>
          <a:noFill/>
        </p:spPr>
        <p:txBody>
          <a:bodyPr wrap="square">
            <a:spAutoFit/>
          </a:bodyPr>
          <a:lstStyle/>
          <a:p>
            <a:pPr>
              <a:spcAft>
                <a:spcPts val="200"/>
              </a:spcAft>
              <a:defRPr sz="1200" b="1">
                <a:solidFill>
                  <a:srgbClr val="000000"/>
                </a:solidFill>
                <a:latin typeface="Consolas"/>
              </a:defRPr>
            </a:pPr>
            <a:r>
              <a:t>UNSW-NB15:</a:t>
            </a:r>
          </a:p>
          <a:p>
            <a:pPr>
              <a:spcAft>
                <a:spcPts val="200"/>
              </a:spcAft>
              <a:defRPr sz="1000" b="0">
                <a:solidFill>
                  <a:srgbClr val="000000"/>
                </a:solidFill>
                <a:latin typeface="Consolas"/>
              </a:defRPr>
            </a:pPr>
            <a:r>
              <a:t>  Misclassified buffer: ~1000 flows</a:t>
            </a:r>
          </a:p>
          <a:p>
            <a:pPr>
              <a:spcAft>
                <a:spcPts val="200"/>
              </a:spcAft>
              <a:defRPr sz="1000" b="0">
                <a:solidFill>
                  <a:srgbClr val="000000"/>
                </a:solidFill>
                <a:latin typeface="Consolas"/>
              </a:defRPr>
            </a:pPr>
            <a:r>
              <a:t>  Novel clusters found: 2-5 centroids</a:t>
            </a:r>
          </a:p>
          <a:p>
            <a:pPr>
              <a:spcAft>
                <a:spcPts val="200"/>
              </a:spcAft>
              <a:defRPr sz="1000" b="0">
                <a:solidFill>
                  <a:srgbClr val="2980B9"/>
                </a:solidFill>
                <a:latin typeface="Consolas"/>
              </a:defRPr>
            </a:pPr>
            <a:r>
              <a:t>  New constraints added to C</a:t>
            </a:r>
          </a:p>
          <a:p>
            <a:pPr>
              <a:spcAft>
                <a:spcPts val="200"/>
              </a:spcAft>
              <a:defRPr sz="1000" b="0">
                <a:solidFill>
                  <a:srgbClr val="7F8C8D"/>
                </a:solidFill>
                <a:latin typeface="Consolas"/>
              </a:defRPr>
            </a:pPr>
            <a:r>
              <a:t>  Example novel centroid:</a:t>
            </a:r>
          </a:p>
          <a:p>
            <a:pPr>
              <a:spcAft>
                <a:spcPts val="200"/>
              </a:spcAft>
              <a:defRPr sz="900" b="0">
                <a:solidFill>
                  <a:srgbClr val="7F8C8D"/>
                </a:solidFill>
                <a:latin typeface="Consolas"/>
              </a:defRPr>
            </a:pPr>
            <a:r>
              <a:t>    [μ_dur=0.8, μ_pkt=-0.2, μ_byte=1.5,</a:t>
            </a:r>
          </a:p>
          <a:p>
            <a:pPr>
              <a:spcAft>
                <a:spcPts val="200"/>
              </a:spcAft>
              <a:defRPr sz="900" b="0">
                <a:solidFill>
                  <a:srgbClr val="7F8C8D"/>
                </a:solidFill>
                <a:latin typeface="Consolas"/>
              </a:defRPr>
            </a:pPr>
            <a:r>
              <a:t>     μ_ent=0.9, ...]</a:t>
            </a:r>
          </a:p>
          <a:p>
            <a:pPr>
              <a:spcAft>
                <a:spcPts val="200"/>
              </a:spcAft>
              <a:defRPr sz="900" b="0">
                <a:solidFill>
                  <a:srgbClr val="C0392B"/>
                </a:solidFill>
                <a:latin typeface="Consolas"/>
              </a:defRPr>
            </a:pPr>
            <a:r>
              <a:t>    → Previously unseen attack signature</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CSE-CIC-2018:</a:t>
            </a:r>
          </a:p>
          <a:p>
            <a:pPr>
              <a:spcAft>
                <a:spcPts val="200"/>
              </a:spcAft>
              <a:defRPr sz="1000" b="0">
                <a:solidFill>
                  <a:srgbClr val="000000"/>
                </a:solidFill>
                <a:latin typeface="Consolas"/>
              </a:defRPr>
            </a:pPr>
            <a:r>
              <a:t>  Novel clusters: 1-3 centroids</a:t>
            </a:r>
          </a:p>
          <a:p>
            <a:pPr>
              <a:spcAft>
                <a:spcPts val="200"/>
              </a:spcAft>
              <a:defRPr sz="1000" b="0">
                <a:solidFill>
                  <a:srgbClr val="7F8C8D"/>
                </a:solidFill>
                <a:latin typeface="Consolas"/>
              </a:defRPr>
            </a:pPr>
            <a:r>
              <a:t>  Triggered every 3 epochs</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CIC-IDS2017:</a:t>
            </a:r>
          </a:p>
          <a:p>
            <a:pPr>
              <a:spcAft>
                <a:spcPts val="200"/>
              </a:spcAft>
              <a:defRPr sz="1000" b="0">
                <a:solidFill>
                  <a:srgbClr val="000000"/>
                </a:solidFill>
                <a:latin typeface="Consolas"/>
              </a:defRPr>
            </a:pPr>
            <a:r>
              <a:t>  Novel clusters: 2-4 centroids</a:t>
            </a:r>
          </a:p>
          <a:p>
            <a:pPr>
              <a:spcAft>
                <a:spcPts val="200"/>
              </a:spcAft>
              <a:defRPr sz="1000" b="0">
                <a:solidFill>
                  <a:srgbClr val="7F8C8D"/>
                </a:solidFill>
                <a:latin typeface="Consolas"/>
              </a:defRPr>
            </a:pPr>
            <a:r>
              <a:t>  Zero-day signature discovery</a:t>
            </a:r>
          </a:p>
        </p:txBody>
      </p:sp>
      <p:sp>
        <p:nvSpPr>
          <p:cNvPr id="7" name="TextBox 6"/>
          <p:cNvSpPr txBox="1"/>
          <p:nvPr/>
        </p:nvSpPr>
        <p:spPr>
          <a:xfrm>
            <a:off x="274320" y="6217920"/>
            <a:ext cx="11430000" cy="365760"/>
          </a:xfrm>
          <a:prstGeom prst="rect">
            <a:avLst/>
          </a:prstGeom>
          <a:noFill/>
        </p:spPr>
        <p:txBody>
          <a:bodyPr wrap="square">
            <a:spAutoFit/>
          </a:bodyPr>
          <a:lstStyle/>
          <a:p>
            <a:pPr algn="ctr">
              <a:defRPr sz="1200" b="1">
                <a:solidFill>
                  <a:srgbClr val="2980B9"/>
                </a:solidFill>
                <a:latin typeface="Calibri"/>
              </a:defRPr>
            </a:pPr>
            <a:r>
              <a:t>Output:  Updated C' = C ∪ C_novel  with novel attack signatures    → Feeds back into Stage 3 (constraint augmentation) every 3 epochs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4114800" cy="457200"/>
          </a:xfrm>
          <a:prstGeom prst="round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Stage 6: Adaptive Buffer Management</a:t>
            </a:r>
          </a:p>
        </p:txBody>
      </p:sp>
      <p:sp>
        <p:nvSpPr>
          <p:cNvPr id="3" name="TextBox 2"/>
          <p:cNvSpPr txBox="1"/>
          <p:nvPr/>
        </p:nvSpPr>
        <p:spPr>
          <a:xfrm>
            <a:off x="274320" y="731520"/>
            <a:ext cx="6400800" cy="4754880"/>
          </a:xfrm>
          <a:prstGeom prst="rect">
            <a:avLst/>
          </a:prstGeom>
          <a:noFill/>
        </p:spPr>
        <p:txBody>
          <a:bodyPr wrap="square">
            <a:spAutoFit/>
          </a:bodyPr>
          <a:lstStyle/>
          <a:p>
            <a:pPr>
              <a:spcAft>
                <a:spcPts val="200"/>
              </a:spcAft>
              <a:defRPr sz="1300" b="1">
                <a:solidFill>
                  <a:srgbClr val="2980B9"/>
                </a:solidFill>
                <a:latin typeface="Calibri"/>
              </a:defRPr>
            </a:pPr>
            <a:r>
              <a:t>Algorithm 6: RL-Controlled Dynamic Buffer Resizing</a:t>
            </a:r>
          </a:p>
          <a:p>
            <a:pPr>
              <a:spcAft>
                <a:spcPts val="200"/>
              </a:spcAft>
              <a:defRPr sz="400" b="0">
                <a:solidFill>
                  <a:srgbClr val="000000"/>
                </a:solidFill>
                <a:latin typeface="Calibri"/>
              </a:defRPr>
            </a:pPr>
            <a:endParaRPr/>
          </a:p>
          <a:p>
            <a:pPr>
              <a:spcAft>
                <a:spcPts val="200"/>
              </a:spcAft>
              <a:defRPr sz="1100" b="1">
                <a:solidFill>
                  <a:srgbClr val="000000"/>
                </a:solidFill>
                <a:latin typeface="Calibri"/>
              </a:defRPr>
            </a:pPr>
            <a:r>
              <a:t>Input:  Window W_t of |B_t| flows, current buffer size |B_t|</a:t>
            </a:r>
          </a:p>
          <a:p>
            <a:pPr>
              <a:spcAft>
                <a:spcPts val="200"/>
              </a:spcAft>
              <a:defRPr sz="1100" b="0">
                <a:solidFill>
                  <a:srgbClr val="7F8C8D"/>
                </a:solidFill>
                <a:latin typeface="Calibri"/>
              </a:defRPr>
            </a:pPr>
            <a:r>
              <a:t>Bounds: MIN_BUFFER=10,  MAX_BUFFER=200,  INIT=20</a:t>
            </a:r>
          </a:p>
          <a:p>
            <a:pPr>
              <a:spcAft>
                <a:spcPts val="200"/>
              </a:spcAft>
              <a:defRPr sz="400" b="0">
                <a:solidFill>
                  <a:srgbClr val="000000"/>
                </a:solidFill>
                <a:latin typeface="Calibri"/>
              </a:defRPr>
            </a:pPr>
            <a:endParaRPr/>
          </a:p>
          <a:p>
            <a:pPr>
              <a:spcAft>
                <a:spcPts val="200"/>
              </a:spcAft>
              <a:defRPr sz="1100" b="0">
                <a:solidFill>
                  <a:srgbClr val="000000"/>
                </a:solidFill>
                <a:latin typeface="Calibri"/>
              </a:defRPr>
            </a:pPr>
            <a:r>
              <a:t>σ_H ← std(W_t[:, entropy])</a:t>
            </a:r>
          </a:p>
          <a:p>
            <a:pPr>
              <a:spcAft>
                <a:spcPts val="200"/>
              </a:spcAft>
              <a:defRPr sz="1100" b="0">
                <a:solidFill>
                  <a:srgbClr val="000000"/>
                </a:solidFill>
                <a:latin typeface="Calibri"/>
              </a:defRPr>
            </a:pPr>
            <a:r>
              <a:t>σ²_b ← var(W_t[:, byte_rate])</a:t>
            </a:r>
          </a:p>
          <a:p>
            <a:pPr>
              <a:spcAft>
                <a:spcPts val="200"/>
              </a:spcAft>
              <a:defRPr sz="400" b="0">
                <a:solidFill>
                  <a:srgbClr val="000000"/>
                </a:solidFill>
                <a:latin typeface="Calibri"/>
              </a:defRPr>
            </a:pPr>
            <a:endParaRPr/>
          </a:p>
          <a:p>
            <a:pPr>
              <a:spcAft>
                <a:spcPts val="200"/>
              </a:spcAft>
              <a:defRPr sz="1100" b="1">
                <a:solidFill>
                  <a:srgbClr val="000000"/>
                </a:solidFill>
                <a:latin typeface="Calibri"/>
              </a:defRPr>
            </a:pPr>
            <a:r>
              <a:t>|B_{t+1}| =</a:t>
            </a:r>
          </a:p>
          <a:p>
            <a:pPr>
              <a:spcAft>
                <a:spcPts val="200"/>
              </a:spcAft>
              <a:defRPr sz="1000" b="0">
                <a:solidFill>
                  <a:srgbClr val="000000"/>
                </a:solidFill>
                <a:latin typeface="Calibri"/>
              </a:defRPr>
            </a:pPr>
            <a:r>
              <a:t>  max(|B_t| - 5,  10)    if σ_H &gt; 0.8 or σ²_b &gt; 2.0</a:t>
            </a:r>
          </a:p>
          <a:p>
            <a:pPr>
              <a:spcAft>
                <a:spcPts val="200"/>
              </a:spcAft>
              <a:defRPr sz="900" b="0">
                <a:solidFill>
                  <a:srgbClr val="7F8C8D"/>
                </a:solidFill>
                <a:latin typeface="Calibri"/>
              </a:defRPr>
            </a:pPr>
            <a:r>
              <a:t>                          (high variance → shrink for faster react)</a:t>
            </a:r>
          </a:p>
          <a:p>
            <a:pPr>
              <a:spcAft>
                <a:spcPts val="200"/>
              </a:spcAft>
              <a:defRPr sz="1000" b="0">
                <a:solidFill>
                  <a:srgbClr val="000000"/>
                </a:solidFill>
                <a:latin typeface="Calibri"/>
              </a:defRPr>
            </a:pPr>
            <a:r>
              <a:t>  min(|B_t| + 10, 200)   if σ_H &lt; 0.3 and σ²_b &lt; 0.5</a:t>
            </a:r>
          </a:p>
          <a:p>
            <a:pPr>
              <a:spcAft>
                <a:spcPts val="200"/>
              </a:spcAft>
              <a:defRPr sz="900" b="0">
                <a:solidFill>
                  <a:srgbClr val="7F8C8D"/>
                </a:solidFill>
                <a:latin typeface="Calibri"/>
              </a:defRPr>
            </a:pPr>
            <a:r>
              <a:t>                          (stable traffic → grow for stability)</a:t>
            </a:r>
          </a:p>
          <a:p>
            <a:pPr>
              <a:spcAft>
                <a:spcPts val="200"/>
              </a:spcAft>
              <a:defRPr sz="1000" b="0">
                <a:solidFill>
                  <a:srgbClr val="000000"/>
                </a:solidFill>
                <a:latin typeface="Calibri"/>
              </a:defRPr>
            </a:pPr>
            <a:r>
              <a:t>  max(|B_t| - 3,  10)    if acc_t &lt; 0.8</a:t>
            </a:r>
          </a:p>
          <a:p>
            <a:pPr>
              <a:spcAft>
                <a:spcPts val="200"/>
              </a:spcAft>
              <a:defRPr sz="900" b="0">
                <a:solidFill>
                  <a:srgbClr val="7F8C8D"/>
                </a:solidFill>
                <a:latin typeface="Calibri"/>
              </a:defRPr>
            </a:pPr>
            <a:r>
              <a:t>                          (poor accuracy → shrink)</a:t>
            </a:r>
          </a:p>
          <a:p>
            <a:pPr>
              <a:spcAft>
                <a:spcPts val="200"/>
              </a:spcAft>
              <a:defRPr sz="1000" b="0">
                <a:solidFill>
                  <a:srgbClr val="000000"/>
                </a:solidFill>
                <a:latin typeface="Calibri"/>
              </a:defRPr>
            </a:pPr>
            <a:r>
              <a:t>  |B_t|                   otherwise</a:t>
            </a:r>
          </a:p>
        </p:txBody>
      </p:sp>
      <p:pic>
        <p:nvPicPr>
          <p:cNvPr id="4" name="Picture 3" descr="image.png"/>
          <p:cNvPicPr>
            <a:picLocks noChangeAspect="1"/>
          </p:cNvPicPr>
          <p:nvPr/>
        </p:nvPicPr>
        <p:blipFill>
          <a:blip r:embed="rId3"/>
          <a:stretch>
            <a:fillRect/>
          </a:stretch>
        </p:blipFill>
        <p:spPr>
          <a:xfrm>
            <a:off x="274320" y="4754880"/>
            <a:ext cx="6400800" cy="1036320"/>
          </a:xfrm>
          <a:prstGeom prst="rect">
            <a:avLst/>
          </a:prstGeom>
        </p:spPr>
      </p:pic>
      <p:sp>
        <p:nvSpPr>
          <p:cNvPr id="5" name="TextBox 4"/>
          <p:cNvSpPr txBox="1"/>
          <p:nvPr/>
        </p:nvSpPr>
        <p:spPr>
          <a:xfrm>
            <a:off x="6858000" y="731520"/>
            <a:ext cx="5029200" cy="320040"/>
          </a:xfrm>
          <a:prstGeom prst="rect">
            <a:avLst/>
          </a:prstGeom>
          <a:noFill/>
        </p:spPr>
        <p:txBody>
          <a:bodyPr wrap="square">
            <a:spAutoFit/>
          </a:bodyPr>
          <a:lstStyle/>
          <a:p>
            <a:pPr algn="l">
              <a:defRPr sz="1400" b="1">
                <a:solidFill>
                  <a:srgbClr val="2980B9"/>
                </a:solidFill>
                <a:latin typeface="Calibri"/>
              </a:defRPr>
            </a:pPr>
            <a:r>
              <a:t>Per-Dataset Buffer Behavior:</a:t>
            </a:r>
          </a:p>
        </p:txBody>
      </p:sp>
      <p:sp>
        <p:nvSpPr>
          <p:cNvPr id="6" name="TextBox 5"/>
          <p:cNvSpPr txBox="1"/>
          <p:nvPr/>
        </p:nvSpPr>
        <p:spPr>
          <a:xfrm>
            <a:off x="6858000" y="1097280"/>
            <a:ext cx="5029200" cy="4846320"/>
          </a:xfrm>
          <a:prstGeom prst="rect">
            <a:avLst/>
          </a:prstGeom>
          <a:noFill/>
        </p:spPr>
        <p:txBody>
          <a:bodyPr wrap="square">
            <a:spAutoFit/>
          </a:bodyPr>
          <a:lstStyle/>
          <a:p>
            <a:pPr>
              <a:spcAft>
                <a:spcPts val="200"/>
              </a:spcAft>
              <a:defRPr sz="1200" b="1">
                <a:solidFill>
                  <a:srgbClr val="000000"/>
                </a:solidFill>
                <a:latin typeface="Consolas"/>
              </a:defRPr>
            </a:pPr>
            <a:r>
              <a:t>UNSW-NB15 (30% attack rate):</a:t>
            </a:r>
          </a:p>
          <a:p>
            <a:pPr>
              <a:spcAft>
                <a:spcPts val="200"/>
              </a:spcAft>
              <a:defRPr sz="1000" b="0">
                <a:solidFill>
                  <a:srgbClr val="000000"/>
                </a:solidFill>
                <a:latin typeface="Consolas"/>
              </a:defRPr>
            </a:pPr>
            <a:r>
              <a:t>  Higher entropy variance → more shrink events</a:t>
            </a:r>
          </a:p>
          <a:p>
            <a:pPr>
              <a:spcAft>
                <a:spcPts val="200"/>
              </a:spcAft>
              <a:defRPr sz="1000" b="0">
                <a:solidFill>
                  <a:srgbClr val="2980B9"/>
                </a:solidFill>
                <a:latin typeface="Consolas"/>
              </a:defRPr>
            </a:pPr>
            <a:r>
              <a:t>  Final buffer: ~37 flows</a:t>
            </a:r>
          </a:p>
          <a:p>
            <a:pPr>
              <a:spcAft>
                <a:spcPts val="200"/>
              </a:spcAft>
              <a:defRPr sz="1000" b="0">
                <a:solidFill>
                  <a:srgbClr val="7F8C8D"/>
                </a:solidFill>
                <a:latin typeface="Consolas"/>
              </a:defRPr>
            </a:pPr>
            <a:r>
              <a:t>  Resize events: frequent during attack bursts</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CSE-CIC-2018 (15% attack rate):</a:t>
            </a:r>
          </a:p>
          <a:p>
            <a:pPr>
              <a:spcAft>
                <a:spcPts val="200"/>
              </a:spcAft>
              <a:defRPr sz="1000" b="0">
                <a:solidFill>
                  <a:srgbClr val="000000"/>
                </a:solidFill>
                <a:latin typeface="Consolas"/>
              </a:defRPr>
            </a:pPr>
            <a:r>
              <a:t>  More stable traffic → buffer grows larger</a:t>
            </a:r>
          </a:p>
          <a:p>
            <a:pPr>
              <a:spcAft>
                <a:spcPts val="200"/>
              </a:spcAft>
              <a:defRPr sz="1000" b="0">
                <a:solidFill>
                  <a:srgbClr val="2980B9"/>
                </a:solidFill>
                <a:latin typeface="Consolas"/>
              </a:defRPr>
            </a:pPr>
            <a:r>
              <a:t>  Final buffer: ~30 flows</a:t>
            </a:r>
          </a:p>
          <a:p>
            <a:pPr>
              <a:spcAft>
                <a:spcPts val="200"/>
              </a:spcAft>
              <a:defRPr sz="1000" b="0">
                <a:solidFill>
                  <a:srgbClr val="7F8C8D"/>
                </a:solidFill>
                <a:latin typeface="Consolas"/>
              </a:defRPr>
            </a:pPr>
            <a:r>
              <a:t>  Less volatility in resize history</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CIC-IDS2017 (20% attack rate):</a:t>
            </a:r>
          </a:p>
          <a:p>
            <a:pPr>
              <a:spcAft>
                <a:spcPts val="200"/>
              </a:spcAft>
              <a:defRPr sz="1000" b="0">
                <a:solidFill>
                  <a:srgbClr val="000000"/>
                </a:solidFill>
                <a:latin typeface="Consolas"/>
              </a:defRPr>
            </a:pPr>
            <a:r>
              <a:t>  Moderate variance → balanced resizing</a:t>
            </a:r>
          </a:p>
          <a:p>
            <a:pPr>
              <a:spcAft>
                <a:spcPts val="200"/>
              </a:spcAft>
              <a:defRPr sz="1000" b="0">
                <a:solidFill>
                  <a:srgbClr val="2980B9"/>
                </a:solidFill>
                <a:latin typeface="Consolas"/>
              </a:defRPr>
            </a:pPr>
            <a:r>
              <a:t>  Final buffer: ~32 flows</a:t>
            </a:r>
          </a:p>
          <a:p>
            <a:pPr>
              <a:spcAft>
                <a:spcPts val="200"/>
              </a:spcAft>
              <a:defRPr sz="400" b="0">
                <a:solidFill>
                  <a:srgbClr val="000000"/>
                </a:solidFill>
                <a:latin typeface="Consolas"/>
              </a:defRPr>
            </a:pPr>
            <a:endParaRPr/>
          </a:p>
          <a:p>
            <a:pPr>
              <a:spcAft>
                <a:spcPts val="200"/>
              </a:spcAft>
              <a:defRPr sz="1000" b="1">
                <a:solidFill>
                  <a:srgbClr val="2C3E50"/>
                </a:solidFill>
                <a:latin typeface="Consolas"/>
              </a:defRPr>
            </a:pPr>
            <a:r>
              <a:t>Key: Smaller buffer = faster reaction to drift</a:t>
            </a:r>
          </a:p>
          <a:p>
            <a:pPr>
              <a:spcAft>
                <a:spcPts val="200"/>
              </a:spcAft>
              <a:defRPr sz="1000" b="1">
                <a:solidFill>
                  <a:srgbClr val="2C3E50"/>
                </a:solidFill>
                <a:latin typeface="Consolas"/>
              </a:defRPr>
            </a:pPr>
            <a:r>
              <a:t>      Larger buffer = more stable estimates</a:t>
            </a:r>
          </a:p>
        </p:txBody>
      </p:sp>
      <p:sp>
        <p:nvSpPr>
          <p:cNvPr id="7" name="TextBox 6"/>
          <p:cNvSpPr txBox="1"/>
          <p:nvPr/>
        </p:nvSpPr>
        <p:spPr>
          <a:xfrm>
            <a:off x="274320" y="6217920"/>
            <a:ext cx="11430000" cy="365760"/>
          </a:xfrm>
          <a:prstGeom prst="rect">
            <a:avLst/>
          </a:prstGeom>
          <a:noFill/>
        </p:spPr>
        <p:txBody>
          <a:bodyPr wrap="square">
            <a:spAutoFit/>
          </a:bodyPr>
          <a:lstStyle/>
          <a:p>
            <a:pPr algn="ctr">
              <a:defRPr sz="1200" b="1">
                <a:solidFill>
                  <a:srgbClr val="2980B9"/>
                </a:solidFill>
                <a:latin typeface="Calibri"/>
              </a:defRPr>
            </a:pPr>
            <a:r>
              <a:t>Output:  Dynamic window size |B_t| + context reliability ρ_t + noisy attack rate estimate    → Feeds into Stage 7 + Stage 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4114800" cy="457200"/>
          </a:xfrm>
          <a:prstGeom prst="round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Stage 7: Dynamic Threshold Adaptation</a:t>
            </a:r>
          </a:p>
        </p:txBody>
      </p:sp>
      <p:sp>
        <p:nvSpPr>
          <p:cNvPr id="3" name="TextBox 2"/>
          <p:cNvSpPr txBox="1"/>
          <p:nvPr/>
        </p:nvSpPr>
        <p:spPr>
          <a:xfrm>
            <a:off x="274320" y="731520"/>
            <a:ext cx="6400800" cy="4114800"/>
          </a:xfrm>
          <a:prstGeom prst="rect">
            <a:avLst/>
          </a:prstGeom>
          <a:noFill/>
        </p:spPr>
        <p:txBody>
          <a:bodyPr wrap="square">
            <a:spAutoFit/>
          </a:bodyPr>
          <a:lstStyle/>
          <a:p>
            <a:pPr>
              <a:spcAft>
                <a:spcPts val="200"/>
              </a:spcAft>
              <a:defRPr sz="1300" b="1">
                <a:solidFill>
                  <a:srgbClr val="16A085"/>
                </a:solidFill>
                <a:latin typeface="Calibri"/>
              </a:defRPr>
            </a:pPr>
            <a:r>
              <a:t>Algorithm 7: Feedback-Driven Threshold Control</a:t>
            </a:r>
          </a:p>
          <a:p>
            <a:pPr>
              <a:spcAft>
                <a:spcPts val="200"/>
              </a:spcAft>
              <a:defRPr sz="400" b="0">
                <a:solidFill>
                  <a:srgbClr val="000000"/>
                </a:solidFill>
                <a:latin typeface="Calibri"/>
              </a:defRPr>
            </a:pPr>
            <a:endParaRPr/>
          </a:p>
          <a:p>
            <a:pPr>
              <a:spcAft>
                <a:spcPts val="200"/>
              </a:spcAft>
              <a:defRPr sz="1100" b="1">
                <a:solidFill>
                  <a:srgbClr val="000000"/>
                </a:solidFill>
                <a:latin typeface="Calibri"/>
              </a:defRPr>
            </a:pPr>
            <a:r>
              <a:t>Input:  τ_t (current threshold), acc_t, mean reward r̅_t</a:t>
            </a:r>
          </a:p>
          <a:p>
            <a:pPr>
              <a:spcAft>
                <a:spcPts val="200"/>
              </a:spcAft>
              <a:defRPr sz="1100" b="0">
                <a:solidFill>
                  <a:srgbClr val="7F8C8D"/>
                </a:solidFill>
                <a:latin typeface="Calibri"/>
              </a:defRPr>
            </a:pPr>
            <a:r>
              <a:t>Bounds: τ ∈ [0.40, 0.70],  Init τ_0 = 0.50</a:t>
            </a:r>
          </a:p>
          <a:p>
            <a:pPr>
              <a:spcAft>
                <a:spcPts val="200"/>
              </a:spcAft>
              <a:defRPr sz="400" b="0">
                <a:solidFill>
                  <a:srgbClr val="000000"/>
                </a:solidFill>
                <a:latin typeface="Calibri"/>
              </a:defRPr>
            </a:pPr>
            <a:endParaRPr/>
          </a:p>
          <a:p>
            <a:pPr>
              <a:spcAft>
                <a:spcPts val="200"/>
              </a:spcAft>
              <a:defRPr sz="1200" b="1">
                <a:solidFill>
                  <a:srgbClr val="000000"/>
                </a:solidFill>
                <a:latin typeface="Calibri"/>
              </a:defRPr>
            </a:pPr>
            <a:r>
              <a:t>TRAINING PHASE (learning optimal point):</a:t>
            </a:r>
          </a:p>
          <a:p>
            <a:pPr>
              <a:spcAft>
                <a:spcPts val="200"/>
              </a:spcAft>
              <a:defRPr sz="1100" b="0">
                <a:solidFill>
                  <a:srgbClr val="000000"/>
                </a:solidFill>
                <a:latin typeface="Calibri"/>
              </a:defRPr>
            </a:pPr>
            <a:r>
              <a:t>  τ_{t+1} =</a:t>
            </a:r>
          </a:p>
          <a:p>
            <a:pPr>
              <a:spcAft>
                <a:spcPts val="200"/>
              </a:spcAft>
              <a:defRPr sz="1000" b="0">
                <a:solidFill>
                  <a:srgbClr val="000000"/>
                </a:solidFill>
                <a:latin typeface="Calibri"/>
              </a:defRPr>
            </a:pPr>
            <a:r>
              <a:t>    min(τ_t + 0.01, 0.70)   if acc_t &gt; 0.95</a:t>
            </a:r>
          </a:p>
          <a:p>
            <a:pPr>
              <a:spcAft>
                <a:spcPts val="200"/>
              </a:spcAft>
              <a:defRPr sz="1000" b="0">
                <a:solidFill>
                  <a:srgbClr val="000000"/>
                </a:solidFill>
                <a:latin typeface="Calibri"/>
              </a:defRPr>
            </a:pPr>
            <a:r>
              <a:t>    max(τ_t - 0.01, 0.40)   if acc_t &lt; 0.85</a:t>
            </a:r>
          </a:p>
          <a:p>
            <a:pPr>
              <a:spcAft>
                <a:spcPts val="200"/>
              </a:spcAft>
              <a:defRPr sz="1000" b="0">
                <a:solidFill>
                  <a:srgbClr val="000000"/>
                </a:solidFill>
                <a:latin typeface="Calibri"/>
              </a:defRPr>
            </a:pPr>
            <a:r>
              <a:t>    τ_t                      otherwise</a:t>
            </a:r>
          </a:p>
          <a:p>
            <a:pPr>
              <a:spcAft>
                <a:spcPts val="200"/>
              </a:spcAft>
              <a:defRPr sz="1000" b="0">
                <a:solidFill>
                  <a:srgbClr val="000000"/>
                </a:solidFill>
                <a:latin typeface="Calibri"/>
              </a:defRPr>
            </a:pPr>
            <a:r>
              <a:t>  τ_{t+1} += 0.005·1[r̅_t&gt;0.8] - 0.005·1[r̅_t&lt;0]</a:t>
            </a:r>
          </a:p>
          <a:p>
            <a:pPr>
              <a:spcAft>
                <a:spcPts val="200"/>
              </a:spcAft>
              <a:defRPr sz="400" b="0">
                <a:solidFill>
                  <a:srgbClr val="000000"/>
                </a:solidFill>
                <a:latin typeface="Calibri"/>
              </a:defRPr>
            </a:pPr>
            <a:endParaRPr/>
          </a:p>
          <a:p>
            <a:pPr>
              <a:spcAft>
                <a:spcPts val="200"/>
              </a:spcAft>
              <a:defRPr sz="1200" b="1">
                <a:solidFill>
                  <a:srgbClr val="000000"/>
                </a:solidFill>
                <a:latin typeface="Calibri"/>
              </a:defRPr>
            </a:pPr>
            <a:r>
              <a:t>TEST PHASE (online error-rate balancing):</a:t>
            </a:r>
          </a:p>
        </p:txBody>
      </p:sp>
      <p:pic>
        <p:nvPicPr>
          <p:cNvPr id="4" name="Picture 3" descr="image.png"/>
          <p:cNvPicPr>
            <a:picLocks noChangeAspect="1"/>
          </p:cNvPicPr>
          <p:nvPr/>
        </p:nvPicPr>
        <p:blipFill>
          <a:blip r:embed="rId3"/>
          <a:stretch>
            <a:fillRect/>
          </a:stretch>
        </p:blipFill>
        <p:spPr>
          <a:xfrm>
            <a:off x="274320" y="4206240"/>
            <a:ext cx="6400800" cy="1036320"/>
          </a:xfrm>
          <a:prstGeom prst="rect">
            <a:avLst/>
          </a:prstGeom>
        </p:spPr>
      </p:pic>
      <p:sp>
        <p:nvSpPr>
          <p:cNvPr id="5" name="TextBox 4"/>
          <p:cNvSpPr txBox="1"/>
          <p:nvPr/>
        </p:nvSpPr>
        <p:spPr>
          <a:xfrm>
            <a:off x="274320" y="5029200"/>
            <a:ext cx="6400800" cy="1097280"/>
          </a:xfrm>
          <a:prstGeom prst="rect">
            <a:avLst/>
          </a:prstGeom>
          <a:noFill/>
        </p:spPr>
        <p:txBody>
          <a:bodyPr wrap="square">
            <a:spAutoFit/>
          </a:bodyPr>
          <a:lstStyle/>
          <a:p>
            <a:pPr>
              <a:spcAft>
                <a:spcPts val="200"/>
              </a:spcAft>
              <a:defRPr sz="1100" b="1">
                <a:solidFill>
                  <a:srgbClr val="000000"/>
                </a:solidFill>
                <a:latin typeface="Consolas"/>
              </a:defRPr>
            </a:pPr>
            <a:r>
              <a:t>τ_{t+1} =</a:t>
            </a:r>
          </a:p>
          <a:p>
            <a:pPr>
              <a:spcAft>
                <a:spcPts val="200"/>
              </a:spcAft>
              <a:defRPr sz="1000" b="0">
                <a:solidFill>
                  <a:srgbClr val="000000"/>
                </a:solidFill>
                <a:latin typeface="Consolas"/>
              </a:defRPr>
            </a:pPr>
            <a:r>
              <a:t>  min(τ_t + 0.005, 0.70)  if FPR̂_t &gt; 2·FNR̂_t</a:t>
            </a:r>
          </a:p>
          <a:p>
            <a:pPr>
              <a:spcAft>
                <a:spcPts val="200"/>
              </a:spcAft>
              <a:defRPr sz="1000" b="0">
                <a:solidFill>
                  <a:srgbClr val="000000"/>
                </a:solidFill>
                <a:latin typeface="Consolas"/>
              </a:defRPr>
            </a:pPr>
            <a:r>
              <a:t>  max(τ_t - 0.005, 0.40)  if FNR̂_t &gt; 2·FPR̂_t</a:t>
            </a:r>
          </a:p>
          <a:p>
            <a:pPr>
              <a:spcAft>
                <a:spcPts val="200"/>
              </a:spcAft>
              <a:defRPr sz="1000" b="0">
                <a:solidFill>
                  <a:srgbClr val="000000"/>
                </a:solidFill>
                <a:latin typeface="Consolas"/>
              </a:defRPr>
            </a:pPr>
            <a:r>
              <a:t>  τ_t                      otherwise</a:t>
            </a:r>
          </a:p>
        </p:txBody>
      </p:sp>
      <p:sp>
        <p:nvSpPr>
          <p:cNvPr id="6" name="TextBox 5"/>
          <p:cNvSpPr txBox="1"/>
          <p:nvPr/>
        </p:nvSpPr>
        <p:spPr>
          <a:xfrm>
            <a:off x="6858000" y="731520"/>
            <a:ext cx="5029200" cy="320040"/>
          </a:xfrm>
          <a:prstGeom prst="rect">
            <a:avLst/>
          </a:prstGeom>
          <a:noFill/>
        </p:spPr>
        <p:txBody>
          <a:bodyPr wrap="square">
            <a:spAutoFit/>
          </a:bodyPr>
          <a:lstStyle/>
          <a:p>
            <a:pPr algn="l">
              <a:defRPr sz="1400" b="1">
                <a:solidFill>
                  <a:srgbClr val="16A085"/>
                </a:solidFill>
                <a:latin typeface="Calibri"/>
              </a:defRPr>
            </a:pPr>
            <a:r>
              <a:t>Per-Dataset Learned Thresholds:</a:t>
            </a:r>
          </a:p>
        </p:txBody>
      </p:sp>
      <p:sp>
        <p:nvSpPr>
          <p:cNvPr id="7" name="TextBox 6"/>
          <p:cNvSpPr txBox="1"/>
          <p:nvPr/>
        </p:nvSpPr>
        <p:spPr>
          <a:xfrm>
            <a:off x="6858000" y="1097280"/>
            <a:ext cx="5029200" cy="4846320"/>
          </a:xfrm>
          <a:prstGeom prst="rect">
            <a:avLst/>
          </a:prstGeom>
          <a:noFill/>
        </p:spPr>
        <p:txBody>
          <a:bodyPr wrap="square">
            <a:spAutoFit/>
          </a:bodyPr>
          <a:lstStyle/>
          <a:p>
            <a:pPr>
              <a:spcAft>
                <a:spcPts val="200"/>
              </a:spcAft>
              <a:defRPr sz="1200" b="1">
                <a:solidFill>
                  <a:srgbClr val="000000"/>
                </a:solidFill>
                <a:latin typeface="Consolas"/>
              </a:defRPr>
            </a:pPr>
            <a:r>
              <a:t>UNSW-NB15:</a:t>
            </a:r>
          </a:p>
          <a:p>
            <a:pPr>
              <a:spcAft>
                <a:spcPts val="200"/>
              </a:spcAft>
              <a:defRPr sz="1100" b="0">
                <a:solidFill>
                  <a:srgbClr val="2980B9"/>
                </a:solidFill>
                <a:latin typeface="Consolas"/>
              </a:defRPr>
            </a:pPr>
            <a:r>
              <a:t>  τ_0 = 0.50 → τ* = 0.65</a:t>
            </a:r>
          </a:p>
          <a:p>
            <a:pPr>
              <a:spcAft>
                <a:spcPts val="200"/>
              </a:spcAft>
              <a:defRPr sz="1000" b="0">
                <a:solidFill>
                  <a:srgbClr val="7F8C8D"/>
                </a:solidFill>
                <a:latin typeface="Consolas"/>
              </a:defRPr>
            </a:pPr>
            <a:r>
              <a:t>  Higher attack rate (30%) pushes τ up</a:t>
            </a:r>
          </a:p>
          <a:p>
            <a:pPr>
              <a:spcAft>
                <a:spcPts val="200"/>
              </a:spcAft>
              <a:defRPr sz="1000" b="0">
                <a:solidFill>
                  <a:srgbClr val="7F8C8D"/>
                </a:solidFill>
                <a:latin typeface="Consolas"/>
              </a:defRPr>
            </a:pPr>
            <a:r>
              <a:t>  to reduce false positives</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CSE-CIC-IDS-2018:</a:t>
            </a:r>
          </a:p>
          <a:p>
            <a:pPr>
              <a:spcAft>
                <a:spcPts val="200"/>
              </a:spcAft>
              <a:defRPr sz="1100" b="0">
                <a:solidFill>
                  <a:srgbClr val="2980B9"/>
                </a:solidFill>
                <a:latin typeface="Consolas"/>
              </a:defRPr>
            </a:pPr>
            <a:r>
              <a:t>  τ_0 = 0.50 → τ* = 0.625</a:t>
            </a:r>
          </a:p>
          <a:p>
            <a:pPr>
              <a:spcAft>
                <a:spcPts val="200"/>
              </a:spcAft>
              <a:defRPr sz="1000" b="0">
                <a:solidFill>
                  <a:srgbClr val="7F8C8D"/>
                </a:solidFill>
                <a:latin typeface="Consolas"/>
              </a:defRPr>
            </a:pPr>
            <a:r>
              <a:t>  Lower attack rate (15%) → moderate τ</a:t>
            </a:r>
          </a:p>
          <a:p>
            <a:pPr>
              <a:spcAft>
                <a:spcPts val="200"/>
              </a:spcAft>
              <a:defRPr sz="1000" b="0">
                <a:solidFill>
                  <a:srgbClr val="7F8C8D"/>
                </a:solidFill>
                <a:latin typeface="Consolas"/>
              </a:defRPr>
            </a:pPr>
            <a:r>
              <a:t>  Balanced FPR/FNR tradeoff</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CIC-IDS2017:</a:t>
            </a:r>
          </a:p>
          <a:p>
            <a:pPr>
              <a:spcAft>
                <a:spcPts val="200"/>
              </a:spcAft>
              <a:defRPr sz="1100" b="0">
                <a:solidFill>
                  <a:srgbClr val="2980B9"/>
                </a:solidFill>
                <a:latin typeface="Consolas"/>
              </a:defRPr>
            </a:pPr>
            <a:r>
              <a:t>  τ_0 = 0.50 → τ* = 0.685</a:t>
            </a:r>
          </a:p>
          <a:p>
            <a:pPr>
              <a:spcAft>
                <a:spcPts val="200"/>
              </a:spcAft>
              <a:defRPr sz="1000" b="0">
                <a:solidFill>
                  <a:srgbClr val="7F8C8D"/>
                </a:solidFill>
                <a:latin typeface="Consolas"/>
              </a:defRPr>
            </a:pPr>
            <a:r>
              <a:t>  Learns stricter threshold for</a:t>
            </a:r>
          </a:p>
          <a:p>
            <a:pPr>
              <a:spcAft>
                <a:spcPts val="200"/>
              </a:spcAft>
              <a:defRPr sz="1000" b="0">
                <a:solidFill>
                  <a:srgbClr val="7F8C8D"/>
                </a:solidFill>
                <a:latin typeface="Consolas"/>
              </a:defRPr>
            </a:pPr>
            <a:r>
              <a:t>  higher precision on diverse attacks</a:t>
            </a:r>
          </a:p>
          <a:p>
            <a:pPr>
              <a:spcAft>
                <a:spcPts val="200"/>
              </a:spcAft>
              <a:defRPr sz="600" b="0">
                <a:solidFill>
                  <a:srgbClr val="000000"/>
                </a:solidFill>
                <a:latin typeface="Consolas"/>
              </a:defRPr>
            </a:pPr>
            <a:endParaRPr/>
          </a:p>
          <a:p>
            <a:pPr>
              <a:spcAft>
                <a:spcPts val="200"/>
              </a:spcAft>
              <a:defRPr sz="1000" b="1">
                <a:solidFill>
                  <a:srgbClr val="2C3E50"/>
                </a:solidFill>
                <a:latin typeface="Consolas"/>
              </a:defRPr>
            </a:pPr>
            <a:r>
              <a:t>Key: Each dataset converges to its</a:t>
            </a:r>
          </a:p>
          <a:p>
            <a:pPr>
              <a:spcAft>
                <a:spcPts val="200"/>
              </a:spcAft>
              <a:defRPr sz="1000" b="1">
                <a:solidFill>
                  <a:srgbClr val="2C3E50"/>
                </a:solidFill>
                <a:latin typeface="Consolas"/>
              </a:defRPr>
            </a:pPr>
            <a:r>
              <a:t>own optimal operating point</a:t>
            </a:r>
          </a:p>
        </p:txBody>
      </p:sp>
      <p:sp>
        <p:nvSpPr>
          <p:cNvPr id="8" name="TextBox 7"/>
          <p:cNvSpPr txBox="1"/>
          <p:nvPr/>
        </p:nvSpPr>
        <p:spPr>
          <a:xfrm>
            <a:off x="274320" y="6217920"/>
            <a:ext cx="11430000" cy="365760"/>
          </a:xfrm>
          <a:prstGeom prst="rect">
            <a:avLst/>
          </a:prstGeom>
          <a:noFill/>
        </p:spPr>
        <p:txBody>
          <a:bodyPr wrap="square">
            <a:spAutoFit/>
          </a:bodyPr>
          <a:lstStyle/>
          <a:p>
            <a:pPr algn="ctr">
              <a:defRPr sz="1200" b="1">
                <a:solidFill>
                  <a:srgbClr val="2980B9"/>
                </a:solidFill>
                <a:latin typeface="Calibri"/>
              </a:defRPr>
            </a:pPr>
            <a:r>
              <a:t>Output:  Learned dataset-specific threshold τ* ∈ [0.40, 0.70]    → Feeds into Stage 8 (classification decision boundary)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74320" y="137160"/>
            <a:ext cx="4572000" cy="457200"/>
          </a:xfrm>
          <a:prstGeom prst="round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Calibri"/>
              </a:defRPr>
            </a:pPr>
            <a:r>
              <a:t>Stage 8: Final Classification Decision</a:t>
            </a:r>
          </a:p>
        </p:txBody>
      </p:sp>
      <p:sp>
        <p:nvSpPr>
          <p:cNvPr id="3" name="TextBox 2"/>
          <p:cNvSpPr txBox="1"/>
          <p:nvPr/>
        </p:nvSpPr>
        <p:spPr>
          <a:xfrm>
            <a:off x="274320" y="731520"/>
            <a:ext cx="6400800" cy="4572000"/>
          </a:xfrm>
          <a:prstGeom prst="rect">
            <a:avLst/>
          </a:prstGeom>
          <a:noFill/>
        </p:spPr>
        <p:txBody>
          <a:bodyPr wrap="square">
            <a:spAutoFit/>
          </a:bodyPr>
          <a:lstStyle/>
          <a:p>
            <a:pPr>
              <a:spcAft>
                <a:spcPts val="200"/>
              </a:spcAft>
              <a:defRPr sz="1300" b="1">
                <a:solidFill>
                  <a:srgbClr val="2C3E50"/>
                </a:solidFill>
                <a:latin typeface="Calibri"/>
              </a:defRPr>
            </a:pPr>
            <a:r>
              <a:t>Algorithm 8: Threshold-Gated Classification + RL Fallback</a:t>
            </a:r>
          </a:p>
          <a:p>
            <a:pPr>
              <a:spcAft>
                <a:spcPts val="200"/>
              </a:spcAft>
              <a:defRPr sz="400" b="0">
                <a:solidFill>
                  <a:srgbClr val="000000"/>
                </a:solidFill>
                <a:latin typeface="Calibri"/>
              </a:defRPr>
            </a:pPr>
            <a:endParaRPr/>
          </a:p>
          <a:p>
            <a:pPr>
              <a:spcAft>
                <a:spcPts val="200"/>
              </a:spcAft>
              <a:defRPr sz="1100" b="1">
                <a:solidFill>
                  <a:srgbClr val="000000"/>
                </a:solidFill>
                <a:latin typeface="Calibri"/>
              </a:defRPr>
            </a:pPr>
            <a:r>
              <a:t>Input:  Flow x_i, p_i = P(attack|x_i), τ_t, r̂_attack, ρ_t</a:t>
            </a:r>
          </a:p>
          <a:p>
            <a:pPr>
              <a:spcAft>
                <a:spcPts val="200"/>
              </a:spcAft>
              <a:defRPr sz="400" b="0">
                <a:solidFill>
                  <a:srgbClr val="000000"/>
                </a:solidFill>
                <a:latin typeface="Calibri"/>
              </a:defRPr>
            </a:pPr>
            <a:endParaRPr/>
          </a:p>
          <a:p>
            <a:pPr>
              <a:spcAft>
                <a:spcPts val="200"/>
              </a:spcAft>
              <a:defRPr sz="1200" b="1">
                <a:solidFill>
                  <a:srgbClr val="000000"/>
                </a:solidFill>
                <a:latin typeface="Calibri"/>
              </a:defRPr>
            </a:pPr>
            <a:r>
              <a:t>ŷ_i =</a:t>
            </a:r>
          </a:p>
          <a:p>
            <a:pPr>
              <a:spcAft>
                <a:spcPts val="200"/>
              </a:spcAft>
              <a:defRPr sz="1100" b="0">
                <a:solidFill>
                  <a:srgbClr val="000000"/>
                </a:solidFill>
                <a:latin typeface="Calibri"/>
              </a:defRPr>
            </a:pPr>
            <a:r>
              <a:t>  1 (ATTACK)      if p_i ≥ τ_t             (confident attack)</a:t>
            </a:r>
          </a:p>
          <a:p>
            <a:pPr>
              <a:spcAft>
                <a:spcPts val="200"/>
              </a:spcAft>
              <a:defRPr sz="1100" b="0">
                <a:solidFill>
                  <a:srgbClr val="000000"/>
                </a:solidFill>
                <a:latin typeface="Calibri"/>
              </a:defRPr>
            </a:pPr>
            <a:r>
              <a:t>  0 (BENIGN)      if p_i ≤ 1 - τ_t         (confident benign)</a:t>
            </a:r>
          </a:p>
          <a:p>
            <a:pPr>
              <a:spcAft>
                <a:spcPts val="200"/>
              </a:spcAft>
              <a:defRPr sz="1000" b="0">
                <a:solidFill>
                  <a:srgbClr val="000000"/>
                </a:solidFill>
                <a:latin typeface="Calibri"/>
              </a:defRPr>
            </a:pPr>
            <a:r>
              <a:t>  1               if p_i ∈ (1-τ, τ) and r̂_attack &gt; 0.5 and ρ=1</a:t>
            </a:r>
          </a:p>
          <a:p>
            <a:pPr>
              <a:spcAft>
                <a:spcPts val="200"/>
              </a:spcAft>
              <a:defRPr sz="900" b="0">
                <a:solidFill>
                  <a:srgbClr val="7F8C8D"/>
                </a:solidFill>
                <a:latin typeface="Calibri"/>
              </a:defRPr>
            </a:pPr>
            <a:r>
              <a:t>                    (ambiguous + high-attack context)</a:t>
            </a:r>
          </a:p>
          <a:p>
            <a:pPr>
              <a:spcAft>
                <a:spcPts val="200"/>
              </a:spcAft>
              <a:defRPr sz="1000" b="0">
                <a:solidFill>
                  <a:srgbClr val="000000"/>
                </a:solidFill>
                <a:latin typeface="Calibri"/>
              </a:defRPr>
            </a:pPr>
            <a:r>
              <a:t>  0               if p_i ∈ (1-τ, τ) and r̂_attack &lt; 0.25 and ρ=1</a:t>
            </a:r>
          </a:p>
          <a:p>
            <a:pPr>
              <a:spcAft>
                <a:spcPts val="200"/>
              </a:spcAft>
              <a:defRPr sz="900" b="0">
                <a:solidFill>
                  <a:srgbClr val="7F8C8D"/>
                </a:solidFill>
                <a:latin typeface="Calibri"/>
              </a:defRPr>
            </a:pPr>
            <a:r>
              <a:t>                    (ambiguous + low-attack context)</a:t>
            </a:r>
          </a:p>
          <a:p>
            <a:pPr>
              <a:spcAft>
                <a:spcPts val="200"/>
              </a:spcAft>
              <a:defRPr sz="1000" b="0">
                <a:solidFill>
                  <a:srgbClr val="000000"/>
                </a:solidFill>
                <a:latin typeface="Calibri"/>
              </a:defRPr>
            </a:pPr>
            <a:r>
              <a:t>  A_θ^Z3(x_i)      otherwise (RL agent + Z3 safety shield)</a:t>
            </a:r>
          </a:p>
          <a:p>
            <a:pPr>
              <a:spcAft>
                <a:spcPts val="200"/>
              </a:spcAft>
              <a:defRPr sz="400" b="0">
                <a:solidFill>
                  <a:srgbClr val="000000"/>
                </a:solidFill>
                <a:latin typeface="Calibri"/>
              </a:defRPr>
            </a:pPr>
            <a:endParaRPr/>
          </a:p>
          <a:p>
            <a:pPr>
              <a:spcAft>
                <a:spcPts val="200"/>
              </a:spcAft>
              <a:defRPr sz="1000" b="1">
                <a:solidFill>
                  <a:srgbClr val="000000"/>
                </a:solidFill>
                <a:latin typeface="Calibri"/>
              </a:defRPr>
            </a:pPr>
            <a:r>
              <a:t>where A_θ^Z3(x) = a* if verify(x,a*); else argmax_{a∈A_safe} Q(s,a)</a:t>
            </a:r>
          </a:p>
        </p:txBody>
      </p:sp>
      <p:sp>
        <p:nvSpPr>
          <p:cNvPr id="4" name="TextBox 3"/>
          <p:cNvSpPr txBox="1"/>
          <p:nvPr/>
        </p:nvSpPr>
        <p:spPr>
          <a:xfrm>
            <a:off x="6858000" y="731520"/>
            <a:ext cx="5029200" cy="320040"/>
          </a:xfrm>
          <a:prstGeom prst="rect">
            <a:avLst/>
          </a:prstGeom>
          <a:noFill/>
        </p:spPr>
        <p:txBody>
          <a:bodyPr wrap="square">
            <a:spAutoFit/>
          </a:bodyPr>
          <a:lstStyle/>
          <a:p>
            <a:pPr algn="l">
              <a:defRPr sz="1400" b="1">
                <a:solidFill>
                  <a:srgbClr val="2C3E50"/>
                </a:solidFill>
                <a:latin typeface="Calibri"/>
              </a:defRPr>
            </a:pPr>
            <a:r>
              <a:t>Per-Dataset Classification Results:</a:t>
            </a:r>
          </a:p>
        </p:txBody>
      </p:sp>
      <p:sp>
        <p:nvSpPr>
          <p:cNvPr id="5" name="TextBox 4"/>
          <p:cNvSpPr txBox="1"/>
          <p:nvPr/>
        </p:nvSpPr>
        <p:spPr>
          <a:xfrm>
            <a:off x="6858000" y="1097280"/>
            <a:ext cx="5029200" cy="5029200"/>
          </a:xfrm>
          <a:prstGeom prst="rect">
            <a:avLst/>
          </a:prstGeom>
          <a:noFill/>
        </p:spPr>
        <p:txBody>
          <a:bodyPr wrap="square">
            <a:spAutoFit/>
          </a:bodyPr>
          <a:lstStyle/>
          <a:p>
            <a:pPr>
              <a:spcAft>
                <a:spcPts val="200"/>
              </a:spcAft>
              <a:defRPr sz="1200" b="1">
                <a:solidFill>
                  <a:srgbClr val="000000"/>
                </a:solidFill>
                <a:latin typeface="Consolas"/>
              </a:defRPr>
            </a:pPr>
            <a:r>
              <a:t>UNSW-NB15 (ASRRL Dynamic):</a:t>
            </a:r>
          </a:p>
          <a:p>
            <a:pPr>
              <a:spcAft>
                <a:spcPts val="200"/>
              </a:spcAft>
              <a:defRPr sz="1100" b="0">
                <a:solidFill>
                  <a:srgbClr val="1E8E3E"/>
                </a:solidFill>
                <a:latin typeface="Consolas"/>
              </a:defRPr>
            </a:pPr>
            <a:r>
              <a:t>  F1 = 0.989   Acc = 0.993</a:t>
            </a:r>
          </a:p>
          <a:p>
            <a:pPr>
              <a:spcAft>
                <a:spcPts val="200"/>
              </a:spcAft>
              <a:defRPr sz="1000" b="0">
                <a:solidFill>
                  <a:srgbClr val="000000"/>
                </a:solidFill>
                <a:latin typeface="Consolas"/>
              </a:defRPr>
            </a:pPr>
            <a:r>
              <a:t>  Precision = 1.000   Recall = 0.978</a:t>
            </a:r>
          </a:p>
          <a:p>
            <a:pPr>
              <a:spcAft>
                <a:spcPts val="200"/>
              </a:spcAft>
              <a:defRPr sz="1000" b="0">
                <a:solidFill>
                  <a:srgbClr val="000000"/>
                </a:solidFill>
                <a:latin typeface="Consolas"/>
              </a:defRPr>
            </a:pPr>
            <a:r>
              <a:t>  FPR = 0.000   FNR = 0.022</a:t>
            </a:r>
          </a:p>
          <a:p>
            <a:pPr>
              <a:spcAft>
                <a:spcPts val="200"/>
              </a:spcAft>
              <a:defRPr sz="1000" b="0">
                <a:solidFill>
                  <a:srgbClr val="2980B9"/>
                </a:solidFill>
                <a:latin typeface="Consolas"/>
              </a:defRPr>
            </a:pPr>
            <a:r>
              <a:t>  Final Buffer = 37,  Final τ = 0.65</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CSE-CIC-IDS-2018 (ASRRL Dynamic):</a:t>
            </a:r>
          </a:p>
          <a:p>
            <a:pPr>
              <a:spcAft>
                <a:spcPts val="200"/>
              </a:spcAft>
              <a:defRPr sz="1100" b="0">
                <a:solidFill>
                  <a:srgbClr val="1E8E3E"/>
                </a:solidFill>
                <a:latin typeface="Consolas"/>
              </a:defRPr>
            </a:pPr>
            <a:r>
              <a:t>  F1 = 0.981   Acc = 0.989</a:t>
            </a:r>
          </a:p>
          <a:p>
            <a:pPr>
              <a:spcAft>
                <a:spcPts val="200"/>
              </a:spcAft>
              <a:defRPr sz="1000" b="0">
                <a:solidFill>
                  <a:srgbClr val="000000"/>
                </a:solidFill>
                <a:latin typeface="Consolas"/>
              </a:defRPr>
            </a:pPr>
            <a:r>
              <a:t>  Precision = 0.989   Recall = 0.974</a:t>
            </a:r>
          </a:p>
          <a:p>
            <a:pPr>
              <a:spcAft>
                <a:spcPts val="200"/>
              </a:spcAft>
              <a:defRPr sz="1000" b="0">
                <a:solidFill>
                  <a:srgbClr val="000000"/>
                </a:solidFill>
                <a:latin typeface="Consolas"/>
              </a:defRPr>
            </a:pPr>
            <a:r>
              <a:t>  FPR = 0.005   FNR = 0.026</a:t>
            </a:r>
          </a:p>
          <a:p>
            <a:pPr>
              <a:spcAft>
                <a:spcPts val="200"/>
              </a:spcAft>
              <a:defRPr sz="1000" b="0">
                <a:solidFill>
                  <a:srgbClr val="2980B9"/>
                </a:solidFill>
                <a:latin typeface="Consolas"/>
              </a:defRPr>
            </a:pPr>
            <a:r>
              <a:t>  Final Buffer = 30,  Final τ = 0.625</a:t>
            </a:r>
          </a:p>
          <a:p>
            <a:pPr>
              <a:spcAft>
                <a:spcPts val="200"/>
              </a:spcAft>
              <a:defRPr sz="400" b="0">
                <a:solidFill>
                  <a:srgbClr val="000000"/>
                </a:solidFill>
                <a:latin typeface="Consolas"/>
              </a:defRPr>
            </a:pPr>
            <a:endParaRPr/>
          </a:p>
          <a:p>
            <a:pPr>
              <a:spcAft>
                <a:spcPts val="200"/>
              </a:spcAft>
              <a:defRPr sz="1200" b="1">
                <a:solidFill>
                  <a:srgbClr val="000000"/>
                </a:solidFill>
                <a:latin typeface="Consolas"/>
              </a:defRPr>
            </a:pPr>
            <a:r>
              <a:t>CIC-IDS2017 (ASRRL Dynamic):</a:t>
            </a:r>
          </a:p>
          <a:p>
            <a:pPr>
              <a:spcAft>
                <a:spcPts val="200"/>
              </a:spcAft>
              <a:defRPr sz="1100" b="0">
                <a:solidFill>
                  <a:srgbClr val="1E8E3E"/>
                </a:solidFill>
                <a:latin typeface="Consolas"/>
              </a:defRPr>
            </a:pPr>
            <a:r>
              <a:t>  F1 = 0.984   Acc = 0.991</a:t>
            </a:r>
          </a:p>
          <a:p>
            <a:pPr>
              <a:spcAft>
                <a:spcPts val="200"/>
              </a:spcAft>
              <a:defRPr sz="1000" b="0">
                <a:solidFill>
                  <a:srgbClr val="000000"/>
                </a:solidFill>
                <a:latin typeface="Consolas"/>
              </a:defRPr>
            </a:pPr>
            <a:r>
              <a:t>  Precision = 0.996   Recall = 0.974</a:t>
            </a:r>
          </a:p>
          <a:p>
            <a:pPr>
              <a:spcAft>
                <a:spcPts val="200"/>
              </a:spcAft>
              <a:defRPr sz="1000" b="0">
                <a:solidFill>
                  <a:srgbClr val="000000"/>
                </a:solidFill>
                <a:latin typeface="Consolas"/>
              </a:defRPr>
            </a:pPr>
            <a:r>
              <a:t>  FPR = 0.002   FNR = 0.026</a:t>
            </a:r>
          </a:p>
          <a:p>
            <a:pPr>
              <a:spcAft>
                <a:spcPts val="200"/>
              </a:spcAft>
              <a:defRPr sz="1000" b="0">
                <a:solidFill>
                  <a:srgbClr val="2980B9"/>
                </a:solidFill>
                <a:latin typeface="Consolas"/>
              </a:defRPr>
            </a:pPr>
            <a:r>
              <a:t>  Final Buffer = 32,  Final τ = 0.685</a:t>
            </a:r>
          </a:p>
        </p:txBody>
      </p:sp>
      <p:sp>
        <p:nvSpPr>
          <p:cNvPr id="6" name="TextBox 5"/>
          <p:cNvSpPr txBox="1"/>
          <p:nvPr/>
        </p:nvSpPr>
        <p:spPr>
          <a:xfrm>
            <a:off x="274320" y="4754880"/>
            <a:ext cx="6400800" cy="274320"/>
          </a:xfrm>
          <a:prstGeom prst="rect">
            <a:avLst/>
          </a:prstGeom>
          <a:noFill/>
        </p:spPr>
        <p:txBody>
          <a:bodyPr wrap="square">
            <a:spAutoFit/>
          </a:bodyPr>
          <a:lstStyle/>
          <a:p>
            <a:pPr algn="l">
              <a:defRPr sz="1400" b="1">
                <a:solidFill>
                  <a:srgbClr val="2C3E50"/>
                </a:solidFill>
                <a:latin typeface="Calibri"/>
              </a:defRPr>
            </a:pPr>
            <a:r>
              <a:t>Evaluation Metrics:</a:t>
            </a:r>
          </a:p>
        </p:txBody>
      </p:sp>
      <p:pic>
        <p:nvPicPr>
          <p:cNvPr id="7" name="Picture 6" descr="image.png"/>
          <p:cNvPicPr>
            <a:picLocks noChangeAspect="1"/>
          </p:cNvPicPr>
          <p:nvPr/>
        </p:nvPicPr>
        <p:blipFill>
          <a:blip r:embed="rId3"/>
          <a:stretch>
            <a:fillRect/>
          </a:stretch>
        </p:blipFill>
        <p:spPr>
          <a:xfrm>
            <a:off x="274320" y="5029200"/>
            <a:ext cx="6400800" cy="927324"/>
          </a:xfrm>
          <a:prstGeom prst="rect">
            <a:avLst/>
          </a:prstGeom>
        </p:spPr>
      </p:pic>
      <p:sp>
        <p:nvSpPr>
          <p:cNvPr id="8" name="TextBox 7"/>
          <p:cNvSpPr txBox="1"/>
          <p:nvPr/>
        </p:nvSpPr>
        <p:spPr>
          <a:xfrm>
            <a:off x="274320" y="6217920"/>
            <a:ext cx="11430000" cy="365760"/>
          </a:xfrm>
          <a:prstGeom prst="rect">
            <a:avLst/>
          </a:prstGeom>
          <a:noFill/>
        </p:spPr>
        <p:txBody>
          <a:bodyPr wrap="square">
            <a:spAutoFit/>
          </a:bodyPr>
          <a:lstStyle/>
          <a:p>
            <a:pPr algn="ctr">
              <a:defRPr sz="1200" b="1">
                <a:solidFill>
                  <a:srgbClr val="2980B9"/>
                </a:solidFill>
                <a:latin typeface="Calibri"/>
              </a:defRPr>
            </a:pPr>
            <a:r>
              <a:t>Final Output:  ŷ_i ∈ {0,1} per flow with Z3 audit trail, constraint justification, and verifiable decision provenance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3C71"/>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0972800" cy="548640"/>
          </a:xfrm>
          <a:prstGeom prst="rect">
            <a:avLst/>
          </a:prstGeom>
          <a:noFill/>
        </p:spPr>
        <p:txBody>
          <a:bodyPr wrap="square">
            <a:spAutoFit/>
          </a:bodyPr>
          <a:lstStyle/>
          <a:p>
            <a:pPr algn="ctr">
              <a:defRPr sz="2800" b="1">
                <a:solidFill>
                  <a:srgbClr val="FFFFFF"/>
                </a:solidFill>
                <a:latin typeface="Calibri"/>
              </a:defRPr>
            </a:pPr>
            <a:r>
              <a:t>Key Results — ASRRL vs Baselines Across 3 Datasets</a:t>
            </a:r>
          </a:p>
        </p:txBody>
      </p:sp>
      <p:sp>
        <p:nvSpPr>
          <p:cNvPr id="3" name="TextBox 2"/>
          <p:cNvSpPr txBox="1"/>
          <p:nvPr/>
        </p:nvSpPr>
        <p:spPr>
          <a:xfrm>
            <a:off x="548640" y="914400"/>
            <a:ext cx="3657600" cy="502920"/>
          </a:xfrm>
          <a:prstGeom prst="rect">
            <a:avLst/>
          </a:prstGeom>
          <a:noFill/>
        </p:spPr>
        <p:txBody>
          <a:bodyPr wrap="square">
            <a:spAutoFit/>
          </a:bodyPr>
          <a:lstStyle/>
          <a:p>
            <a:pPr algn="l">
              <a:defRPr sz="1400" b="1">
                <a:solidFill>
                  <a:srgbClr val="FFFFFF"/>
                </a:solidFill>
                <a:latin typeface="Calibri"/>
              </a:defRPr>
            </a:pPr>
            <a:r>
              <a:t>F1 Score (50K, 10 trials)</a:t>
            </a:r>
          </a:p>
        </p:txBody>
      </p:sp>
      <p:sp>
        <p:nvSpPr>
          <p:cNvPr id="4" name="TextBox 3"/>
          <p:cNvSpPr txBox="1"/>
          <p:nvPr/>
        </p:nvSpPr>
        <p:spPr>
          <a:xfrm>
            <a:off x="4389120" y="914400"/>
            <a:ext cx="2286000" cy="502920"/>
          </a:xfrm>
          <a:prstGeom prst="rect">
            <a:avLst/>
          </a:prstGeom>
          <a:noFill/>
        </p:spPr>
        <p:txBody>
          <a:bodyPr wrap="square">
            <a:spAutoFit/>
          </a:bodyPr>
          <a:lstStyle/>
          <a:p>
            <a:pPr algn="l">
              <a:defRPr sz="1700" b="1">
                <a:solidFill>
                  <a:srgbClr val="2ECC71"/>
                </a:solidFill>
                <a:latin typeface="Calibri"/>
              </a:defRPr>
            </a:pPr>
            <a:r>
              <a:t>0.981 – 0.989</a:t>
            </a:r>
          </a:p>
        </p:txBody>
      </p:sp>
      <p:sp>
        <p:nvSpPr>
          <p:cNvPr id="5" name="TextBox 4"/>
          <p:cNvSpPr txBox="1"/>
          <p:nvPr/>
        </p:nvSpPr>
        <p:spPr>
          <a:xfrm>
            <a:off x="6858000" y="914400"/>
            <a:ext cx="5029200" cy="502920"/>
          </a:xfrm>
          <a:prstGeom prst="rect">
            <a:avLst/>
          </a:prstGeom>
          <a:noFill/>
        </p:spPr>
        <p:txBody>
          <a:bodyPr wrap="square">
            <a:spAutoFit/>
          </a:bodyPr>
          <a:lstStyle/>
          <a:p>
            <a:pPr algn="l">
              <a:defRPr sz="1200" b="0">
                <a:solidFill>
                  <a:srgbClr val="BDC3C7"/>
                </a:solidFill>
                <a:latin typeface="Calibri"/>
              </a:defRPr>
            </a:pPr>
            <a:r>
              <a:t>Competitive with RF, XGBoost, LightGBM</a:t>
            </a:r>
          </a:p>
        </p:txBody>
      </p:sp>
      <p:sp>
        <p:nvSpPr>
          <p:cNvPr id="6" name="TextBox 5"/>
          <p:cNvSpPr txBox="1"/>
          <p:nvPr/>
        </p:nvSpPr>
        <p:spPr>
          <a:xfrm>
            <a:off x="548640" y="1600200"/>
            <a:ext cx="3657600" cy="502920"/>
          </a:xfrm>
          <a:prstGeom prst="rect">
            <a:avLst/>
          </a:prstGeom>
          <a:noFill/>
        </p:spPr>
        <p:txBody>
          <a:bodyPr wrap="square">
            <a:spAutoFit/>
          </a:bodyPr>
          <a:lstStyle/>
          <a:p>
            <a:pPr algn="l">
              <a:defRPr sz="1400" b="1">
                <a:solidFill>
                  <a:srgbClr val="FFFFFF"/>
                </a:solidFill>
                <a:latin typeface="Calibri"/>
              </a:defRPr>
            </a:pPr>
            <a:r>
              <a:t>Composite Verifiability (CVS)</a:t>
            </a:r>
          </a:p>
        </p:txBody>
      </p:sp>
      <p:sp>
        <p:nvSpPr>
          <p:cNvPr id="7" name="TextBox 6"/>
          <p:cNvSpPr txBox="1"/>
          <p:nvPr/>
        </p:nvSpPr>
        <p:spPr>
          <a:xfrm>
            <a:off x="4389120" y="1600200"/>
            <a:ext cx="2286000" cy="502920"/>
          </a:xfrm>
          <a:prstGeom prst="rect">
            <a:avLst/>
          </a:prstGeom>
          <a:noFill/>
        </p:spPr>
        <p:txBody>
          <a:bodyPr wrap="square">
            <a:spAutoFit/>
          </a:bodyPr>
          <a:lstStyle/>
          <a:p>
            <a:pPr algn="l">
              <a:defRPr sz="1700" b="1">
                <a:solidFill>
                  <a:srgbClr val="2ECC71"/>
                </a:solidFill>
                <a:latin typeface="Calibri"/>
              </a:defRPr>
            </a:pPr>
            <a:r>
              <a:t>0.96 vs 0.29</a:t>
            </a:r>
          </a:p>
        </p:txBody>
      </p:sp>
      <p:sp>
        <p:nvSpPr>
          <p:cNvPr id="8" name="TextBox 7"/>
          <p:cNvSpPr txBox="1"/>
          <p:nvPr/>
        </p:nvSpPr>
        <p:spPr>
          <a:xfrm>
            <a:off x="6858000" y="1600200"/>
            <a:ext cx="5029200" cy="502920"/>
          </a:xfrm>
          <a:prstGeom prst="rect">
            <a:avLst/>
          </a:prstGeom>
          <a:noFill/>
        </p:spPr>
        <p:txBody>
          <a:bodyPr wrap="square">
            <a:spAutoFit/>
          </a:bodyPr>
          <a:lstStyle/>
          <a:p>
            <a:pPr algn="l">
              <a:defRPr sz="1200" b="0">
                <a:solidFill>
                  <a:srgbClr val="BDC3C7"/>
                </a:solidFill>
                <a:latin typeface="Calibri"/>
              </a:defRPr>
            </a:pPr>
            <a:r>
              <a:t>3.3× higher than best black-box baseline</a:t>
            </a:r>
          </a:p>
        </p:txBody>
      </p:sp>
      <p:sp>
        <p:nvSpPr>
          <p:cNvPr id="9" name="TextBox 8"/>
          <p:cNvSpPr txBox="1"/>
          <p:nvPr/>
        </p:nvSpPr>
        <p:spPr>
          <a:xfrm>
            <a:off x="548640" y="2286000"/>
            <a:ext cx="3657600" cy="502920"/>
          </a:xfrm>
          <a:prstGeom prst="rect">
            <a:avLst/>
          </a:prstGeom>
          <a:noFill/>
        </p:spPr>
        <p:txBody>
          <a:bodyPr wrap="square">
            <a:spAutoFit/>
          </a:bodyPr>
          <a:lstStyle/>
          <a:p>
            <a:pPr algn="l">
              <a:defRPr sz="1400" b="1">
                <a:solidFill>
                  <a:srgbClr val="FFFFFF"/>
                </a:solidFill>
                <a:latin typeface="Calibri"/>
              </a:defRPr>
            </a:pPr>
            <a:r>
              <a:t>Z3 Constraint Fidelity</a:t>
            </a:r>
          </a:p>
        </p:txBody>
      </p:sp>
      <p:sp>
        <p:nvSpPr>
          <p:cNvPr id="10" name="TextBox 9"/>
          <p:cNvSpPr txBox="1"/>
          <p:nvPr/>
        </p:nvSpPr>
        <p:spPr>
          <a:xfrm>
            <a:off x="4389120" y="2286000"/>
            <a:ext cx="2286000" cy="502920"/>
          </a:xfrm>
          <a:prstGeom prst="rect">
            <a:avLst/>
          </a:prstGeom>
          <a:noFill/>
        </p:spPr>
        <p:txBody>
          <a:bodyPr wrap="square">
            <a:spAutoFit/>
          </a:bodyPr>
          <a:lstStyle/>
          <a:p>
            <a:pPr algn="l">
              <a:defRPr sz="1700" b="1">
                <a:solidFill>
                  <a:srgbClr val="2ECC71"/>
                </a:solidFill>
                <a:latin typeface="Calibri"/>
              </a:defRPr>
            </a:pPr>
            <a:r>
              <a:t>100% (all 3)</a:t>
            </a:r>
          </a:p>
        </p:txBody>
      </p:sp>
      <p:sp>
        <p:nvSpPr>
          <p:cNvPr id="11" name="TextBox 10"/>
          <p:cNvSpPr txBox="1"/>
          <p:nvPr/>
        </p:nvSpPr>
        <p:spPr>
          <a:xfrm>
            <a:off x="6858000" y="2286000"/>
            <a:ext cx="5029200" cy="502920"/>
          </a:xfrm>
          <a:prstGeom prst="rect">
            <a:avLst/>
          </a:prstGeom>
          <a:noFill/>
        </p:spPr>
        <p:txBody>
          <a:bodyPr wrap="square">
            <a:spAutoFit/>
          </a:bodyPr>
          <a:lstStyle/>
          <a:p>
            <a:pPr algn="l">
              <a:defRPr sz="1200" b="0">
                <a:solidFill>
                  <a:srgbClr val="BDC3C7"/>
                </a:solidFill>
                <a:latin typeface="Calibri"/>
              </a:defRPr>
            </a:pPr>
            <a:r>
              <a:t>Constraints match DT predictions exactly</a:t>
            </a:r>
          </a:p>
        </p:txBody>
      </p:sp>
      <p:sp>
        <p:nvSpPr>
          <p:cNvPr id="12" name="TextBox 11"/>
          <p:cNvSpPr txBox="1"/>
          <p:nvPr/>
        </p:nvSpPr>
        <p:spPr>
          <a:xfrm>
            <a:off x="548640" y="2971800"/>
            <a:ext cx="3657600" cy="502920"/>
          </a:xfrm>
          <a:prstGeom prst="rect">
            <a:avLst/>
          </a:prstGeom>
          <a:noFill/>
        </p:spPr>
        <p:txBody>
          <a:bodyPr wrap="square">
            <a:spAutoFit/>
          </a:bodyPr>
          <a:lstStyle/>
          <a:p>
            <a:pPr algn="l">
              <a:defRPr sz="1400" b="1">
                <a:solidFill>
                  <a:srgbClr val="FFFFFF"/>
                </a:solidFill>
                <a:latin typeface="Calibri"/>
              </a:defRPr>
            </a:pPr>
            <a:r>
              <a:t>Dynamic Threshold τ*</a:t>
            </a:r>
          </a:p>
        </p:txBody>
      </p:sp>
      <p:sp>
        <p:nvSpPr>
          <p:cNvPr id="13" name="TextBox 12"/>
          <p:cNvSpPr txBox="1"/>
          <p:nvPr/>
        </p:nvSpPr>
        <p:spPr>
          <a:xfrm>
            <a:off x="4389120" y="2971800"/>
            <a:ext cx="2286000" cy="502920"/>
          </a:xfrm>
          <a:prstGeom prst="rect">
            <a:avLst/>
          </a:prstGeom>
          <a:noFill/>
        </p:spPr>
        <p:txBody>
          <a:bodyPr wrap="square">
            <a:spAutoFit/>
          </a:bodyPr>
          <a:lstStyle/>
          <a:p>
            <a:pPr algn="l">
              <a:defRPr sz="1700" b="1">
                <a:solidFill>
                  <a:srgbClr val="2ECC71"/>
                </a:solidFill>
                <a:latin typeface="Calibri"/>
              </a:defRPr>
            </a:pPr>
            <a:r>
              <a:t>0.625 – 0.685</a:t>
            </a:r>
          </a:p>
        </p:txBody>
      </p:sp>
      <p:sp>
        <p:nvSpPr>
          <p:cNvPr id="14" name="TextBox 13"/>
          <p:cNvSpPr txBox="1"/>
          <p:nvPr/>
        </p:nvSpPr>
        <p:spPr>
          <a:xfrm>
            <a:off x="6858000" y="2971800"/>
            <a:ext cx="5029200" cy="502920"/>
          </a:xfrm>
          <a:prstGeom prst="rect">
            <a:avLst/>
          </a:prstGeom>
          <a:noFill/>
        </p:spPr>
        <p:txBody>
          <a:bodyPr wrap="square">
            <a:spAutoFit/>
          </a:bodyPr>
          <a:lstStyle/>
          <a:p>
            <a:pPr algn="l">
              <a:defRPr sz="1200" b="0">
                <a:solidFill>
                  <a:srgbClr val="BDC3C7"/>
                </a:solidFill>
                <a:latin typeface="Calibri"/>
              </a:defRPr>
            </a:pPr>
            <a:r>
              <a:t>Dataset-specific optimal values learned</a:t>
            </a:r>
          </a:p>
        </p:txBody>
      </p:sp>
      <p:sp>
        <p:nvSpPr>
          <p:cNvPr id="15" name="TextBox 14"/>
          <p:cNvSpPr txBox="1"/>
          <p:nvPr/>
        </p:nvSpPr>
        <p:spPr>
          <a:xfrm>
            <a:off x="548640" y="3657600"/>
            <a:ext cx="3657600" cy="502920"/>
          </a:xfrm>
          <a:prstGeom prst="rect">
            <a:avLst/>
          </a:prstGeom>
          <a:noFill/>
        </p:spPr>
        <p:txBody>
          <a:bodyPr wrap="square">
            <a:spAutoFit/>
          </a:bodyPr>
          <a:lstStyle/>
          <a:p>
            <a:pPr algn="l">
              <a:defRPr sz="1400" b="1">
                <a:solidFill>
                  <a:srgbClr val="FFFFFF"/>
                </a:solidFill>
                <a:latin typeface="Calibri"/>
              </a:defRPr>
            </a:pPr>
            <a:r>
              <a:t>Adaptive Buffer</a:t>
            </a:r>
          </a:p>
        </p:txBody>
      </p:sp>
      <p:sp>
        <p:nvSpPr>
          <p:cNvPr id="16" name="TextBox 15"/>
          <p:cNvSpPr txBox="1"/>
          <p:nvPr/>
        </p:nvSpPr>
        <p:spPr>
          <a:xfrm>
            <a:off x="4389120" y="3657600"/>
            <a:ext cx="2286000" cy="502920"/>
          </a:xfrm>
          <a:prstGeom prst="rect">
            <a:avLst/>
          </a:prstGeom>
          <a:noFill/>
        </p:spPr>
        <p:txBody>
          <a:bodyPr wrap="square">
            <a:spAutoFit/>
          </a:bodyPr>
          <a:lstStyle/>
          <a:p>
            <a:pPr algn="l">
              <a:defRPr sz="1700" b="1">
                <a:solidFill>
                  <a:srgbClr val="2ECC71"/>
                </a:solidFill>
                <a:latin typeface="Calibri"/>
              </a:defRPr>
            </a:pPr>
            <a:r>
              <a:t>30 – 37 flows</a:t>
            </a:r>
          </a:p>
        </p:txBody>
      </p:sp>
      <p:sp>
        <p:nvSpPr>
          <p:cNvPr id="17" name="TextBox 16"/>
          <p:cNvSpPr txBox="1"/>
          <p:nvPr/>
        </p:nvSpPr>
        <p:spPr>
          <a:xfrm>
            <a:off x="6858000" y="3657600"/>
            <a:ext cx="5029200" cy="502920"/>
          </a:xfrm>
          <a:prstGeom prst="rect">
            <a:avLst/>
          </a:prstGeom>
          <a:noFill/>
        </p:spPr>
        <p:txBody>
          <a:bodyPr wrap="square">
            <a:spAutoFit/>
          </a:bodyPr>
          <a:lstStyle/>
          <a:p>
            <a:pPr algn="l">
              <a:defRPr sz="1200" b="0">
                <a:solidFill>
                  <a:srgbClr val="BDC3C7"/>
                </a:solidFill>
                <a:latin typeface="Calibri"/>
              </a:defRPr>
            </a:pPr>
            <a:r>
              <a:t>Converges per-dataset attack rate</a:t>
            </a:r>
          </a:p>
        </p:txBody>
      </p:sp>
      <p:sp>
        <p:nvSpPr>
          <p:cNvPr id="18" name="TextBox 17"/>
          <p:cNvSpPr txBox="1"/>
          <p:nvPr/>
        </p:nvSpPr>
        <p:spPr>
          <a:xfrm>
            <a:off x="548640" y="4343400"/>
            <a:ext cx="3657600" cy="502920"/>
          </a:xfrm>
          <a:prstGeom prst="rect">
            <a:avLst/>
          </a:prstGeom>
          <a:noFill/>
        </p:spPr>
        <p:txBody>
          <a:bodyPr wrap="square">
            <a:spAutoFit/>
          </a:bodyPr>
          <a:lstStyle/>
          <a:p>
            <a:pPr algn="l">
              <a:defRPr sz="1400" b="1">
                <a:solidFill>
                  <a:srgbClr val="FFFFFF"/>
                </a:solidFill>
                <a:latin typeface="Calibri"/>
              </a:defRPr>
            </a:pPr>
            <a:r>
              <a:t>Statistical Significance</a:t>
            </a:r>
          </a:p>
        </p:txBody>
      </p:sp>
      <p:sp>
        <p:nvSpPr>
          <p:cNvPr id="19" name="TextBox 18"/>
          <p:cNvSpPr txBox="1"/>
          <p:nvPr/>
        </p:nvSpPr>
        <p:spPr>
          <a:xfrm>
            <a:off x="4389120" y="4343400"/>
            <a:ext cx="2286000" cy="502920"/>
          </a:xfrm>
          <a:prstGeom prst="rect">
            <a:avLst/>
          </a:prstGeom>
          <a:noFill/>
        </p:spPr>
        <p:txBody>
          <a:bodyPr wrap="square">
            <a:spAutoFit/>
          </a:bodyPr>
          <a:lstStyle/>
          <a:p>
            <a:pPr algn="l">
              <a:defRPr sz="1700" b="1">
                <a:solidFill>
                  <a:srgbClr val="2ECC71"/>
                </a:solidFill>
                <a:latin typeface="Calibri"/>
              </a:defRPr>
            </a:pPr>
            <a:r>
              <a:t>p &lt; 0.05</a:t>
            </a:r>
          </a:p>
        </p:txBody>
      </p:sp>
      <p:sp>
        <p:nvSpPr>
          <p:cNvPr id="20" name="TextBox 19"/>
          <p:cNvSpPr txBox="1"/>
          <p:nvPr/>
        </p:nvSpPr>
        <p:spPr>
          <a:xfrm>
            <a:off x="6858000" y="4343400"/>
            <a:ext cx="5029200" cy="502920"/>
          </a:xfrm>
          <a:prstGeom prst="rect">
            <a:avLst/>
          </a:prstGeom>
          <a:noFill/>
        </p:spPr>
        <p:txBody>
          <a:bodyPr wrap="square">
            <a:spAutoFit/>
          </a:bodyPr>
          <a:lstStyle/>
          <a:p>
            <a:pPr algn="l">
              <a:defRPr sz="1200" b="0">
                <a:solidFill>
                  <a:srgbClr val="BDC3C7"/>
                </a:solidFill>
                <a:latin typeface="Calibri"/>
              </a:defRPr>
            </a:pPr>
            <a:r>
              <a:t>Wilcoxon: outperforms SVM, KNN, MLP</a:t>
            </a:r>
          </a:p>
        </p:txBody>
      </p:sp>
      <p:sp>
        <p:nvSpPr>
          <p:cNvPr id="21" name="TextBox 20"/>
          <p:cNvSpPr txBox="1"/>
          <p:nvPr/>
        </p:nvSpPr>
        <p:spPr>
          <a:xfrm>
            <a:off x="548640" y="5029200"/>
            <a:ext cx="3657600" cy="502920"/>
          </a:xfrm>
          <a:prstGeom prst="rect">
            <a:avLst/>
          </a:prstGeom>
          <a:noFill/>
        </p:spPr>
        <p:txBody>
          <a:bodyPr wrap="square">
            <a:spAutoFit/>
          </a:bodyPr>
          <a:lstStyle/>
          <a:p>
            <a:pPr algn="l">
              <a:defRPr sz="1400" b="1">
                <a:solidFill>
                  <a:srgbClr val="FFFFFF"/>
                </a:solidFill>
                <a:latin typeface="Calibri"/>
              </a:defRPr>
            </a:pPr>
            <a:r>
              <a:t>Safety Shield</a:t>
            </a:r>
          </a:p>
        </p:txBody>
      </p:sp>
      <p:sp>
        <p:nvSpPr>
          <p:cNvPr id="22" name="TextBox 21"/>
          <p:cNvSpPr txBox="1"/>
          <p:nvPr/>
        </p:nvSpPr>
        <p:spPr>
          <a:xfrm>
            <a:off x="4389120" y="5029200"/>
            <a:ext cx="2286000" cy="502920"/>
          </a:xfrm>
          <a:prstGeom prst="rect">
            <a:avLst/>
          </a:prstGeom>
          <a:noFill/>
        </p:spPr>
        <p:txBody>
          <a:bodyPr wrap="square">
            <a:spAutoFit/>
          </a:bodyPr>
          <a:lstStyle/>
          <a:p>
            <a:pPr algn="l">
              <a:defRPr sz="1700" b="1">
                <a:solidFill>
                  <a:srgbClr val="2ECC71"/>
                </a:solidFill>
                <a:latin typeface="Calibri"/>
              </a:defRPr>
            </a:pPr>
            <a:r>
              <a:t>&gt; 0 activations</a:t>
            </a:r>
          </a:p>
        </p:txBody>
      </p:sp>
      <p:sp>
        <p:nvSpPr>
          <p:cNvPr id="23" name="TextBox 22"/>
          <p:cNvSpPr txBox="1"/>
          <p:nvPr/>
        </p:nvSpPr>
        <p:spPr>
          <a:xfrm>
            <a:off x="6858000" y="5029200"/>
            <a:ext cx="5029200" cy="502920"/>
          </a:xfrm>
          <a:prstGeom prst="rect">
            <a:avLst/>
          </a:prstGeom>
          <a:noFill/>
        </p:spPr>
        <p:txBody>
          <a:bodyPr wrap="square">
            <a:spAutoFit/>
          </a:bodyPr>
          <a:lstStyle/>
          <a:p>
            <a:pPr algn="l">
              <a:defRPr sz="1200" b="0">
                <a:solidFill>
                  <a:srgbClr val="BDC3C7"/>
                </a:solidFill>
                <a:latin typeface="Calibri"/>
              </a:defRPr>
            </a:pPr>
            <a:r>
              <a:t>Provably prevents unsafe classifications</a:t>
            </a:r>
          </a:p>
        </p:txBody>
      </p:sp>
      <p:sp>
        <p:nvSpPr>
          <p:cNvPr id="24" name="TextBox 23"/>
          <p:cNvSpPr txBox="1"/>
          <p:nvPr/>
        </p:nvSpPr>
        <p:spPr>
          <a:xfrm>
            <a:off x="548640" y="5715000"/>
            <a:ext cx="3657600" cy="502920"/>
          </a:xfrm>
          <a:prstGeom prst="rect">
            <a:avLst/>
          </a:prstGeom>
          <a:noFill/>
        </p:spPr>
        <p:txBody>
          <a:bodyPr wrap="square">
            <a:spAutoFit/>
          </a:bodyPr>
          <a:lstStyle/>
          <a:p>
            <a:pPr algn="l">
              <a:defRPr sz="1400" b="1">
                <a:solidFill>
                  <a:srgbClr val="FFFFFF"/>
                </a:solidFill>
                <a:latin typeface="Calibri"/>
              </a:defRPr>
            </a:pPr>
            <a:r>
              <a:t>DBSCAN Novel Patterns</a:t>
            </a:r>
          </a:p>
        </p:txBody>
      </p:sp>
      <p:sp>
        <p:nvSpPr>
          <p:cNvPr id="25" name="TextBox 24"/>
          <p:cNvSpPr txBox="1"/>
          <p:nvPr/>
        </p:nvSpPr>
        <p:spPr>
          <a:xfrm>
            <a:off x="4389120" y="5715000"/>
            <a:ext cx="2286000" cy="502920"/>
          </a:xfrm>
          <a:prstGeom prst="rect">
            <a:avLst/>
          </a:prstGeom>
          <a:noFill/>
        </p:spPr>
        <p:txBody>
          <a:bodyPr wrap="square">
            <a:spAutoFit/>
          </a:bodyPr>
          <a:lstStyle/>
          <a:p>
            <a:pPr algn="l">
              <a:defRPr sz="1700" b="1">
                <a:solidFill>
                  <a:srgbClr val="2ECC71"/>
                </a:solidFill>
                <a:latin typeface="Calibri"/>
              </a:defRPr>
            </a:pPr>
            <a:r>
              <a:t>Detected</a:t>
            </a:r>
          </a:p>
        </p:txBody>
      </p:sp>
      <p:sp>
        <p:nvSpPr>
          <p:cNvPr id="26" name="TextBox 25"/>
          <p:cNvSpPr txBox="1"/>
          <p:nvPr/>
        </p:nvSpPr>
        <p:spPr>
          <a:xfrm>
            <a:off x="6858000" y="5715000"/>
            <a:ext cx="5029200" cy="502920"/>
          </a:xfrm>
          <a:prstGeom prst="rect">
            <a:avLst/>
          </a:prstGeom>
          <a:noFill/>
        </p:spPr>
        <p:txBody>
          <a:bodyPr wrap="square">
            <a:spAutoFit/>
          </a:bodyPr>
          <a:lstStyle/>
          <a:p>
            <a:pPr algn="l">
              <a:defRPr sz="1200" b="0">
                <a:solidFill>
                  <a:srgbClr val="BDC3C7"/>
                </a:solidFill>
                <a:latin typeface="Calibri"/>
              </a:defRPr>
            </a:pPr>
            <a:r>
              <a:t>Zero-day attack signature discovery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12565</Words>
  <Application>Microsoft Macintosh PowerPoint</Application>
  <PresentationFormat>Widescreen</PresentationFormat>
  <Paragraphs>967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Google Sans</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Palmer Corker Young</cp:lastModifiedBy>
  <cp:revision>2</cp:revision>
  <dcterms:created xsi:type="dcterms:W3CDTF">2013-01-27T09:14:16Z</dcterms:created>
  <dcterms:modified xsi:type="dcterms:W3CDTF">2026-03-30T21:04:24Z</dcterms:modified>
  <cp:category/>
</cp:coreProperties>
</file>