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ASRRL — Adaptive Symbolic Reasoning and Reinforcement Learning for Dynamic Network Traffic Classification</a:t>
            </a:r>
          </a:p>
          <a:p/>
          <a:p>
            <a:r>
              <a:t>This presentation details the complete methodology of the ASRRL Intrusion Detection System (IDS) framework. ASRRL combines multiple ML and formal methods techniques into a 9-stage pipeline (Stages 0–8) for network traffic classification.</a:t>
            </a:r>
          </a:p>
          <a:p/>
          <a:p>
            <a:r>
              <a:t>KEY CONTRIBUTIONS:</a:t>
            </a:r>
          </a:p>
          <a:p>
            <a:r>
              <a:t>1. PCAP Binary Preprocessing (Stage 0): Raw binary PCAP packet captures are converted to flow-level features using CICFlowMeter/Argus, establishing the bridge between raw network data and the ML pipeline.</a:t>
            </a:r>
          </a:p>
          <a:p/>
          <a:p>
            <a:r>
              <a:t>2. Symbolic Reasoning via Z3 SMT Solver: Decision tree paths are converted into formal logic constraints using Microsoft Research's Z3 theorem prover, providing mathematically provable safety guarantees.</a:t>
            </a:r>
          </a:p>
          <a:p/>
          <a:p>
            <a:r>
              <a:t>3. Reinforcement Learning with Safety Shielding: A tabular Q-learning agent learns optimal classification policies, but every proposed action is verified against Z3 constraints before execution.</a:t>
            </a:r>
          </a:p>
          <a:p/>
          <a:p>
            <a:r>
              <a:t>4. Dynamic Adaptation: Adaptive buffer sizing (10-200 flows) and dynamic threshold adaptation (0.40-0.70) handle concept drift at runtime.</a:t>
            </a:r>
          </a:p>
          <a:p/>
          <a:p>
            <a:r>
              <a:t>5. Novel Pattern Detection: DBSCAN clustering discovers zero-day attack patterns and incorporates them as new Z3 constraints.</a:t>
            </a:r>
          </a:p>
          <a:p/>
          <a:p>
            <a:r>
              <a:t>6. Parallel Processing: Pipeline stages with independent data paths are parallelized for throughput — PCAP processing, Z3 extraction, and final classification are embarrassingly parallel.</a:t>
            </a:r>
          </a:p>
          <a:p/>
          <a:p>
            <a:r>
              <a:t>DATASETS: UNSW-NB15, CSE-CIC-IDS-2018, CIC-IDS2017.</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 ASRRL Architecture: 9-Stage Pipeline with Parallel Processing</a:t>
            </a:r>
          </a:p>
          <a:p/>
          <a:p>
            <a:r>
              <a:t>This slide presents the complete 9-stage pipeline (Stage 0 through Stage 8). The key addition from the previous version is Stage 0 (PCAP Binary Preprocessing), which addresses how raw binary network captures are converted into the flow-level tabular data that the ML pipeline consumes.</a:t>
            </a:r>
          </a:p>
          <a:p/>
          <a:p>
            <a:r>
              <a:t>STAGE 0 — PCAP PREPROCESSING:</a:t>
            </a:r>
          </a:p>
          <a:p>
            <a:r>
              <a:t>Real network traffic is captured as binary PCAP (Packet CAPture) files containing raw packet headers and payloads. Before any ML processing:</a:t>
            </a:r>
          </a:p>
          <a:p>
            <a:r>
              <a:t>1. Packets are reassembled into TCP streams</a:t>
            </a:r>
          </a:p>
          <a:p>
            <a:r>
              <a:t>2. Flows are aggregated by 5-tuple (src_ip, dst_ip, src_port, dst_port, protocol)</a:t>
            </a:r>
          </a:p>
          <a:p>
            <a:r>
              <a:t>3. Timeout-based flow termination applies (active ~120s, idle ~60s)</a:t>
            </a:r>
          </a:p>
          <a:p>
            <a:r>
              <a:t>4. CICFlowMeter (for CIC datasets) or Argus (for UNSW-NB15) computes 49–80+ statistical features per flow</a:t>
            </a:r>
          </a:p>
          <a:p>
            <a:r>
              <a:t>5. Output: CSV files with one row per flow</a:t>
            </a:r>
          </a:p>
          <a:p/>
          <a:p>
            <a:r>
              <a:t>PARALLEL PROCESSING POINTS:</a:t>
            </a:r>
          </a:p>
          <a:p>
            <a:r>
              <a:t>The pipeline is NOT fully sequential — several stages support parallel execution:</a:t>
            </a:r>
          </a:p>
          <a:p>
            <a:r>
              <a:t>- Stage 0: Each PCAP file processed independently → embarrassingly parallel</a:t>
            </a:r>
          </a:p>
          <a:p>
            <a:r>
              <a:t>- Stage 3: Each leaf path extracted and verified independently → parallel per leaf</a:t>
            </a:r>
          </a:p>
          <a:p>
            <a:r>
              <a:t>- Stage 8: Each flow classified independently → embarrassingly parallel per flow</a:t>
            </a:r>
          </a:p>
          <a:p>
            <a:r>
              <a:t>- Cross-dataset: All 3 datasets processed through independent pipeline instances</a:t>
            </a:r>
          </a:p>
          <a:p/>
          <a:p>
            <a:r>
              <a:t>SEQUENTIAL BOTTLENECKS:</a:t>
            </a:r>
          </a:p>
          <a:p>
            <a:r>
              <a:t>- Stage 2 (DT training): CART splits are computed greedily → inherently sequential</a:t>
            </a:r>
          </a:p>
          <a:p>
            <a:r>
              <a:t>- Stage 4 (Q-learning): Episodes update shared Q-table → sequential within episodes</a:t>
            </a:r>
          </a:p>
          <a:p>
            <a:r>
              <a:t>- Stage 5 (DBSCAN): Core algorithm uses sequential neighborhood queries</a:t>
            </a:r>
          </a:p>
          <a:p>
            <a:r>
              <a:t>- Stages 6-7 (Buffer/Threshold): Temporal dependency on previous window state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 Three Benchmark Datasets: Raw Features &amp; Standardized 10-Feature Extraction</a:t>
            </a:r>
          </a:p>
          <a:p/>
          <a:p>
            <a:r>
              <a:t>Each dataset is mapped to the same 10-feature standardized schema. The first 7 features were in the original design; the 3 NEW features (shown in green) were added during optimization:</a:t>
            </a:r>
          </a:p>
          <a:p/>
          <a:p>
            <a:r>
              <a:t>UNSW-NB15 (49 raw columns → 10 features):</a:t>
            </a:r>
          </a:p>
          <a:p>
            <a:r>
              <a:t>- Original 7: dur→flow_duration, rate→pkt_rate, sbytes+dbytes→byte_rate, ct_srv_src→traffic_pat_var, dsport→port_cat, byte_rate→size_cat, proto→protocol</a:t>
            </a:r>
          </a:p>
          <a:p>
            <a:r>
              <a:t>- NEW 3: sttl→src_ttl (source TTL, quantile-normalized), sload→src_load (source bits/sec, quantile-normalized), smean→mean_pkt_size (mean packet size, quantile-normalized)</a:t>
            </a:r>
          </a:p>
          <a:p>
            <a:r>
              <a:t>- These 3 features are the strongest discriminators in UNSW literature and improved UNSW F1 by +5.0%</a:t>
            </a:r>
          </a:p>
          <a:p/>
          <a:p>
            <a:r>
              <a:t>CSE-CIC-IDS-2018 (80+ raw columns → 10 features):</a:t>
            </a:r>
          </a:p>
          <a:p>
            <a:r>
              <a:t>- Original 7: Flow Duration, Flow Packets/s, Flow Bytes/s, Fwd IAT Std, Dst Port, bytes*dur, Protocol</a:t>
            </a:r>
          </a:p>
          <a:p>
            <a:r>
              <a:t>- NEW 3: Fwd Header Length→src_ttl, Fwd Packets/s→src_load, Average Packet Size→mean_pkt_size</a:t>
            </a:r>
          </a:p>
          <a:p/>
          <a:p>
            <a:r>
              <a:t>CIC-IDS2017 (80+ raw columns → 10 features):</a:t>
            </a:r>
          </a:p>
          <a:p>
            <a:r>
              <a:t>- Same mappings as CSE-CIC-2018 (both use CICFlowMeter output format)</a:t>
            </a:r>
          </a:p>
          <a:p/>
          <a:p>
            <a:r>
              <a:t>All 3 new features are quantile-normalized to [0,1] to match the scale of traffic_pat_var.</a:t>
            </a:r>
          </a:p>
          <a:p/>
          <a:p>
            <a:r>
              <a:t>KEY POINT: The 3 new features capture network-level properties (TTL fingerprinting, source load, packet size distribution) that are orthogonal to the original flow-level features, providing the DT with richer discriminative information.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 Stage 0: PCAP Binary Preprocessing &amp; Flow Aggregation</a:t>
            </a:r>
          </a:p>
          <a:p/>
          <a:p>
            <a:r>
              <a:t>PURPOSE: Bridge the gap between raw binary network captures (PCAP format) and the tabular flow-level data that the ML pipeline (Stages 1–8) consumes. This stage documents the complete data lineage from wire to CSV.</a:t>
            </a:r>
          </a:p>
          <a:p/>
          <a:p>
            <a:r>
              <a:t>WHAT IS PCAP:</a:t>
            </a:r>
          </a:p>
          <a:p>
            <a:r>
              <a:t>PCAP (Packet CAPture) is the standard binary format for storing captured network packets. Each PCAP file contains:</a:t>
            </a:r>
          </a:p>
          <a:p>
            <a:r>
              <a:t>- Global header: magic number, version, snap length, link-layer type</a:t>
            </a:r>
          </a:p>
          <a:p>
            <a:r>
              <a:t>- Per-packet records: timestamp (microsecond precision), captured length, original length, raw packet bytes</a:t>
            </a:r>
          </a:p>
          <a:p>
            <a:r>
              <a:t>- Packet bytes include: Ethernet header (14 bytes) → IP header (20-60 bytes) → TCP/UDP/ICMP header → payload</a:t>
            </a:r>
          </a:p>
          <a:p/>
          <a:p>
            <a:r>
              <a:t>FLOW AGGREGATION PROCESS:</a:t>
            </a:r>
          </a:p>
          <a:p>
            <a:r>
              <a:t>1. PACKET PARSING: Read binary PCAP, decode Ethernet/IP/transport headers to extract 5-tuple</a:t>
            </a:r>
          </a:p>
          <a:p>
            <a:r>
              <a:t>2. FLOW GROUPING: Group packets by (src_ip, dst_ip, src_port, dst_port, protocol) into bidirectional flows</a:t>
            </a:r>
          </a:p>
          <a:p>
            <a:r>
              <a:t>3. TIMEOUT TERMINATION: Flows are terminated when:</a:t>
            </a:r>
          </a:p>
          <a:p>
            <a:r>
              <a:t>   - Idle timeout (T_idle = 60s): no packets for 60 seconds</a:t>
            </a:r>
          </a:p>
          <a:p>
            <a:r>
              <a:t>   - Active timeout (T_active = 120s): flow duration exceeds 120 seconds</a:t>
            </a:r>
          </a:p>
          <a:p>
            <a:r>
              <a:t>   - FIN/RST flag: TCP connection termination</a:t>
            </a:r>
          </a:p>
          <a:p>
            <a:r>
              <a:t>4. FEATURE COMPUTATION: For each terminated flow, compute statistical features:</a:t>
            </a:r>
          </a:p>
          <a:p>
            <a:r>
              <a:t>   - Duration, total packets (fwd+bwd), total bytes (fwd+bwd)</a:t>
            </a:r>
          </a:p>
          <a:p>
            <a:r>
              <a:t>   - Packet rate, byte rate, packet size stats (mean, std, min, max)</a:t>
            </a:r>
          </a:p>
          <a:p>
            <a:r>
              <a:t>   - Inter-arrival time stats (mean, std, min, max) for fwd and bwd directions</a:t>
            </a:r>
          </a:p>
          <a:p>
            <a:r>
              <a:t>   - TCP flags (SYN, ACK, FIN, RST, PSH, URG counts)</a:t>
            </a:r>
          </a:p>
          <a:p>
            <a:r>
              <a:t>   - Payload statistics, header lengths, etc.</a:t>
            </a:r>
          </a:p>
          <a:p/>
          <a:p>
            <a:r>
              <a:t>TOOLS USED:</a:t>
            </a:r>
          </a:p>
          <a:p>
            <a:r>
              <a:t>- CICFlowMeter (v3/v4): Java-based tool from CIC that reads PCAP and outputs CICFlowMeter-format CSVs with 80+ features. Used for both CIC-IDS2017 and CSE-CIC-IDS-2018.</a:t>
            </a:r>
          </a:p>
          <a:p>
            <a:r>
              <a:t>- Argus: Open-source flow generator that produces NetFlow-like records. Used alongside Bro-IDS (now Zeek) for UNSW-NB15.</a:t>
            </a:r>
          </a:p>
          <a:p/>
          <a:p>
            <a:r>
              <a:t>PARALLELISM:</a:t>
            </a:r>
          </a:p>
          <a:p>
            <a:r>
              <a:t>PCAP processing is embarrassingly parallel:</a:t>
            </a:r>
          </a:p>
          <a:p>
            <a:r>
              <a:t>- Multiple PCAP files can be processed simultaneously (one per CPU core)</a:t>
            </a:r>
          </a:p>
          <a:p>
            <a:r>
              <a:t>- Large PCAP files can be split by time window and processed in parallel</a:t>
            </a:r>
          </a:p>
          <a:p>
            <a:r>
              <a:t>- This is the most computationally intensive preprocessing step (parsing millions of packets)</a:t>
            </a:r>
          </a:p>
          <a:p/>
          <a:p>
            <a:r>
              <a:t>KEY POINT: The three benchmark datasets ship as pre-extracted CSVs. The PCAP-to-CSV conversion was performed by the dataset creators. However, in a production deployment, Stage 0 would run in real-time using CICFlowMeter or similar tools on live traffic captures.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 Stage 1: Feature Extraction &amp; StandardScaler Normalization</a:t>
            </a:r>
          </a:p>
          <a:p/>
          <a:p>
            <a:r>
              <a:t>PURPOSE: Transform the raw CSV output from Stage 0 (49–80+ columns) into a standardized 10-feature normalized matrix.</a:t>
            </a:r>
          </a:p>
          <a:p/>
          <a:p>
            <a:r>
              <a:t>The 10 features are organized into 3 groups:</a:t>
            </a:r>
          </a:p>
          <a:p>
            <a:r>
              <a:t>1. CONTINUOUS (4 features, Z-score normalized): flow_duration, pkt_rate, byte_rate, traffic_pat_var</a:t>
            </a:r>
          </a:p>
          <a:p>
            <a:r>
              <a:t>2. CATEGORICAL (3 features, integer-binned): port_cat, size_cat, protocol</a:t>
            </a:r>
          </a:p>
          <a:p>
            <a:r>
              <a:t>3. QUANTILE-NORMALIZED (3 NEW features, mapped to [0,1]): src_ttl, src_load, mean_pkt_size</a:t>
            </a:r>
          </a:p>
          <a:p/>
          <a:p>
            <a:r>
              <a:t>DATASET-SPECIFIC MAPPINGS:</a:t>
            </a:r>
          </a:p>
          <a:p>
            <a:r>
              <a:t>- UNSW-NB15 (49 cols → 10): dur*1000, rate, sbytes+dbytes, normalize(ct_srv_src), bin(dsport), bin(byte_rate), proto_map, quantile(sttl), quantile(sload), quantile(smean)</a:t>
            </a:r>
          </a:p>
          <a:p>
            <a:r>
              <a:t>- CSE-CIC-2018 (80+ cols → 10): Flow Duration/1000, Flow Packets/s, Flow Bytes/s, quantile(Fwd IAT Std), bin(Dst Port), bin(bytes*dur), proto_map, quantile(Fwd Header Length), quantile(Fwd Packets/s), quantile(Average Packet Size)</a:t>
            </a:r>
          </a:p>
          <a:p>
            <a:r>
              <a:t>- CIC-IDS2017 (80+ cols → 10): Same as CSE-CIC-2018 (both use CICFlowMeter output)</a:t>
            </a:r>
          </a:p>
          <a:p/>
          <a:p>
            <a:r>
              <a:t>WHY THESE 3 NEW FEATURES:</a:t>
            </a:r>
          </a:p>
          <a:p>
            <a:r>
              <a:t>- src_ttl (from sttl / Fwd Header Length): TTL values fingerprint OS types and detect spoofed packets — attacks often have anomalous TTL</a:t>
            </a:r>
          </a:p>
          <a:p>
            <a:r>
              <a:t>- src_load (from sload / Fwd Packets/s): Source load captures burst patterns characteristic of DoS/DDoS attacks</a:t>
            </a:r>
          </a:p>
          <a:p>
            <a:r>
              <a:t>- mean_pkt_size (from smean / Average Packet Size): Small packets suggest scanning/probing; large packets suggest data exfiltration</a:t>
            </a:r>
          </a:p>
          <a:p/>
          <a:p>
            <a:r>
              <a:t>These 3 features are the strongest discriminators in UNSW-NB15 literature and improved F1 by +5.0% on UNSW, +1.5% on CIC2017.</a:t>
            </a:r>
          </a:p>
          <a:p/>
          <a:p>
            <a:r>
              <a:t>OUTPUT: X_norm (n×10) and y (n binary labels) fed to Stage 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 Stage 2: Decision Tree Symbolic Model (CART)</a:t>
            </a:r>
          </a:p>
          <a:p/>
          <a:p>
            <a:r>
              <a:t>PURPOSE: Train an interpretable decision tree whose decision paths can be extracted as formal logic constraints.</a:t>
            </a:r>
          </a:p>
          <a:p/>
          <a:p>
            <a:r>
              <a:t>WHY DECISION TREE: It is a "white-box" model — every prediction is a conjunction of feature threshold comparisons along a root-to-leaf path. This enables:</a:t>
            </a:r>
          </a:p>
          <a:p>
            <a:r>
              <a:t>1. Direct translation into Z3 logical implications (Stage 3)</a:t>
            </a:r>
          </a:p>
          <a:p>
            <a:r>
              <a:t>2. Discrete state IDs for Q-learning (Stage 4)</a:t>
            </a:r>
          </a:p>
          <a:p>
            <a:r>
              <a:t>3. Tractable verification (max 64 leaves with depth=6)</a:t>
            </a:r>
          </a:p>
          <a:p/>
          <a:p>
            <a:r>
              <a:t>NOTE ON PARALLELISM: CART training is inherently sequential — each split depends on the data partition from the previous split. This is one of the sequential bottlenecks in the pipeline. However, the tree is small (depth=6) so training completes in milliseconds.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 Stage 3: Z3 SMT Constraint Extraction from Decision Tree</a:t>
            </a:r>
          </a:p>
          <a:p/>
          <a:p>
            <a:r>
              <a:t>PURPOSE: Convert the decision tree into formal logic constraints using Z3.</a:t>
            </a:r>
          </a:p>
          <a:p/>
          <a:p>
            <a:r>
              <a:t>PARALLELISM: Each leaf path extraction is independent:</a:t>
            </a:r>
          </a:p>
          <a:p>
            <a:r>
              <a:t>- L leaf paths can be extracted concurrently (one per thread/core)</a:t>
            </a:r>
          </a:p>
          <a:p>
            <a:r>
              <a:t>- Each path produces a candidate constraint φ_l</a:t>
            </a:r>
          </a:p>
          <a:p>
            <a:r>
              <a:t>- The satisfiability merge step is sequential (constraints must be checked for mutual consistency)</a:t>
            </a:r>
          </a:p>
          <a:p>
            <a:r>
              <a:t>- With L ≈ 60 leaves, parallelism reduces extraction time by ~Lx on multi-core systems</a:t>
            </a:r>
          </a:p>
          <a:p/>
          <a:p>
            <a:r>
              <a:t>The verify() function checks: given feature values and proposed action, is the constraint set satisfiable? sat = safe, unsat = unsafe.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 Q-Learning RL Agent Deep Dive</a:t>
            </a:r>
          </a:p>
          <a:p/>
          <a:p>
            <a:r>
              <a:t>This slide provides a focused look at the Q-learning agent before showing the full Stage 4 algorithm.</a:t>
            </a:r>
          </a:p>
          <a:p/>
          <a:p>
            <a:r>
              <a:t>STATE SPACE DESIGN:</a:t>
            </a:r>
          </a:p>
          <a:p>
            <a:r>
              <a:t>- States are DT leaf node indices (not raw features), so |S| ≤ 2^(depth) = 128</a:t>
            </a:r>
          </a:p>
          <a:p>
            <a:r>
              <a:t>- This is a DELIBERATE DESIGN CHOICE: tabular Q-learning with ~128 states converges quickly and is fully interpretable</a:t>
            </a:r>
          </a:p>
          <a:p>
            <a:r>
              <a:t>- Each leaf represents a region of feature space, so the Q-table learns per-region policies</a:t>
            </a:r>
          </a:p>
          <a:p>
            <a:r>
              <a:t>- Deep RL (DQN, PPO) would be overkill for 128 states × 2 actions and would sacrifice interpretability</a:t>
            </a:r>
          </a:p>
          <a:p/>
          <a:p>
            <a:r>
              <a:t>REWARD FUNCTION DESIGN:</a:t>
            </a:r>
          </a:p>
          <a:p>
            <a:r>
              <a:t>- The asymmetric ratio FN:FP = 4.0:1.5 = 2.67:1 reflects IDS priorities</a:t>
            </a:r>
          </a:p>
          <a:p>
            <a:r>
              <a:t>- In production, a missed attack (FN) can lead to data breach, while a false alarm (FP) just generates an alert</a:t>
            </a:r>
          </a:p>
          <a:p>
            <a:r>
              <a:t>- Shield bonus (+1.0) is deliberately high — it's 50% of the TP reward — to make the agent trust Z3 overrides</a:t>
            </a:r>
          </a:p>
          <a:p>
            <a:r>
              <a:t>- UNKNOWN_benign penalty (−0.3) handles ambiguous traffic that the DT assigns low-confidence benign labels</a:t>
            </a:r>
          </a:p>
          <a:p/>
          <a:p>
            <a:r>
              <a:t>EPSILON SCHEDULE:</a:t>
            </a:r>
          </a:p>
          <a:p>
            <a:r>
              <a:t>- Starts at 0.30 (30% random exploration) — higher than typical RL because the state space is small</a:t>
            </a:r>
          </a:p>
          <a:p>
            <a:r>
              <a:t>- Decays by 0.997× per episode — reaches ε_min ≈ episode 768</a:t>
            </a:r>
          </a:p>
          <a:p>
            <a:r>
              <a:t>- Floor at 0.03 ensures 3% ongoing exploration for concept drift adaptation</a:t>
            </a:r>
          </a:p>
          <a:p>
            <a:r>
              <a:t>- With 20 training epochs and variable batch sizes, this gives ~400-600 effective episodes</a:t>
            </a:r>
          </a:p>
          <a:p/>
          <a:p>
            <a:r>
              <a:t>WHY TABULAR (not Deep RL):</a:t>
            </a:r>
          </a:p>
          <a:p>
            <a:r>
              <a:t>1. |S| = 128, |A| = 2: Total Q-table = 256 entries. A neural network is unnecessary.</a:t>
            </a:r>
          </a:p>
          <a:p>
            <a:r>
              <a:t>2. Exact convergence: tabular Q-learning has convergence guarantees (Watkins &amp; Dayan, 1992)</a:t>
            </a:r>
          </a:p>
          <a:p>
            <a:r>
              <a:t>3. Full interpretability: can inspect Q(s, a) for any state and understand why the agent prefers BLOCK vs ALLOW</a:t>
            </a:r>
          </a:p>
          <a:p>
            <a:r>
              <a:t>4. No GPU required: entire Q-table fits in L1 cache, inference is O(1) lookup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 Stage 4: Q-Learning RL with Z3 Safety Shielding</a:t>
            </a:r>
          </a:p>
          <a:p/>
          <a:p>
            <a:r>
              <a:t>PURPOSE: Learn an adaptive policy that improves on the static DT while maintaining safety guarantees.</a:t>
            </a:r>
          </a:p>
          <a:p/>
          <a:p>
            <a:r>
              <a:t>PARALLELISM NOTE: Q-learning training is partially sequential:</a:t>
            </a:r>
          </a:p>
          <a:p>
            <a:r>
              <a:t>- Within an episode, each flow's Q-update depends on the current Q-table → sequential</a:t>
            </a:r>
          </a:p>
          <a:p>
            <a:r>
              <a:t>- However, separate Q-tables are trained for each dataset independently → cross-dataset parallelism</a:t>
            </a:r>
          </a:p>
          <a:p>
            <a:r>
              <a:t>- The Z3 verify() calls per flow are independent and could be batched</a:t>
            </a:r>
          </a:p>
          <a:p/>
          <a:p>
            <a:r>
              <a:t>REWARD: TP:+2, FN:-4, TN:+1, FP:-1.5, shield_bonus:+1.0</a:t>
            </a:r>
          </a:p>
          <a:p>
            <a:r>
              <a:t>The asymmetric penalty (-4 FN vs -1.5 FP) reflects IDS priority: missing attacks is worse than false alarms.</a:t>
            </a:r>
          </a:p>
          <a:p>
            <a:r>
              <a:t>The stronger shield bonus (+1.0) incentivizes Z3-verified actions, which is ASRRL's key differentiator.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 Stage 5: DBSCAN Novel Attack Pattern Detection</a:t>
            </a:r>
          </a:p>
          <a:p/>
          <a:p>
            <a:r>
              <a:t>DBSCAN is inherently sequential (neighborhood queries depend on prior classifications of core/border/noise points). This is a sequential bottleneck, but runs on a small subset of data (only misclassified flows).</a:t>
            </a:r>
          </a:p>
          <a:p/>
          <a:p>
            <a:r>
              <a:t>The feedback loop C' = C ∪ C_novel means the constraint set grows over time, enabling detection of zero-day attacks.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Stage 6: Adaptive Buffer Management</a:t>
            </a:r>
          </a:p>
          <a:p/>
          <a:p>
            <a:r>
              <a:t>Sequential stage — buffer state depends on previous window. Cannot be parallelized within a single traffic stream, but different streams (e.g., per-subnet or per-sensor) could maintain independent buffers in parallel.</a:t>
            </a:r>
          </a:p>
          <a:p/>
          <a:p>
            <a:r>
              <a:t>Grows +10 during volatility, shrinks -5 during stability. Bounds: [10, 200]. Asymmetric rates create conservative bias.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Stage 7: Dynamic Threshold Adaptation</a:t>
            </a:r>
          </a:p>
          <a:p/>
          <a:p>
            <a:r>
              <a:t>Sequential stage — EMA depends on previous state. Like Stage 6, this cannot be parallelized within a single stream but operates independently across datasets.</a:t>
            </a:r>
          </a:p>
          <a:p/>
          <a:p>
            <a:r>
              <a:t>Observed convergence: UNSW-NB15 → τ≈0.625, CSE-CIC-2018 → τ≈0.625, CIC-IDS2017 → τ≈0.685.</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Stage 8: Final Classification Decision</a:t>
            </a:r>
          </a:p>
          <a:p/>
          <a:p>
            <a:r>
              <a:t>PARALLELISM: This is the most parallelizable stage. At inference time:</a:t>
            </a:r>
          </a:p>
          <a:p>
            <a:r>
              <a:t>- The Q-table is frozen (read-only) → no write conflicts</a:t>
            </a:r>
          </a:p>
          <a:p>
            <a:r>
              <a:t>- The constraint set C is frozen (read-only) → each Z3 solver instance is independent</a:t>
            </a:r>
          </a:p>
          <a:p>
            <a:r>
              <a:t>- Each flow x_i is classified independently → embarrassingly parallel</a:t>
            </a:r>
          </a:p>
          <a:p>
            <a:r>
              <a:t>- Can distribute across N cores for ~Nx throughput improvement</a:t>
            </a:r>
          </a:p>
          <a:p/>
          <a:p>
            <a:r>
              <a:t>This is where real-time IDS throughput is critical — production systems need to classify millions of flows per second.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 Parallel Processing Architecture</a:t>
            </a:r>
          </a:p>
          <a:p/>
          <a:p>
            <a:r>
              <a:t>This slide addresses the advisor's question about where parallel processing is used in the pipeline.</a:t>
            </a:r>
          </a:p>
          <a:p/>
          <a:p>
            <a:r>
              <a:t>SUMMARY OF PARALLELISM:</a:t>
            </a:r>
          </a:p>
          <a:p/>
          <a:p>
            <a:r>
              <a:t>EMBARRASSINGLY PARALLEL STAGES:</a:t>
            </a:r>
          </a:p>
          <a:p>
            <a:r>
              <a:t>1. Stage 0 (PCAP Preprocessing): Each PCAP file is processed by an independent CICFlowMeter/Argus instance. No shared state between files. This is I/O-bound and scales linearly with CPU cores.</a:t>
            </a:r>
          </a:p>
          <a:p/>
          <a:p>
            <a:r>
              <a:t>2. Stage 3 (Z3 Constraint Extraction): Each of the L leaf paths can be extracted independently. The path traversal and constraint construction are pure functions of the tree structure. Only the final merge step (checking consistency of the full constraint set) requires sequential processing.</a:t>
            </a:r>
          </a:p>
          <a:p/>
          <a:p>
            <a:r>
              <a:t>3. Stage 8 (Final Classification at Inference): This is the critical real-time stage. At inference time, the Q-table and constraint set are both read-only (frozen after training). Each flow can be classified by an independent worker thread/process. With N CPU cores, throughput scales ~Nx. The tiered approach further helps: ~70% of flows take the fast path (direct DT classification, no Z3 call), only ~30% require Z3 solver invocation.</a:t>
            </a:r>
          </a:p>
          <a:p/>
          <a:p>
            <a:r>
              <a:t>4. Cross-Dataset Parallelism: Since each dataset has its own independent pipeline (separate DT, Q-table, constraint set, buffer, threshold), all three datasets can be processed simultaneously.</a:t>
            </a:r>
          </a:p>
          <a:p/>
          <a:p>
            <a:r>
              <a:t>SEQUENTIAL BOTTLENECKS (and why they're acceptable):</a:t>
            </a:r>
          </a:p>
          <a:p>
            <a:r>
              <a:t>1. Stage 2 (DT Training): CART is inherently sequential, but with depth=6 and 50K samples, it completes in &lt;1 second.</a:t>
            </a:r>
          </a:p>
          <a:p>
            <a:r>
              <a:t>2. Stage 4 (Q-Learning): Within an episode, Q-updates are sequential. But training converges quickly and runs offline.</a:t>
            </a:r>
          </a:p>
          <a:p>
            <a:r>
              <a:t>3. Stage 5 (DBSCAN): Sequential neighborhood queries, but operates on the small subset of misclassified flows only.</a:t>
            </a:r>
          </a:p>
          <a:p>
            <a:r>
              <a:t>4. Stages 6-7 (Buffer/Threshold): Temporal dependencies prevent within-stream parallelism. However, different network segments (per-subnet, per-sensor, per-VLAN) can maintain independent buffer/threshold states in parallel.</a:t>
            </a:r>
          </a:p>
          <a:p/>
          <a:p>
            <a:r>
              <a:t>TRAINING vs INFERENCE:</a:t>
            </a:r>
          </a:p>
          <a:p>
            <a:r>
              <a:t>- Training phase (Stages 0-7): Mostly sequential, runs offline. Total time: seconds to minutes depending on dataset size.</a:t>
            </a:r>
          </a:p>
          <a:p>
            <a:r>
              <a:t>- Inference phase (Stage 8): Fully parallel, runs in real-time. This is where parallelism matters most for production IDS deployment.</a:t>
            </a:r>
          </a:p>
          <a:p/>
          <a:p>
            <a:r>
              <a:t>IMPLEMENTATION OPTIONS:</a:t>
            </a:r>
          </a:p>
          <a:p>
            <a:r>
              <a:t>- Python multiprocessing.Pool for Stage 0 (PCAP files)</a:t>
            </a:r>
          </a:p>
          <a:p>
            <a:r>
              <a:t>- concurrent.futures.ThreadPoolExecutor for Stage 3 (leaf paths, GIL-free Z3 calls)</a:t>
            </a:r>
          </a:p>
          <a:p>
            <a:r>
              <a:t>- Ray or Dask for distributed Stage 8 inference across multiple machines</a:t>
            </a:r>
          </a:p>
          <a:p>
            <a:r>
              <a:t>- Independent process per dataset for cross-dataset parallelism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 Experimental Results on REAL Datasets from HuggingFace (pcy12345BSU)</a:t>
            </a:r>
          </a:p>
          <a:p/>
          <a:p>
            <a:r>
              <a:t>DATA SOURCES: Real CSE-CIC-IDS-2018 (1.05M flows), UNSW-NB15 (175K flows), CIC-IDS2017 (2.83M flows).</a:t>
            </a:r>
          </a:p>
          <a:p>
            <a:r>
              <a:t>Features: 10 (added src_ttl, src_load, mean_pkt_size). DT max_depth=7, min_leaf=20, class_weight=balanced.</a:t>
            </a:r>
          </a:p>
          <a:p>
            <a:r>
              <a:t>RL: lr=0.10, gamma=0.90, eps=0.30, decay=0.997, 20 epochs. Rewards: TP=+2, FN=-4, TN=+1, FP=-1.5, shield=+1.0.</a:t>
            </a:r>
          </a:p>
          <a:p/>
          <a:p>
            <a:r>
              <a:t>KEY RESULTS:</a:t>
            </a:r>
          </a:p>
          <a:p>
            <a:r>
              <a:t>- CSE: ASRRL F1=0.9951 — matches RF (0.9957) and XGBoost (0.9963), beats SVM</a:t>
            </a:r>
          </a:p>
          <a:p>
            <a:r>
              <a:t>- CIC2017: ASRRL F1=0.9252 — beats SVM (0.7629), competitive with KNN (0.9400)</a:t>
            </a:r>
          </a:p>
          <a:p>
            <a:r>
              <a:t>- UNSW: ASRRL F1=0.8484 — hardest dataset (68% attack, high class overlap)</a:t>
            </a:r>
          </a:p>
          <a:p/>
          <a:p>
            <a:r>
              <a:t>IMPROVEMENTS APPLIED:</a:t>
            </a:r>
          </a:p>
          <a:p>
            <a:r>
              <a:t>1. DT depth 5→7 (+2-3% F1, still Z3-tractable at ~128 leaves)</a:t>
            </a:r>
          </a:p>
          <a:p>
            <a:r>
              <a:t>2. Added 3 features: src_ttl, src_load, mean_pkt_size (+5-8% on UNSW)</a:t>
            </a:r>
          </a:p>
          <a:p>
            <a:r>
              <a:t>3. Raw DT probabilities instead of over-compressed confidence scores</a:t>
            </a:r>
          </a:p>
          <a:p>
            <a:r>
              <a:t>4. RL agent handles ALL ambiguous samples (not just small-buffer windows)</a:t>
            </a:r>
          </a:p>
          <a:p>
            <a:r>
              <a:t>5. 20 training epochs, initial buffer 50 for more reliable statistics</a:t>
            </a:r>
          </a:p>
          <a:p/>
          <a:p>
            <a:r>
              <a:t>ASRRL provides formal safety, dynamic adaptation, and full explainability that no baseline offers.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 Detailed Classification Metrics</a:t>
            </a:r>
          </a:p>
          <a:p/>
          <a:p>
            <a:r>
              <a:t>KEY OBSERVATIONS:</a:t>
            </a:r>
          </a:p>
          <a:p>
            <a:r>
              <a:t>1. CSE: Near-perfect across all metrics (F1=0.995, only 5 FP and 4 FN out of 3000 test samples)</a:t>
            </a:r>
          </a:p>
          <a:p>
            <a:r>
              <a:t>2. CIC2017: High recall (0.967) — catches 96.7% of attacks. Precision (0.887) is the bottleneck due to some benign flows being flagged.</a:t>
            </a:r>
          </a:p>
          <a:p>
            <a:r>
              <a:t>3. UNSW: Highest recall (0.942) but lowest precision (0.772) — the 68% attack ratio and high class overlap cause more false positives.</a:t>
            </a:r>
          </a:p>
          <a:p/>
          <a:p>
            <a:r>
              <a:t>FNR vs FPR TRADE-OFF:</a:t>
            </a:r>
          </a:p>
          <a:p>
            <a:r>
              <a:t>- The asymmetric reward (FN=-4 vs FP=-1.5) successfully biases toward LOW FNR (missing fewer attacks)</a:t>
            </a:r>
          </a:p>
          <a:p>
            <a:r>
              <a:t>- All datasets show FNR &lt; FPR, confirming the reward design works as intended</a:t>
            </a:r>
          </a:p>
          <a:p>
            <a:r>
              <a:t>- For IDS, low FNR is more critical than low FPR (missed attacks &gt; false alarms)</a:t>
            </a:r>
          </a:p>
          <a:p/>
          <a:p>
            <a:r>
              <a:t>UNSW CHALLENGE:</a:t>
            </a:r>
          </a:p>
          <a:p>
            <a:r>
              <a:t>- 68% attack ratio (inverted from typical IDS datasets) makes class_weight=balanced less effective</a:t>
            </a:r>
          </a:p>
          <a:p>
            <a:r>
              <a:t>- High feature overlap between Generic/Exploits attacks and benign traffic</a:t>
            </a:r>
          </a:p>
          <a:p>
            <a:r>
              <a:t>- Despite this, ASRRL achieves 94.2% recall — only 53 attacks missed out of 915</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 F1-Score Table Comparison</a:t>
            </a:r>
          </a:p>
          <a:p/>
          <a:p>
            <a:r>
              <a:t>STANDARD EVALUATION (train/test split on full dataset):</a:t>
            </a:r>
          </a:p>
          <a:p>
            <a:r>
              <a:t>- CSE: ASRRL (0.995) matches RF (0.996) and XGBoost (0.996) — &lt; 0.2% gap</a:t>
            </a:r>
          </a:p>
          <a:p>
            <a:r>
              <a:t>- CIC2017: ASRRL (0.925) beats SVM (0.763) by 16 points, approaches KNN (0.940)</a:t>
            </a:r>
          </a:p>
          <a:p>
            <a:r>
              <a:t>- UNSW: Most challenging (68% attack ratio). ASRRL (0.848) has best recall (0.942) of all models</a:t>
            </a:r>
          </a:p>
          <a:p/>
          <a:p>
            <a:r>
              <a:t>IMPORTANT CONTEXT:</a:t>
            </a:r>
          </a:p>
          <a:p>
            <a:r>
              <a:t>The baselines (RF, XGBoost) are pure classification engines. They cannot:</a:t>
            </a:r>
          </a:p>
          <a:p>
            <a:r>
              <a:t>1. Verify that their decisions satisfy formal safety constraints</a:t>
            </a:r>
          </a:p>
          <a:p>
            <a:r>
              <a:t>2. Adapt buffer size or threshold to changing traffic conditions</a:t>
            </a:r>
          </a:p>
          <a:p>
            <a:r>
              <a:t>3. Detect zero-day attacks via DBSCAN clustering</a:t>
            </a:r>
          </a:p>
          <a:p>
            <a:r>
              <a:t>4. Provide a complete audit trail (DT path + Z3 check + RL action)</a:t>
            </a:r>
          </a:p>
          <a:p>
            <a:r>
              <a:t>5. Adapt online without retraining</a:t>
            </a:r>
          </a:p>
          <a:p/>
          <a:p>
            <a:r>
              <a:t>The capabilities table makes clear that ASRRL offers a fundamentally different value proposition.</a:t>
            </a:r>
          </a:p>
          <a:p>
            <a:r>
              <a:t>The ~3-11% F1 gap is the cost of formal safety and adaptability.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 Dynamic Adaptation Trajectories</a:t>
            </a:r>
          </a:p>
          <a:p/>
          <a:p>
            <a:r>
              <a:t>BUFFER SIZE (top row):</a:t>
            </a:r>
          </a:p>
          <a:p>
            <a:r>
              <a:t>- Starts at 50 (initial setting for reliable statistics)</a:t>
            </a:r>
          </a:p>
          <a:p>
            <a:r>
              <a:t>- CSE: Gradually settles to 25-35 (clean data needs less context)</a:t>
            </a:r>
          </a:p>
          <a:p>
            <a:r>
              <a:t>- UNSW: Most volatile, drops to 10 during attack bursts, recovers to 35 (high variance data)</a:t>
            </a:r>
          </a:p>
          <a:p>
            <a:r>
              <a:t>- CIC2017: Moderate adaptation, settles to 35-45 (balanced traffic)</a:t>
            </a:r>
          </a:p>
          <a:p/>
          <a:p>
            <a:r>
              <a:t>THRESHOLD (bottom row):</a:t>
            </a:r>
          </a:p>
          <a:p>
            <a:r>
              <a:t>- Starts at 0.50 (neutral)</a:t>
            </a:r>
          </a:p>
          <a:p>
            <a:r>
              <a:t>- All datasets converge toward 0.68-0.70 as the system learns that higher thresholds reduce FPR</a:t>
            </a:r>
          </a:p>
          <a:p>
            <a:r>
              <a:t>- UNSW shows slight pullback (0.70 → 0.68) as it balances the high FPR</a:t>
            </a:r>
          </a:p>
          <a:p/>
          <a:p>
            <a:r>
              <a:t>THIS IS THE KEY DIFFERENTIATOR: No static baseline can do this.</a:t>
            </a:r>
          </a:p>
          <a:p>
            <a:r>
              <a:t>The dynamic adaptation is what makes ASRRL suitable for production IDS deployment</a:t>
            </a:r>
          </a:p>
          <a:p>
            <a:r>
              <a:t>where traffic patterns change over time (concept drift, attack campaigns, normal daily patterns).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 Ablation Study &amp; Safety Guarantees</a:t>
            </a:r>
          </a:p>
          <a:p/>
          <a:p>
            <a:r>
              <a:t>ABLATION FINDINGS:</a:t>
            </a:r>
          </a:p>
          <a:p>
            <a:r>
              <a:t>1. Removing Z3 loses safety guarantees and drops F1 ~1.5% (RL makes unsafe decisions without shielding)</a:t>
            </a:r>
          </a:p>
          <a:p>
            <a:r>
              <a:t>2. Fixed buffer loses adaptive response to traffic changes (−2.5% F1)</a:t>
            </a:r>
          </a:p>
          <a:p>
            <a:r>
              <a:t>3. Fixed threshold can't balance FPR/FNR (−4.5% F1)</a:t>
            </a:r>
          </a:p>
          <a:p>
            <a:r>
              <a:t>4. DBSCAN contributes mainly to zero-day detection (minimal F1 impact on known attacks)</a:t>
            </a:r>
          </a:p>
          <a:p>
            <a:r>
              <a:t>5. DT-only (no RL) drops ~9% F1 — the RL agent significantly improves ambiguous-flow classification</a:t>
            </a:r>
          </a:p>
          <a:p/>
          <a:p>
            <a:r>
              <a:t>Z3 SAFETY:</a:t>
            </a:r>
          </a:p>
          <a:p>
            <a:r>
              <a:t>- 100% constraint fidelity: every constraint extracted from the DT is faithfully encoded</a:t>
            </a:r>
          </a:p>
          <a:p>
            <a:r>
              <a:t>- 100% coverage: every flow classification is Z3-verified before being emitted</a:t>
            </a:r>
          </a:p>
          <a:p>
            <a:r>
              <a:t>- Shield activations (2-12%): the percentage of flows where Z3 overrides the RL agent's proposed action</a:t>
            </a:r>
          </a:p>
          <a:p>
            <a:r>
              <a:t>  - Higher on UNSW (8-12%) due to more ambiguous samples</a:t>
            </a:r>
          </a:p>
          <a:p>
            <a:r>
              <a:t>  - This is a FEATURE, not a bug — it prevents the RL agent from making unsafe decisions</a:t>
            </a:r>
          </a:p>
          <a:p>
            <a:r>
              <a:t>- Sub-millisecond verification latency: Z3 checks add negligible overhead to inference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 Specification Evolution: Before vs. After Optimization</a:t>
            </a:r>
          </a:p>
          <a:p/>
          <a:p>
            <a:r>
              <a:t>This slide documents every hyperparameter and design change made during the optimization process.</a:t>
            </a:r>
          </a:p>
          <a:p/>
          <a:p>
            <a:r>
              <a:t>CART CHANGES (max_depth 5→7, min_leaf 25→20):</a:t>
            </a:r>
          </a:p>
          <a:p>
            <a:r>
              <a:t>- Depth 7 generates ~128 leaf nodes (vs ~32 at depth 5), enabling finer-grained attack subtype separation</a:t>
            </a:r>
          </a:p>
          <a:p>
            <a:r>
              <a:t>- Still Z3-tractable: 128 leaf constraints are well within Z3's capacity</a:t>
            </a:r>
          </a:p>
          <a:p>
            <a:r>
              <a:t>- min_leaf=20 prevents overfitting while allowing more specific rules</a:t>
            </a:r>
          </a:p>
          <a:p/>
          <a:p>
            <a:r>
              <a:t>RL REWARD CHANGES:</a:t>
            </a:r>
          </a:p>
          <a:p>
            <a:r>
              <a:t>- The FN penalty was doubled (−2→−4) because missed attacks are the most critical failure mode in IDS</a:t>
            </a:r>
          </a:p>
          <a:p>
            <a:r>
              <a:t>- The asymmetric ratio FN/FP went from 2:1 to 2.67:1, biasing the agent more strongly toward recall</a:t>
            </a:r>
          </a:p>
          <a:p>
            <a:r>
              <a:t>- Shield bonus doubled (+0.5→+1.0) to make the RL agent more receptive to Z3 overrides</a:t>
            </a:r>
          </a:p>
          <a:p>
            <a:r>
              <a:t>- New UNKNOWN_benign penalty (−0.3) handles the edge case where ambiguous traffic is labeled benign</a:t>
            </a:r>
          </a:p>
          <a:p/>
          <a:p>
            <a:r>
              <a:t>RL HYPERPARAMETER CHANGES:</a:t>
            </a:r>
          </a:p>
          <a:p>
            <a:r>
              <a:t>- Higher learning rate (0.05→0.10) for faster adaptation on larger real datasets</a:t>
            </a:r>
          </a:p>
          <a:p>
            <a:r>
              <a:t>- Lower gamma (0.95→0.90) focuses on immediate classification accuracy</a:t>
            </a:r>
          </a:p>
          <a:p>
            <a:r>
              <a:t>- Higher initial epsilon (0.15→0.30) with slower decay explores more of the state space</a:t>
            </a:r>
          </a:p>
          <a:p/>
          <a:p>
            <a:r>
              <a:t>FEATURE ENGINEERING:</a:t>
            </a:r>
          </a:p>
          <a:p>
            <a:r>
              <a:t>- Went from 4 features to 10 features</a:t>
            </a:r>
          </a:p>
          <a:p>
            <a:r>
              <a:t>- The 3 new network features (src_ttl, src_load, mean_pkt_size) are the strongest discriminators in UNSW literature</a:t>
            </a:r>
          </a:p>
          <a:p>
            <a:r>
              <a:t>- Port category, size category, and protocol add structural information about flow types</a:t>
            </a:r>
          </a:p>
          <a:p/>
          <a:p>
            <a:r>
              <a:t>PIPELINE CHANGES:</a:t>
            </a:r>
          </a:p>
          <a:p>
            <a:r>
              <a:t>- Over-compressed confidence scores were artificially creating ambiguity (28% of samples were ambiguous)</a:t>
            </a:r>
          </a:p>
          <a:p>
            <a:r>
              <a:t>- Raw DT probabilities preserve the model's discriminative information</a:t>
            </a:r>
          </a:p>
          <a:p>
            <a:r>
              <a:t>- RL agent now handles ALL ambiguous flows (not just those in small-buffer windows)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 Impact of Specification Changes</a:t>
            </a:r>
          </a:p>
          <a:p/>
          <a:p>
            <a:r>
              <a:t>BEFORE vs AFTER F1 SCORES:</a:t>
            </a:r>
          </a:p>
          <a:p>
            <a:r>
              <a:t>- CSE-CIC-IDS-2018:  0.9766 → 0.9951 (+1.9% / +0.0185)</a:t>
            </a:r>
          </a:p>
          <a:p>
            <a:r>
              <a:t>- UNSW-NB15:         0.7610 → 0.8484 (+8.7% / +0.0874)</a:t>
            </a:r>
          </a:p>
          <a:p>
            <a:r>
              <a:t>- CIC-IDS2017:       0.8582 → 0.9252 (+6.7% / +0.0670)</a:t>
            </a:r>
          </a:p>
          <a:p/>
          <a:p>
            <a:r>
              <a:t>BIGGEST CONTRIBUTORS BY DATASET:</a:t>
            </a:r>
          </a:p>
          <a:p/>
          <a:p>
            <a:r>
              <a:t>CSE (already high baseline):</a:t>
            </a:r>
          </a:p>
          <a:p>
            <a:r>
              <a:t>- Marginal gains across all changes — CSE is a "clean" dataset with clear attack signatures</a:t>
            </a:r>
          </a:p>
          <a:p>
            <a:r>
              <a:t>- The biggest single contributor was DT depth (+0.5%) and reward asymmetry (+0.3%)</a:t>
            </a:r>
          </a:p>
          <a:p/>
          <a:p>
            <a:r>
              <a:t>UNSW (largest improvement):</a:t>
            </a:r>
          </a:p>
          <a:p>
            <a:r>
              <a:t>- Feature engineering (+5.0%) was the dominant factor — src_ttl, src_load, mean_pkt_size are highly discriminative on UNSW</a:t>
            </a:r>
          </a:p>
          <a:p>
            <a:r>
              <a:t>- DT depth (+2.5%) allowed separating Generic/Exploits/Fuzzers attack subtypes</a:t>
            </a:r>
          </a:p>
          <a:p>
            <a:r>
              <a:t>- Raw probabilities (+1.5%) recovered information lost by the compression function</a:t>
            </a:r>
          </a:p>
          <a:p/>
          <a:p>
            <a:r>
              <a:t>CIC2017 (moderate improvement):</a:t>
            </a:r>
          </a:p>
          <a:p>
            <a:r>
              <a:t>- DT depth (+2.0%), reward structure (+1.5%), and features (+1.5%) contributed roughly equally</a:t>
            </a:r>
          </a:p>
          <a:p>
            <a:r>
              <a:t>- Buffer/epochs (+0.9%) had more impact here due to the larger dataset size</a:t>
            </a:r>
          </a:p>
          <a:p/>
          <a:p>
            <a:r>
              <a:t>IMPORTANT NOTE for the audience:</a:t>
            </a:r>
          </a:p>
          <a:p>
            <a:r>
              <a:t>These contributions are ESTIMATED by running controlled experiments (changing one variable at a time).</a:t>
            </a:r>
          </a:p>
          <a:p>
            <a:r>
              <a:t>The actual contributions are not perfectly additive — there are synergistic effects between changes.</a:t>
            </a:r>
          </a:p>
          <a:p>
            <a:r>
              <a:t>For example, deeper DT + more features together produce more improvement than either alone.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 Novel Attack Adaptation Experiment (100K samples, 20 RL epochs)</a:t>
            </a:r>
          </a:p>
          <a:p/>
          <a:p>
            <a:r>
              <a:t>EXPERIMENT DESIGN:</a:t>
            </a:r>
          </a:p>
          <a:p>
            <a:r>
              <a:t>- Hold out specific attack types from training data (unseen/zero-day simulation)</a:t>
            </a:r>
          </a:p>
          <a:p>
            <a:r>
              <a:t>- UNSW: backdoor, shellcode, worms, analysis, reconnaissance held out (8,859 novel flows)</a:t>
            </a:r>
          </a:p>
          <a:p>
            <a:r>
              <a:t>- CIC2017: DDoS, bot, DoS slowhttptest, DoS slowloris held out (5,103 novel flows)</a:t>
            </a:r>
          </a:p>
          <a:p>
            <a:r>
              <a:t>- CSE: 30% of attack samples randomly held out (single attack type dataset)</a:t>
            </a:r>
          </a:p>
          <a:p/>
          <a:p>
            <a:r>
              <a:t>- Test stream arranged temporally:</a:t>
            </a:r>
          </a:p>
          <a:p>
            <a:r>
              <a:t>  Phase 1 (40%): Known attacks only</a:t>
            </a:r>
          </a:p>
          <a:p>
            <a:r>
              <a:t>  Phase 2 (30%): Novel attacks start appearing (mixed)</a:t>
            </a:r>
          </a:p>
          <a:p>
            <a:r>
              <a:t>  Phase 3 (30%): Heavy novel attacks</a:t>
            </a:r>
          </a:p>
          <a:p/>
          <a:p>
            <a:r>
              <a:t>KEY RESULTS:</a:t>
            </a:r>
          </a:p>
          <a:p>
            <a:r>
              <a:t>- CIC-IDS2017: ASRRL achieves F1=0.9216, beating ALL baselines</a:t>
            </a:r>
          </a:p>
          <a:p>
            <a:r>
              <a:t>  - vs XGBoost (0.8881): +3.4% improvement</a:t>
            </a:r>
          </a:p>
          <a:p>
            <a:r>
              <a:t>  - vs Random Forest (0.8435): +7.8%</a:t>
            </a:r>
          </a:p>
          <a:p>
            <a:r>
              <a:t>  - vs KNN (0.8495): +7.2%</a:t>
            </a:r>
          </a:p>
          <a:p>
            <a:r>
              <a:t>  - vs SVM (0.7779): +14.4%</a:t>
            </a:r>
          </a:p>
          <a:p/>
          <a:p>
            <a:r>
              <a:t>- UNSW-NB15: ASRRL (0.9459) beats SVM (0.9442)</a:t>
            </a:r>
          </a:p>
          <a:p>
            <a:r>
              <a:t>  - 317 novel patterns discovered via DBSCAN</a:t>
            </a:r>
          </a:p>
          <a:p/>
          <a:p>
            <a:r>
              <a:t>- CSE-CIC-2018: ASRRL (0.9995) beats SVM (0.9975)</a:t>
            </a:r>
          </a:p>
          <a:p/>
          <a:p>
            <a:r>
              <a:t>PER-PHASE BREAKDOWN (CIC2017):</a:t>
            </a:r>
          </a:p>
          <a:p>
            <a:r>
              <a:t>  Phase 1 (known only):   ASRRL 0.966 vs RF 0.987 vs XGB 0.989</a:t>
            </a:r>
          </a:p>
          <a:p>
            <a:r>
              <a:t>  Phase 2 (novel intro):  ASRRL 0.900 vs RF 0.767 vs XGB 0.837 ← ASRRL +13% vs RF</a:t>
            </a:r>
          </a:p>
          <a:p>
            <a:r>
              <a:t>  Phase 3 (heavy novel):  ASRRL 0.949 vs RF 0.949 vs XGB 0.961</a:t>
            </a:r>
          </a:p>
          <a:p/>
          <a:p>
            <a:r>
              <a:t>WHY ASRRL WINS ON NOVEL ATTACKS:</a:t>
            </a:r>
          </a:p>
          <a:p>
            <a:r>
              <a:t>1. DBSCAN detects clusters of misclassified flows (novel patterns)</a:t>
            </a:r>
          </a:p>
          <a:p>
            <a:r>
              <a:t>2. Novel pattern centroids are converted to Z3 constraints (Action.BLOCK)</a:t>
            </a:r>
          </a:p>
          <a:p>
            <a:r>
              <a:t>3. RL agent learns from updated constraint space</a:t>
            </a:r>
          </a:p>
          <a:p>
            <a:r>
              <a:t>4. Static baselines (RF, XGB, SVM, KNN) cannot adapt — frozen after training</a:t>
            </a:r>
          </a:p>
          <a:p/>
          <a:p>
            <a:r>
              <a:t>This is the KEY differentiator: ASRRL's online adaptation mechanism.</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 Temporal Adaptation Curves: CIC-IDS2017 (100K samples)</a:t>
            </a:r>
          </a:p>
          <a:p/>
          <a:p>
            <a:r>
              <a:t>LEFT CHART — F1 Score Over Time:</a:t>
            </a:r>
          </a:p>
          <a:p>
            <a:r>
              <a:t>Shows F1 computed in sliding windows of 200 flows each on CIC-IDS2017.</a:t>
            </a:r>
          </a:p>
          <a:p>
            <a:r>
              <a:t>131 total windows, sampled every 5th for readability.</a:t>
            </a:r>
          </a:p>
          <a:p/>
          <a:p>
            <a:r>
              <a:t>PHASE 1 (Windows 1-67, ~13.4K flows): Known attacks only</a:t>
            </a:r>
          </a:p>
          <a:p>
            <a:r>
              <a:t>- All models perform well (F1 &gt; 0.95)</a:t>
            </a:r>
          </a:p>
          <a:p>
            <a:r>
              <a:t>- RF and XGBoost achieve near-perfect F1 here</a:t>
            </a:r>
          </a:p>
          <a:p>
            <a:r>
              <a:t>- ASRRL: 0.966, slightly below RF (0.987) and XGB (0.989)</a:t>
            </a:r>
          </a:p>
          <a:p/>
          <a:p>
            <a:r>
              <a:t>PHASE 2 (Windows 67-117, ~10K flows): Novel attacks introduced</a:t>
            </a:r>
          </a:p>
          <a:p>
            <a:r>
              <a:t>- ALL baselines drop sharply: RF drops from ~1.0 to 0.72-0.79</a:t>
            </a:r>
          </a:p>
          <a:p>
            <a:r>
              <a:t>- XGBoost drops to 0.83-0.85</a:t>
            </a:r>
          </a:p>
          <a:p>
            <a:r>
              <a:t>- ASRRL also drops but LESS severely (0.88-0.93)</a:t>
            </a:r>
          </a:p>
          <a:p>
            <a:r>
              <a:t>- ASRRL BEATS ALL baselines in this critical phase:</a:t>
            </a:r>
          </a:p>
          <a:p>
            <a:r>
              <a:t>  ASRRL 0.900 vs RF 0.767 (+13.3%) vs XGB 0.837 (+6.3%)</a:t>
            </a:r>
          </a:p>
          <a:p/>
          <a:p>
            <a:r>
              <a:t>PHASE 3 (Windows 117-131, ~2.6K flows): Heavy novel attacks</a:t>
            </a:r>
          </a:p>
          <a:p>
            <a:r>
              <a:t>- ASRRL recovers to 0.949, matching RF (0.949) and approaching XGB (0.961)</a:t>
            </a:r>
          </a:p>
          <a:p>
            <a:r>
              <a:t>- Recovery is driven by DBSCAN discovering novel patterns</a:t>
            </a:r>
          </a:p>
          <a:p/>
          <a:p>
            <a:r>
              <a:t>RIGHT CHART — DBSCAN Novel Pattern Discovery:</a:t>
            </a:r>
          </a:p>
          <a:p>
            <a:r>
              <a:t>- 213 total novel attack patterns discovered</a:t>
            </a:r>
          </a:p>
          <a:p>
            <a:r>
              <a:t>- Sharp acceleration when novel attacks enter at Phase 2 boundary</a:t>
            </a:r>
          </a:p>
          <a:p>
            <a:r>
              <a:t>- Each new pattern converted to Z3 constraint for improved classification</a:t>
            </a:r>
          </a:p>
          <a:p/>
          <a:p>
            <a:r>
              <a:t>KEY ARGUMENT:</a:t>
            </a:r>
          </a:p>
          <a:p>
            <a:r>
              <a:t>In real-world IDS deployment, new attack types appear constantly.</a:t>
            </a:r>
          </a:p>
          <a:p>
            <a:r>
              <a:t>Static models (RF, XGB, SVM, KNN) require expensive retraining.</a:t>
            </a:r>
          </a:p>
          <a:p>
            <a:r>
              <a:t>ASRRL adapts ONLINE via DBSCAN + Z3, maintaining performance</a:t>
            </a:r>
          </a:p>
          <a:p>
            <a:r>
              <a:t>without manual intervention or full retraining.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 Key Takeaways</a:t>
            </a:r>
          </a:p>
          <a:p/>
          <a:p>
            <a:r>
              <a:t>MAIN ARGUMENT:</a:t>
            </a:r>
          </a:p>
          <a:p>
            <a:r>
              <a:t>ASRRL achieves competitive F1 scores (0.85-0.995 depending on dataset difficulty)</a:t>
            </a:r>
          </a:p>
          <a:p>
            <a:r>
              <a:t>while providing 5 capabilities that NO baseline offers:</a:t>
            </a:r>
          </a:p>
          <a:p/>
          <a:p>
            <a:r>
              <a:t>1. FORMAL SAFETY: Z3 SMT solver verifies every decision against extracted constraints</a:t>
            </a:r>
          </a:p>
          <a:p>
            <a:r>
              <a:t>2. DYNAMIC ADAPTATION: Buffer and threshold adjust to traffic conditions in real-time</a:t>
            </a:r>
          </a:p>
          <a:p>
            <a:r>
              <a:t>3. ZERO-DAY DETECTION: DBSCAN discovers novel attack patterns from misclassified flow clusters</a:t>
            </a:r>
          </a:p>
          <a:p>
            <a:r>
              <a:t>4. FULL EXPLAINABILITY: Every decision has a complete audit trail (DT path → Z3 check → RL action)</a:t>
            </a:r>
          </a:p>
          <a:p>
            <a:r>
              <a:t>5. PARALLEL INFERENCE: Stage 8 scales linearly across CPU cores for production throughput</a:t>
            </a:r>
          </a:p>
          <a:p/>
          <a:p>
            <a:r>
              <a:t>The ~3-11% F1 gap vs. best baselines is the cost of these guarantees.</a:t>
            </a:r>
          </a:p>
          <a:p>
            <a:r>
              <a:t>In production IDS, safety and explainability often matter more than marginal F1 improvement.</a:t>
            </a:r>
          </a:p>
          <a:p/>
          <a:p>
            <a:r>
              <a:t>FUTURE WORK:</a:t>
            </a:r>
          </a:p>
          <a:p>
            <a:r>
              <a:t>- Ensemble DT (random subspace) to improve base classifier while maintaining Z3 tractability</a:t>
            </a:r>
          </a:p>
          <a:p>
            <a:r>
              <a:t>- Online RL training for continuous adaptation (currently offline)</a:t>
            </a:r>
          </a:p>
          <a:p>
            <a:r>
              <a:t>- Real PCAP integration via CICFlowMeter pipeline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3C71"/>
        </a:solidFill>
        <a:effectLst/>
      </p:bgPr>
    </p:bg>
    <p:spTree>
      <p:nvGrpSpPr>
        <p:cNvPr id="1" name=""/>
        <p:cNvGrpSpPr/>
        <p:nvPr/>
      </p:nvGrpSpPr>
      <p:grpSpPr/>
      <p:sp>
        <p:nvSpPr>
          <p:cNvPr id="2" name="TextBox 1"/>
          <p:cNvSpPr txBox="1"/>
          <p:nvPr/>
        </p:nvSpPr>
        <p:spPr>
          <a:xfrm>
            <a:off x="914400" y="1097280"/>
            <a:ext cx="10332720" cy="1371600"/>
          </a:xfrm>
          <a:prstGeom prst="rect">
            <a:avLst/>
          </a:prstGeom>
          <a:noFill/>
        </p:spPr>
        <p:txBody>
          <a:bodyPr wrap="square">
            <a:spAutoFit/>
          </a:bodyPr>
          <a:lstStyle/>
          <a:p>
            <a:pPr algn="ctr">
              <a:defRPr sz="3600" b="1">
                <a:solidFill>
                  <a:srgbClr val="FFFFFF"/>
                </a:solidFill>
                <a:latin typeface="Calibri"/>
              </a:defRPr>
            </a:pPr>
            <a:r>
              <a:t>ASRRL: Adaptive Symbolic Reasoning and</a:t>
            </a:r>
            <a:br/>
            <a:r>
              <a:t>Reinforcement Learning for Dynamic</a:t>
            </a:r>
            <a:br/>
            <a:r>
              <a:t>Network Traffic Classification</a:t>
            </a:r>
          </a:p>
        </p:txBody>
      </p:sp>
      <p:sp>
        <p:nvSpPr>
          <p:cNvPr id="3" name="TextBox 2"/>
          <p:cNvSpPr txBox="1"/>
          <p:nvPr/>
        </p:nvSpPr>
        <p:spPr>
          <a:xfrm>
            <a:off x="914400" y="3474720"/>
            <a:ext cx="10332720" cy="731520"/>
          </a:xfrm>
          <a:prstGeom prst="rect">
            <a:avLst/>
          </a:prstGeom>
          <a:noFill/>
        </p:spPr>
        <p:txBody>
          <a:bodyPr wrap="square">
            <a:spAutoFit/>
          </a:bodyPr>
          <a:lstStyle/>
          <a:p>
            <a:pPr algn="ctr">
              <a:defRPr sz="1800" b="0">
                <a:solidFill>
                  <a:srgbClr val="BDC3C7"/>
                </a:solidFill>
                <a:latin typeface="Calibri"/>
              </a:defRPr>
            </a:pPr>
            <a:r>
              <a:t>A Verifiable IDS Framework with Z3 Formal Verification,</a:t>
            </a:r>
            <a:br/>
            <a:r>
              <a:t>Q-Learning Safety Shielding, and DBSCAN Novel Pattern Detection</a:t>
            </a:r>
          </a:p>
        </p:txBody>
      </p:sp>
      <p:sp>
        <p:nvSpPr>
          <p:cNvPr id="4" name="TextBox 3"/>
          <p:cNvSpPr txBox="1"/>
          <p:nvPr/>
        </p:nvSpPr>
        <p:spPr>
          <a:xfrm>
            <a:off x="914400" y="5029200"/>
            <a:ext cx="10332720" cy="457200"/>
          </a:xfrm>
          <a:prstGeom prst="rect">
            <a:avLst/>
          </a:prstGeom>
          <a:noFill/>
        </p:spPr>
        <p:txBody>
          <a:bodyPr wrap="square">
            <a:spAutoFit/>
          </a:bodyPr>
          <a:lstStyle/>
          <a:p>
            <a:pPr algn="ctr">
              <a:defRPr sz="1600" b="0">
                <a:solidFill>
                  <a:srgbClr val="95A5A6"/>
                </a:solidFill>
                <a:latin typeface="Calibri"/>
              </a:defRPr>
            </a:pPr>
            <a:r>
              <a:t>4 Benchmark Datasets  |  9-Stage Pipeline (Stage 0–8)  |  Parallel Processing  |  IEEE Format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37160"/>
            <a:ext cx="10972800" cy="548640"/>
          </a:xfrm>
          <a:prstGeom prst="rect">
            <a:avLst/>
          </a:prstGeom>
          <a:noFill/>
        </p:spPr>
        <p:txBody>
          <a:bodyPr wrap="square">
            <a:spAutoFit/>
          </a:bodyPr>
          <a:lstStyle/>
          <a:p>
            <a:pPr algn="ctr">
              <a:defRPr sz="2800" b="1">
                <a:solidFill>
                  <a:srgbClr val="003C71"/>
                </a:solidFill>
                <a:latin typeface="Calibri"/>
              </a:defRPr>
            </a:pPr>
            <a:r>
              <a:t>ASRRL Architecture — 9-Stage Pipeline with Parallel Processing</a:t>
            </a:r>
          </a:p>
        </p:txBody>
      </p:sp>
      <p:sp>
        <p:nvSpPr>
          <p:cNvPr id="3" name="Rounded Rectangle 2"/>
          <p:cNvSpPr/>
          <p:nvPr/>
        </p:nvSpPr>
        <p:spPr>
          <a:xfrm>
            <a:off x="228600" y="914400"/>
            <a:ext cx="1691640" cy="777240"/>
          </a:xfrm>
          <a:prstGeom prst="roundRect">
            <a:avLst/>
          </a:prstGeom>
          <a:solidFill>
            <a:srgbClr val="7B4B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FFFFF"/>
                </a:solidFill>
                <a:latin typeface="Calibri"/>
              </a:defRPr>
            </a:pPr>
            <a:r>
              <a:t>0. PCAP Binary</a:t>
            </a:r>
            <a:br/>
            <a:r>
              <a:t>Preprocessing</a:t>
            </a:r>
          </a:p>
        </p:txBody>
      </p:sp>
      <p:sp>
        <p:nvSpPr>
          <p:cNvPr id="4" name="Right Arrow 3"/>
          <p:cNvSpPr/>
          <p:nvPr/>
        </p:nvSpPr>
        <p:spPr>
          <a:xfrm>
            <a:off x="1929384" y="1143000"/>
            <a:ext cx="173736" cy="320040"/>
          </a:xfrm>
          <a:prstGeom prst="rightArrow">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121408" y="914400"/>
            <a:ext cx="1691640" cy="777240"/>
          </a:xfrm>
          <a:prstGeom prst="roundRect">
            <a:avLst/>
          </a:prstGeom>
          <a:solidFill>
            <a:srgbClr val="003C7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FFFFF"/>
                </a:solidFill>
                <a:latin typeface="Calibri"/>
              </a:defRPr>
            </a:pPr>
            <a:r>
              <a:t>1. Feature Extract</a:t>
            </a:r>
            <a:br/>
            <a:r>
              <a:t>&amp; Normalization</a:t>
            </a:r>
          </a:p>
        </p:txBody>
      </p:sp>
      <p:sp>
        <p:nvSpPr>
          <p:cNvPr id="6" name="Right Arrow 5"/>
          <p:cNvSpPr/>
          <p:nvPr/>
        </p:nvSpPr>
        <p:spPr>
          <a:xfrm>
            <a:off x="3822192" y="1143000"/>
            <a:ext cx="173736" cy="320040"/>
          </a:xfrm>
          <a:prstGeom prst="rightArrow">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014216" y="914400"/>
            <a:ext cx="1691640" cy="777240"/>
          </a:xfrm>
          <a:prstGeom prst="round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FFFFF"/>
                </a:solidFill>
                <a:latin typeface="Calibri"/>
              </a:defRPr>
            </a:pPr>
            <a:r>
              <a:t>2. Decision Tree</a:t>
            </a:r>
            <a:br/>
            <a:r>
              <a:t>Symbolic Model</a:t>
            </a:r>
          </a:p>
        </p:txBody>
      </p:sp>
      <p:sp>
        <p:nvSpPr>
          <p:cNvPr id="8" name="Right Arrow 7"/>
          <p:cNvSpPr/>
          <p:nvPr/>
        </p:nvSpPr>
        <p:spPr>
          <a:xfrm>
            <a:off x="5715000" y="1143000"/>
            <a:ext cx="173736" cy="320040"/>
          </a:xfrm>
          <a:prstGeom prst="rightArrow">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907024" y="914400"/>
            <a:ext cx="1691640" cy="777240"/>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FFFFF"/>
                </a:solidFill>
                <a:latin typeface="Calibri"/>
              </a:defRPr>
            </a:pPr>
            <a:r>
              <a:t>3. Z3 Constraint</a:t>
            </a:r>
            <a:br/>
            <a:r>
              <a:t>Extraction</a:t>
            </a:r>
          </a:p>
        </p:txBody>
      </p:sp>
      <p:sp>
        <p:nvSpPr>
          <p:cNvPr id="10" name="Right Arrow 9"/>
          <p:cNvSpPr/>
          <p:nvPr/>
        </p:nvSpPr>
        <p:spPr>
          <a:xfrm>
            <a:off x="7607808" y="1143000"/>
            <a:ext cx="173736" cy="320040"/>
          </a:xfrm>
          <a:prstGeom prst="rightArrow">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799832" y="914400"/>
            <a:ext cx="1691640" cy="777240"/>
          </a:xfrm>
          <a:prstGeom prst="round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FFFFF"/>
                </a:solidFill>
                <a:latin typeface="Calibri"/>
              </a:defRPr>
            </a:pPr>
            <a:r>
              <a:t>4. Q-Learning RL</a:t>
            </a:r>
            <a:br/>
            <a:r>
              <a:t>Safety Shielding</a:t>
            </a:r>
          </a:p>
        </p:txBody>
      </p:sp>
      <p:sp>
        <p:nvSpPr>
          <p:cNvPr id="12" name="Rounded Rectangle 11"/>
          <p:cNvSpPr/>
          <p:nvPr/>
        </p:nvSpPr>
        <p:spPr>
          <a:xfrm>
            <a:off x="2121408" y="1920240"/>
            <a:ext cx="1691640" cy="77724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FFFFF"/>
                </a:solidFill>
                <a:latin typeface="Calibri"/>
              </a:defRPr>
            </a:pPr>
            <a:r>
              <a:t>5. DBSCAN Novel</a:t>
            </a:r>
            <a:br/>
            <a:r>
              <a:t>Pattern Detection</a:t>
            </a:r>
          </a:p>
        </p:txBody>
      </p:sp>
      <p:sp>
        <p:nvSpPr>
          <p:cNvPr id="13" name="Right Arrow 12"/>
          <p:cNvSpPr/>
          <p:nvPr/>
        </p:nvSpPr>
        <p:spPr>
          <a:xfrm>
            <a:off x="3822192" y="2148840"/>
            <a:ext cx="173736" cy="320040"/>
          </a:xfrm>
          <a:prstGeom prst="rightArrow">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014216" y="1920240"/>
            <a:ext cx="1691640" cy="777240"/>
          </a:xfrm>
          <a:prstGeom prst="round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FFFFF"/>
                </a:solidFill>
                <a:latin typeface="Calibri"/>
              </a:defRPr>
            </a:pPr>
            <a:r>
              <a:t>6. Adaptive Buffer</a:t>
            </a:r>
            <a:br/>
            <a:r>
              <a:t>Management</a:t>
            </a:r>
          </a:p>
        </p:txBody>
      </p:sp>
      <p:sp>
        <p:nvSpPr>
          <p:cNvPr id="15" name="Right Arrow 14"/>
          <p:cNvSpPr/>
          <p:nvPr/>
        </p:nvSpPr>
        <p:spPr>
          <a:xfrm>
            <a:off x="5715000" y="2148840"/>
            <a:ext cx="173736" cy="320040"/>
          </a:xfrm>
          <a:prstGeom prst="rightArrow">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907024" y="1920240"/>
            <a:ext cx="1691640" cy="777240"/>
          </a:xfrm>
          <a:prstGeom prst="round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FFFFF"/>
                </a:solidFill>
                <a:latin typeface="Calibri"/>
              </a:defRPr>
            </a:pPr>
            <a:r>
              <a:t>7. Dynamic Threshold</a:t>
            </a:r>
            <a:br/>
            <a:r>
              <a:t>Adaptation</a:t>
            </a:r>
          </a:p>
        </p:txBody>
      </p:sp>
      <p:sp>
        <p:nvSpPr>
          <p:cNvPr id="17" name="Right Arrow 16"/>
          <p:cNvSpPr/>
          <p:nvPr/>
        </p:nvSpPr>
        <p:spPr>
          <a:xfrm>
            <a:off x="7607808" y="2148840"/>
            <a:ext cx="173736" cy="320040"/>
          </a:xfrm>
          <a:prstGeom prst="rightArrow">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799832" y="1920240"/>
            <a:ext cx="1691640" cy="777240"/>
          </a:xfrm>
          <a:prstGeom prst="round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FFFFF"/>
                </a:solidFill>
                <a:latin typeface="Calibri"/>
              </a:defRPr>
            </a:pPr>
            <a:r>
              <a:t>8. Final Classification</a:t>
            </a:r>
            <a:br/>
            <a:r>
              <a:t>Decision</a:t>
            </a:r>
          </a:p>
        </p:txBody>
      </p:sp>
      <p:sp>
        <p:nvSpPr>
          <p:cNvPr id="19" name="Down Arrow 18"/>
          <p:cNvSpPr/>
          <p:nvPr/>
        </p:nvSpPr>
        <p:spPr>
          <a:xfrm>
            <a:off x="2875788" y="1709928"/>
            <a:ext cx="182880" cy="201168"/>
          </a:xfrm>
          <a:prstGeom prst="downArrow">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82880" y="2880360"/>
            <a:ext cx="11704320" cy="320040"/>
          </a:xfrm>
          <a:prstGeom prst="rect">
            <a:avLst/>
          </a:prstGeom>
          <a:noFill/>
        </p:spPr>
        <p:txBody>
          <a:bodyPr wrap="square">
            <a:spAutoFit/>
          </a:bodyPr>
          <a:lstStyle/>
          <a:p>
            <a:pPr algn="ctr">
              <a:defRPr sz="1200" b="1">
                <a:solidFill>
                  <a:srgbClr val="F39C12"/>
                </a:solidFill>
                <a:latin typeface="Calibri"/>
              </a:defRPr>
            </a:pPr>
            <a:r>
              <a:t>⚡ Parallel Processing Stages:  Stage 0 (per-PCAP)  |  Stage 3 (per-leaf path)  |  Stage 8 (per-flow)  |  Cross-dataset (all 3 datasets independently)</a:t>
            </a:r>
          </a:p>
        </p:txBody>
      </p:sp>
      <p:sp>
        <p:nvSpPr>
          <p:cNvPr id="21" name="TextBox 20"/>
          <p:cNvSpPr txBox="1"/>
          <p:nvPr/>
        </p:nvSpPr>
        <p:spPr>
          <a:xfrm>
            <a:off x="274320" y="3291840"/>
            <a:ext cx="11430000" cy="365760"/>
          </a:xfrm>
          <a:prstGeom prst="rect">
            <a:avLst/>
          </a:prstGeom>
          <a:noFill/>
        </p:spPr>
        <p:txBody>
          <a:bodyPr wrap="square">
            <a:spAutoFit/>
          </a:bodyPr>
          <a:lstStyle/>
          <a:p>
            <a:pPr algn="ctr">
              <a:defRPr sz="1200" b="1">
                <a:solidFill>
                  <a:srgbClr val="003C71"/>
                </a:solidFill>
                <a:latin typeface="Calibri"/>
              </a:defRPr>
            </a:pPr>
            <a:r>
              <a:t>Three Primary Datasets: UNSW-NB15 (2.5M flows, 9 attacks)  |  CSE-CIC-IDS-2018 (16M flows, 7 attacks)  |  CIC-IDS2017 (3.1M flows, 14 attacks)</a:t>
            </a:r>
          </a:p>
        </p:txBody>
      </p:sp>
      <p:sp>
        <p:nvSpPr>
          <p:cNvPr id="22" name="TextBox 21"/>
          <p:cNvSpPr txBox="1"/>
          <p:nvPr/>
        </p:nvSpPr>
        <p:spPr>
          <a:xfrm>
            <a:off x="274320" y="3749039"/>
            <a:ext cx="11430000" cy="320040"/>
          </a:xfrm>
          <a:prstGeom prst="rect">
            <a:avLst/>
          </a:prstGeom>
          <a:noFill/>
        </p:spPr>
        <p:txBody>
          <a:bodyPr wrap="square">
            <a:spAutoFit/>
          </a:bodyPr>
          <a:lstStyle/>
          <a:p>
            <a:pPr algn="l">
              <a:defRPr sz="1400" b="1">
                <a:solidFill>
                  <a:srgbClr val="003C71"/>
                </a:solidFill>
                <a:latin typeface="Calibri"/>
              </a:defRPr>
            </a:pPr>
            <a:r>
              <a:t>Data Transformation Summary (per flow x_i):</a:t>
            </a:r>
          </a:p>
        </p:txBody>
      </p:sp>
      <p:sp>
        <p:nvSpPr>
          <p:cNvPr id="23" name="TextBox 22"/>
          <p:cNvSpPr txBox="1"/>
          <p:nvPr/>
        </p:nvSpPr>
        <p:spPr>
          <a:xfrm>
            <a:off x="365760" y="4114800"/>
            <a:ext cx="11430000" cy="2743200"/>
          </a:xfrm>
          <a:prstGeom prst="rect">
            <a:avLst/>
          </a:prstGeom>
          <a:noFill/>
        </p:spPr>
        <p:txBody>
          <a:bodyPr wrap="square">
            <a:spAutoFit/>
          </a:bodyPr>
          <a:lstStyle/>
          <a:p>
            <a:pPr>
              <a:spcAft>
                <a:spcPts val="200"/>
              </a:spcAft>
              <a:defRPr sz="900" b="0">
                <a:solidFill>
                  <a:srgbClr val="000000"/>
                </a:solidFill>
                <a:latin typeface="Consolas"/>
              </a:defRPr>
            </a:pPr>
            <a:r>
              <a:t>Stage 0:  Binary PCAP packets  →  CICFlowMeter/Argus  →  5-tuple flow aggregation  →  CSV (49–80+ columns per flow)</a:t>
            </a:r>
          </a:p>
          <a:p>
            <a:pPr>
              <a:spcAft>
                <a:spcPts val="200"/>
              </a:spcAft>
              <a:defRPr sz="900" b="0">
                <a:solidFill>
                  <a:srgbClr val="000000"/>
                </a:solidFill>
                <a:latin typeface="Consolas"/>
              </a:defRPr>
            </a:pPr>
            <a:r>
              <a:t>Stage 1:  Raw columns (dur, rate, sbytes, ...)  →  x_i = [flow_duration, pkt_rate, byte_rate, traffic_pat_var*, port_cat, size_cat, protocol, src_ttl, src_load, mean_pkt_size] ∈ R^10</a:t>
            </a:r>
          </a:p>
          <a:p>
            <a:pPr>
              <a:spcAft>
                <a:spcPts val="200"/>
              </a:spcAft>
              <a:defRPr sz="900" b="0">
                <a:solidFill>
                  <a:srgbClr val="000000"/>
                </a:solidFill>
                <a:latin typeface="Consolas"/>
              </a:defRPr>
            </a:pPr>
            <a:r>
              <a:t>Stage 2:  X_norm ∈ R^(n×10) → DecisionTree(max_depth=7) →  leaf_id(x_i), P(attack|x_i), ŷ_DT(x_i) ∈ {0,1}</a:t>
            </a:r>
          </a:p>
          <a:p>
            <a:pPr>
              <a:spcAft>
                <a:spcPts val="200"/>
              </a:spcAft>
              <a:defRPr sz="900" b="0">
                <a:solidFill>
                  <a:srgbClr val="000000"/>
                </a:solidFill>
                <a:latin typeface="Consolas"/>
              </a:defRPr>
            </a:pPr>
            <a:r>
              <a:t>Stage 3:  DT paths (root → leaf) → Z3 Implies(∧ (f_j op θ_j), action=class)  →  constraint set C = {φ_1,...,φ_L}  [⚡ parallel per leaf]</a:t>
            </a:r>
          </a:p>
          <a:p>
            <a:pPr>
              <a:spcAft>
                <a:spcPts val="200"/>
              </a:spcAft>
              <a:defRPr sz="900" b="0">
                <a:solidFill>
                  <a:srgbClr val="000000"/>
                </a:solidFill>
                <a:latin typeface="Consolas"/>
              </a:defRPr>
            </a:pPr>
            <a:r>
              <a:t>Stage 4:  state s_i = leaf_id(x_i) → Q(s,a) → a_i* = argmax Q(s_i,a)  subject to Z3 verify(x_i, a_i*) = sat</a:t>
            </a:r>
          </a:p>
          <a:p>
            <a:pPr>
              <a:spcAft>
                <a:spcPts val="200"/>
              </a:spcAft>
              <a:defRPr sz="900" b="0">
                <a:solidFill>
                  <a:srgbClr val="000000"/>
                </a:solidFill>
                <a:latin typeface="Consolas"/>
              </a:defRPr>
            </a:pPr>
            <a:r>
              <a:t>Stage 5:  misclassified {x_i : â_i ≠ a_i*} → DBSCAN(ε=1.5, minPts=5) → novel centroids → C' = C ∪ C_novel</a:t>
            </a:r>
          </a:p>
          <a:p>
            <a:pPr>
              <a:spcAft>
                <a:spcPts val="200"/>
              </a:spcAft>
              <a:defRPr sz="900" b="0">
                <a:solidFill>
                  <a:srgbClr val="000000"/>
                </a:solidFill>
                <a:latin typeface="Consolas"/>
              </a:defRPr>
            </a:pPr>
            <a:r>
              <a:t>Stage 6:  σ_tpv, σ²_bytes of window W_t → |B_{t+1}| = clip(|B_t| ± Δ, 10, 200)</a:t>
            </a:r>
          </a:p>
          <a:p>
            <a:pPr>
              <a:spcAft>
                <a:spcPts val="200"/>
              </a:spcAft>
              <a:defRPr sz="900" b="0">
                <a:solidFill>
                  <a:srgbClr val="000000"/>
                </a:solidFill>
                <a:latin typeface="Consolas"/>
              </a:defRPr>
            </a:pPr>
            <a:r>
              <a:t>Stage 7:  EMA(FPR_t, FNR_t) → τ_{t+1} = clip(τ_t ± 0.005, 0.40, 0.70)</a:t>
            </a:r>
          </a:p>
          <a:p>
            <a:pPr>
              <a:spcAft>
                <a:spcPts val="200"/>
              </a:spcAft>
              <a:defRPr sz="900" b="0">
                <a:solidFill>
                  <a:srgbClr val="000000"/>
                </a:solidFill>
                <a:latin typeface="Consolas"/>
              </a:defRPr>
            </a:pPr>
            <a:r>
              <a:t>Stage 8:  p_i ≥ τ → ATTACK;  p_i ≤ 1-τ → BENIGN;  else → RL+Z3 shield → ŷ_i ∈ {0,1}  [⚡ parallel per flow]</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274320" y="137160"/>
            <a:ext cx="11430000" cy="457200"/>
          </a:xfrm>
          <a:prstGeom prst="rect">
            <a:avLst/>
          </a:prstGeom>
          <a:noFill/>
        </p:spPr>
        <p:txBody>
          <a:bodyPr wrap="square">
            <a:spAutoFit/>
          </a:bodyPr>
          <a:lstStyle/>
          <a:p>
            <a:pPr algn="ctr">
              <a:defRPr sz="2600" b="1">
                <a:solidFill>
                  <a:srgbClr val="003C71"/>
                </a:solidFill>
                <a:latin typeface="Calibri"/>
              </a:defRPr>
            </a:pPr>
            <a:r>
              <a:t>Four Benchmark Datasets — Raw Features &amp; Standardized Extraction</a:t>
            </a:r>
          </a:p>
        </p:txBody>
      </p:sp>
      <p:sp>
        <p:nvSpPr>
          <p:cNvPr id="3" name="Rounded Rectangle 2"/>
          <p:cNvSpPr/>
          <p:nvPr/>
        </p:nvSpPr>
        <p:spPr>
          <a:xfrm>
            <a:off x="91440" y="731520"/>
            <a:ext cx="2880360" cy="411480"/>
          </a:xfrm>
          <a:prstGeom prst="roundRect">
            <a:avLst/>
          </a:prstGeom>
          <a:solidFill>
            <a:srgbClr val="003C7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UNSW-NB15  (2015)</a:t>
            </a:r>
          </a:p>
        </p:txBody>
      </p:sp>
      <p:sp>
        <p:nvSpPr>
          <p:cNvPr id="4" name="TextBox 3"/>
          <p:cNvSpPr txBox="1"/>
          <p:nvPr/>
        </p:nvSpPr>
        <p:spPr>
          <a:xfrm>
            <a:off x="91440" y="1188720"/>
            <a:ext cx="2880360" cy="5212080"/>
          </a:xfrm>
          <a:prstGeom prst="rect">
            <a:avLst/>
          </a:prstGeom>
          <a:noFill/>
        </p:spPr>
        <p:txBody>
          <a:bodyPr wrap="square">
            <a:spAutoFit/>
          </a:bodyPr>
          <a:lstStyle/>
          <a:p>
            <a:pPr>
              <a:spcAft>
                <a:spcPts val="200"/>
              </a:spcAft>
              <a:defRPr sz="1100" b="1">
                <a:solidFill>
                  <a:srgbClr val="000000"/>
                </a:solidFill>
                <a:latin typeface="Consolas"/>
              </a:defRPr>
            </a:pPr>
            <a:r>
              <a:t>Raw Columns (49 features):</a:t>
            </a:r>
          </a:p>
          <a:p>
            <a:pPr>
              <a:spcAft>
                <a:spcPts val="200"/>
              </a:spcAft>
              <a:defRPr sz="900" b="0">
                <a:solidFill>
                  <a:srgbClr val="7F8C8D"/>
                </a:solidFill>
                <a:latin typeface="Consolas"/>
              </a:defRPr>
            </a:pPr>
            <a:r>
              <a:t>  dur, rate, sbytes, dbytes, spkts, dpkts,</a:t>
            </a:r>
          </a:p>
          <a:p>
            <a:pPr>
              <a:spcAft>
                <a:spcPts val="200"/>
              </a:spcAft>
              <a:defRPr sz="900" b="0">
                <a:solidFill>
                  <a:srgbClr val="7F8C8D"/>
                </a:solidFill>
                <a:latin typeface="Consolas"/>
              </a:defRPr>
            </a:pPr>
            <a:r>
              <a:t>  ct_srv_src, sttl, sload, smean, dsport, proto...</a:t>
            </a:r>
          </a:p>
          <a:p>
            <a:pPr>
              <a:spcAft>
                <a:spcPts val="200"/>
              </a:spcAft>
              <a:defRPr sz="300" b="0">
                <a:solidFill>
                  <a:srgbClr val="000000"/>
                </a:solidFill>
                <a:latin typeface="Consolas"/>
              </a:defRPr>
            </a:pPr>
          </a:p>
          <a:p>
            <a:pPr>
              <a:spcAft>
                <a:spcPts val="200"/>
              </a:spcAft>
              <a:defRPr sz="900" b="1">
                <a:solidFill>
                  <a:srgbClr val="7B4B2A"/>
                </a:solidFill>
                <a:latin typeface="Consolas"/>
              </a:defRPr>
            </a:pPr>
            <a:r>
              <a:t>PCAP Source: IXIA PerfectStorm tool</a:t>
            </a:r>
          </a:p>
          <a:p>
            <a:pPr>
              <a:spcAft>
                <a:spcPts val="200"/>
              </a:spcAft>
              <a:defRPr sz="900" b="1">
                <a:solidFill>
                  <a:srgbClr val="7B4B2A"/>
                </a:solidFill>
                <a:latin typeface="Consolas"/>
              </a:defRPr>
            </a:pPr>
            <a:r>
              <a:t>Flow Tool: Argus + Bro-IDS</a:t>
            </a:r>
          </a:p>
          <a:p>
            <a:pPr>
              <a:spcAft>
                <a:spcPts val="200"/>
              </a:spcAft>
              <a:defRPr sz="300" b="0">
                <a:solidFill>
                  <a:srgbClr val="000000"/>
                </a:solidFill>
                <a:latin typeface="Consolas"/>
              </a:defRPr>
            </a:pPr>
          </a:p>
          <a:p>
            <a:pPr>
              <a:spcAft>
                <a:spcPts val="200"/>
              </a:spcAft>
              <a:defRPr sz="1000" b="1">
                <a:solidFill>
                  <a:srgbClr val="003C71"/>
                </a:solidFill>
                <a:latin typeface="Consolas"/>
              </a:defRPr>
            </a:pPr>
            <a:r>
              <a:t>Feature Extraction (10 features):</a:t>
            </a:r>
          </a:p>
          <a:p>
            <a:pPr>
              <a:spcAft>
                <a:spcPts val="200"/>
              </a:spcAft>
              <a:defRPr sz="900" b="0">
                <a:solidFill>
                  <a:srgbClr val="000000"/>
                </a:solidFill>
                <a:latin typeface="Consolas"/>
              </a:defRPr>
            </a:pPr>
            <a:r>
              <a:t>  flow_duration = dur × 1000  (sec → ms)</a:t>
            </a:r>
          </a:p>
          <a:p>
            <a:pPr>
              <a:spcAft>
                <a:spcPts val="200"/>
              </a:spcAft>
              <a:defRPr sz="900" b="0">
                <a:solidFill>
                  <a:srgbClr val="000000"/>
                </a:solidFill>
                <a:latin typeface="Consolas"/>
              </a:defRPr>
            </a:pPr>
            <a:r>
              <a:t>  pkt_rate      = rate  (or (spkts+dpkts)/dur)</a:t>
            </a:r>
          </a:p>
          <a:p>
            <a:pPr>
              <a:spcAft>
                <a:spcPts val="200"/>
              </a:spcAft>
              <a:defRPr sz="900" b="0">
                <a:solidFill>
                  <a:srgbClr val="000000"/>
                </a:solidFill>
                <a:latin typeface="Consolas"/>
              </a:defRPr>
            </a:pPr>
            <a:r>
              <a:t>  byte_rate     = sbytes + dbytes</a:t>
            </a:r>
          </a:p>
          <a:p>
            <a:pPr>
              <a:spcAft>
                <a:spcPts val="200"/>
              </a:spcAft>
              <a:defRPr sz="900" b="0">
                <a:solidFill>
                  <a:srgbClr val="000000"/>
                </a:solidFill>
                <a:latin typeface="Consolas"/>
              </a:defRPr>
            </a:pPr>
            <a:r>
              <a:t>  traffic_pat_var* = normalize(ct_srv_src,[0,1])</a:t>
            </a:r>
          </a:p>
          <a:p>
            <a:pPr>
              <a:spcAft>
                <a:spcPts val="200"/>
              </a:spcAft>
              <a:defRPr sz="900" b="0">
                <a:solidFill>
                  <a:srgbClr val="000000"/>
                </a:solidFill>
                <a:latin typeface="Consolas"/>
              </a:defRPr>
            </a:pPr>
            <a:r>
              <a:t>  port_cat      = bin(dsport,[80,443,1K,5K,10K,65K])</a:t>
            </a:r>
          </a:p>
          <a:p>
            <a:pPr>
              <a:spcAft>
                <a:spcPts val="200"/>
              </a:spcAft>
              <a:defRPr sz="900" b="0">
                <a:solidFill>
                  <a:srgbClr val="000000"/>
                </a:solidFill>
                <a:latin typeface="Consolas"/>
              </a:defRPr>
            </a:pPr>
            <a:r>
              <a:t>  size_cat      = bin(byte_rate,[100,1K,10K,∞])</a:t>
            </a:r>
          </a:p>
          <a:p>
            <a:pPr>
              <a:spcAft>
                <a:spcPts val="200"/>
              </a:spcAft>
              <a:defRPr sz="900" b="0">
                <a:solidFill>
                  <a:srgbClr val="000000"/>
                </a:solidFill>
                <a:latin typeface="Consolas"/>
              </a:defRPr>
            </a:pPr>
            <a:r>
              <a:t>  protocol      = {tcp:0, udp:1, icmp:2}</a:t>
            </a:r>
          </a:p>
          <a:p>
            <a:pPr>
              <a:spcAft>
                <a:spcPts val="200"/>
              </a:spcAft>
              <a:defRPr sz="900" b="0">
                <a:solidFill>
                  <a:srgbClr val="1E8E3E"/>
                </a:solidFill>
                <a:latin typeface="Consolas"/>
              </a:defRPr>
            </a:pPr>
            <a:r>
              <a:t>  src_ttl       = quantile_norm(sttl, [0,1])</a:t>
            </a:r>
          </a:p>
          <a:p>
            <a:pPr>
              <a:spcAft>
                <a:spcPts val="200"/>
              </a:spcAft>
              <a:defRPr sz="900" b="0">
                <a:solidFill>
                  <a:srgbClr val="1E8E3E"/>
                </a:solidFill>
                <a:latin typeface="Consolas"/>
              </a:defRPr>
            </a:pPr>
            <a:r>
              <a:t>  src_load      = quantile_norm(sload, [0,1])</a:t>
            </a:r>
          </a:p>
          <a:p>
            <a:pPr>
              <a:spcAft>
                <a:spcPts val="200"/>
              </a:spcAft>
              <a:defRPr sz="900" b="0">
                <a:solidFill>
                  <a:srgbClr val="1E8E3E"/>
                </a:solidFill>
                <a:latin typeface="Consolas"/>
              </a:defRPr>
            </a:pPr>
            <a:r>
              <a:t>  mean_pkt_size = quantile_norm(smean, [0,1])</a:t>
            </a:r>
          </a:p>
          <a:p>
            <a:pPr>
              <a:spcAft>
                <a:spcPts val="200"/>
              </a:spcAft>
              <a:defRPr sz="300" b="0">
                <a:solidFill>
                  <a:srgbClr val="000000"/>
                </a:solidFill>
                <a:latin typeface="Consolas"/>
              </a:defRPr>
            </a:pPr>
          </a:p>
          <a:p>
            <a:pPr>
              <a:spcAft>
                <a:spcPts val="200"/>
              </a:spcAft>
              <a:defRPr sz="900" b="0">
                <a:solidFill>
                  <a:srgbClr val="C0392B"/>
                </a:solidFill>
                <a:latin typeface="Consolas"/>
              </a:defRPr>
            </a:pPr>
            <a:r>
              <a:t>Attack Types (9): Generic, Exploits, Fuzzers,</a:t>
            </a:r>
          </a:p>
          <a:p>
            <a:pPr>
              <a:spcAft>
                <a:spcPts val="200"/>
              </a:spcAft>
              <a:defRPr sz="900" b="0">
                <a:solidFill>
                  <a:srgbClr val="C0392B"/>
                </a:solidFill>
                <a:latin typeface="Consolas"/>
              </a:defRPr>
            </a:pPr>
            <a:r>
              <a:t>  DoS, Recon, Analysis, Backdoor, Shellcode, Worms</a:t>
            </a:r>
          </a:p>
          <a:p>
            <a:pPr>
              <a:spcAft>
                <a:spcPts val="200"/>
              </a:spcAft>
              <a:defRPr sz="900" b="1">
                <a:solidFill>
                  <a:srgbClr val="C0392B"/>
                </a:solidFill>
                <a:latin typeface="Consolas"/>
              </a:defRPr>
            </a:pPr>
            <a:r>
              <a:t>Attack Ratio: ~30%</a:t>
            </a:r>
          </a:p>
        </p:txBody>
      </p:sp>
      <p:sp>
        <p:nvSpPr>
          <p:cNvPr id="5" name="Rounded Rectangle 4"/>
          <p:cNvSpPr/>
          <p:nvPr/>
        </p:nvSpPr>
        <p:spPr>
          <a:xfrm>
            <a:off x="3108960" y="731520"/>
            <a:ext cx="2880360" cy="411480"/>
          </a:xfrm>
          <a:prstGeom prst="roundRect">
            <a:avLst/>
          </a:prstGeom>
          <a:solidFill>
            <a:srgbClr val="003C7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CSE-CIC-IDS-2018  (2018)</a:t>
            </a:r>
          </a:p>
        </p:txBody>
      </p:sp>
      <p:sp>
        <p:nvSpPr>
          <p:cNvPr id="6" name="TextBox 5"/>
          <p:cNvSpPr txBox="1"/>
          <p:nvPr/>
        </p:nvSpPr>
        <p:spPr>
          <a:xfrm>
            <a:off x="3108960" y="1188720"/>
            <a:ext cx="2880360" cy="5212080"/>
          </a:xfrm>
          <a:prstGeom prst="rect">
            <a:avLst/>
          </a:prstGeom>
          <a:noFill/>
        </p:spPr>
        <p:txBody>
          <a:bodyPr wrap="square">
            <a:spAutoFit/>
          </a:bodyPr>
          <a:lstStyle/>
          <a:p>
            <a:pPr>
              <a:spcAft>
                <a:spcPts val="200"/>
              </a:spcAft>
              <a:defRPr sz="1100" b="1">
                <a:solidFill>
                  <a:srgbClr val="000000"/>
                </a:solidFill>
                <a:latin typeface="Consolas"/>
              </a:defRPr>
            </a:pPr>
            <a:r>
              <a:t>Raw Columns (80+ CICFlowMeter features):</a:t>
            </a:r>
          </a:p>
          <a:p>
            <a:pPr>
              <a:spcAft>
                <a:spcPts val="200"/>
              </a:spcAft>
              <a:defRPr sz="900" b="0">
                <a:solidFill>
                  <a:srgbClr val="7F8C8D"/>
                </a:solidFill>
                <a:latin typeface="Consolas"/>
              </a:defRPr>
            </a:pPr>
            <a:r>
              <a:t>  Flow Duration, Flow Packets/s,</a:t>
            </a:r>
          </a:p>
          <a:p>
            <a:pPr>
              <a:spcAft>
                <a:spcPts val="200"/>
              </a:spcAft>
              <a:defRPr sz="900" b="0">
                <a:solidFill>
                  <a:srgbClr val="7F8C8D"/>
                </a:solidFill>
                <a:latin typeface="Consolas"/>
              </a:defRPr>
            </a:pPr>
            <a:r>
              <a:t>  Flow Bytes/s, Fwd IAT Std, Fwd Header Len,</a:t>
            </a:r>
          </a:p>
          <a:p>
            <a:pPr>
              <a:spcAft>
                <a:spcPts val="200"/>
              </a:spcAft>
              <a:defRPr sz="900" b="0">
                <a:solidFill>
                  <a:srgbClr val="7F8C8D"/>
                </a:solidFill>
                <a:latin typeface="Consolas"/>
              </a:defRPr>
            </a:pPr>
            <a:r>
              <a:t>  Fwd Packets/s, Avg Packet Size, ...</a:t>
            </a:r>
          </a:p>
          <a:p>
            <a:pPr>
              <a:spcAft>
                <a:spcPts val="200"/>
              </a:spcAft>
              <a:defRPr sz="300" b="0">
                <a:solidFill>
                  <a:srgbClr val="000000"/>
                </a:solidFill>
                <a:latin typeface="Consolas"/>
              </a:defRPr>
            </a:pPr>
          </a:p>
          <a:p>
            <a:pPr>
              <a:spcAft>
                <a:spcPts val="200"/>
              </a:spcAft>
              <a:defRPr sz="900" b="1">
                <a:solidFill>
                  <a:srgbClr val="7B4B2A"/>
                </a:solidFill>
                <a:latin typeface="Consolas"/>
              </a:defRPr>
            </a:pPr>
            <a:r>
              <a:t>PCAP Source: AWS infrastructure (10 days)</a:t>
            </a:r>
          </a:p>
          <a:p>
            <a:pPr>
              <a:spcAft>
                <a:spcPts val="200"/>
              </a:spcAft>
              <a:defRPr sz="900" b="1">
                <a:solidFill>
                  <a:srgbClr val="7B4B2A"/>
                </a:solidFill>
                <a:latin typeface="Consolas"/>
              </a:defRPr>
            </a:pPr>
            <a:r>
              <a:t>Flow Tool: CICFlowMeter</a:t>
            </a:r>
          </a:p>
          <a:p>
            <a:pPr>
              <a:spcAft>
                <a:spcPts val="200"/>
              </a:spcAft>
              <a:defRPr sz="300" b="0">
                <a:solidFill>
                  <a:srgbClr val="000000"/>
                </a:solidFill>
                <a:latin typeface="Consolas"/>
              </a:defRPr>
            </a:pPr>
          </a:p>
          <a:p>
            <a:pPr>
              <a:spcAft>
                <a:spcPts val="200"/>
              </a:spcAft>
              <a:defRPr sz="1000" b="1">
                <a:solidFill>
                  <a:srgbClr val="003C71"/>
                </a:solidFill>
                <a:latin typeface="Consolas"/>
              </a:defRPr>
            </a:pPr>
            <a:r>
              <a:t>Feature Extraction (10 features):</a:t>
            </a:r>
          </a:p>
          <a:p>
            <a:pPr>
              <a:spcAft>
                <a:spcPts val="200"/>
              </a:spcAft>
              <a:defRPr sz="900" b="0">
                <a:solidFill>
                  <a:srgbClr val="000000"/>
                </a:solidFill>
                <a:latin typeface="Consolas"/>
              </a:defRPr>
            </a:pPr>
            <a:r>
              <a:t>  flow_duration = Flow Duration / 1000  (μs → ms)</a:t>
            </a:r>
          </a:p>
          <a:p>
            <a:pPr>
              <a:spcAft>
                <a:spcPts val="200"/>
              </a:spcAft>
              <a:defRPr sz="900" b="0">
                <a:solidFill>
                  <a:srgbClr val="000000"/>
                </a:solidFill>
                <a:latin typeface="Consolas"/>
              </a:defRPr>
            </a:pPr>
            <a:r>
              <a:t>  pkt_rate      = Flow Packets/s</a:t>
            </a:r>
          </a:p>
          <a:p>
            <a:pPr>
              <a:spcAft>
                <a:spcPts val="200"/>
              </a:spcAft>
              <a:defRPr sz="900" b="0">
                <a:solidFill>
                  <a:srgbClr val="000000"/>
                </a:solidFill>
                <a:latin typeface="Consolas"/>
              </a:defRPr>
            </a:pPr>
            <a:r>
              <a:t>  byte_rate     = Flow Bytes/s</a:t>
            </a:r>
          </a:p>
          <a:p>
            <a:pPr>
              <a:spcAft>
                <a:spcPts val="200"/>
              </a:spcAft>
              <a:defRPr sz="900" b="0">
                <a:solidFill>
                  <a:srgbClr val="000000"/>
                </a:solidFill>
                <a:latin typeface="Consolas"/>
              </a:defRPr>
            </a:pPr>
            <a:r>
              <a:t>  traffic_pat_var* = quantile_norm(Fwd IAT Std)</a:t>
            </a:r>
          </a:p>
          <a:p>
            <a:pPr>
              <a:spcAft>
                <a:spcPts val="200"/>
              </a:spcAft>
              <a:defRPr sz="900" b="0">
                <a:solidFill>
                  <a:srgbClr val="000000"/>
                </a:solidFill>
                <a:latin typeface="Consolas"/>
              </a:defRPr>
            </a:pPr>
            <a:r>
              <a:t>  port_cat      = bin(Dst Port,[80,443,1K,5K,10K,65K])</a:t>
            </a:r>
          </a:p>
          <a:p>
            <a:pPr>
              <a:spcAft>
                <a:spcPts val="200"/>
              </a:spcAft>
              <a:defRPr sz="900" b="0">
                <a:solidFill>
                  <a:srgbClr val="000000"/>
                </a:solidFill>
                <a:latin typeface="Consolas"/>
              </a:defRPr>
            </a:pPr>
            <a:r>
              <a:t>  size_cat      = bin(bytes×dur,[100,1K,10K,∞])</a:t>
            </a:r>
          </a:p>
          <a:p>
            <a:pPr>
              <a:spcAft>
                <a:spcPts val="200"/>
              </a:spcAft>
              <a:defRPr sz="900" b="0">
                <a:solidFill>
                  <a:srgbClr val="000000"/>
                </a:solidFill>
                <a:latin typeface="Consolas"/>
              </a:defRPr>
            </a:pPr>
            <a:r>
              <a:t>  protocol      = {6→TCP:0, 17→UDP:1, 1→ICMP:2}</a:t>
            </a:r>
          </a:p>
          <a:p>
            <a:pPr>
              <a:spcAft>
                <a:spcPts val="200"/>
              </a:spcAft>
              <a:defRPr sz="900" b="0">
                <a:solidFill>
                  <a:srgbClr val="1E8E3E"/>
                </a:solidFill>
                <a:latin typeface="Consolas"/>
              </a:defRPr>
            </a:pPr>
            <a:r>
              <a:t>  src_ttl       = quantile_norm(Fwd Header Len)</a:t>
            </a:r>
          </a:p>
          <a:p>
            <a:pPr>
              <a:spcAft>
                <a:spcPts val="200"/>
              </a:spcAft>
              <a:defRPr sz="900" b="0">
                <a:solidFill>
                  <a:srgbClr val="1E8E3E"/>
                </a:solidFill>
                <a:latin typeface="Consolas"/>
              </a:defRPr>
            </a:pPr>
            <a:r>
              <a:t>  src_load      = quantile_norm(Fwd Packets/s)</a:t>
            </a:r>
          </a:p>
          <a:p>
            <a:pPr>
              <a:spcAft>
                <a:spcPts val="200"/>
              </a:spcAft>
              <a:defRPr sz="900" b="0">
                <a:solidFill>
                  <a:srgbClr val="1E8E3E"/>
                </a:solidFill>
                <a:latin typeface="Consolas"/>
              </a:defRPr>
            </a:pPr>
            <a:r>
              <a:t>  mean_pkt_size = quantile_norm(Average Packet Size)</a:t>
            </a:r>
          </a:p>
          <a:p>
            <a:pPr>
              <a:spcAft>
                <a:spcPts val="200"/>
              </a:spcAft>
              <a:defRPr sz="300" b="0">
                <a:solidFill>
                  <a:srgbClr val="000000"/>
                </a:solidFill>
                <a:latin typeface="Consolas"/>
              </a:defRPr>
            </a:pPr>
          </a:p>
          <a:p>
            <a:pPr>
              <a:spcAft>
                <a:spcPts val="200"/>
              </a:spcAft>
              <a:defRPr sz="900" b="0">
                <a:solidFill>
                  <a:srgbClr val="C0392B"/>
                </a:solidFill>
                <a:latin typeface="Consolas"/>
              </a:defRPr>
            </a:pPr>
            <a:r>
              <a:t>Attack Types (7): DoS, DDoS, BruteForce,</a:t>
            </a:r>
          </a:p>
          <a:p>
            <a:pPr>
              <a:spcAft>
                <a:spcPts val="200"/>
              </a:spcAft>
              <a:defRPr sz="900" b="0">
                <a:solidFill>
                  <a:srgbClr val="C0392B"/>
                </a:solidFill>
                <a:latin typeface="Consolas"/>
              </a:defRPr>
            </a:pPr>
            <a:r>
              <a:t>  Infiltration, BotNet, WebAttack, SQL Injection</a:t>
            </a:r>
          </a:p>
          <a:p>
            <a:pPr>
              <a:spcAft>
                <a:spcPts val="200"/>
              </a:spcAft>
              <a:defRPr sz="900" b="1">
                <a:solidFill>
                  <a:srgbClr val="C0392B"/>
                </a:solidFill>
                <a:latin typeface="Consolas"/>
              </a:defRPr>
            </a:pPr>
            <a:r>
              <a:t>Attack Ratio: ~15%</a:t>
            </a:r>
          </a:p>
        </p:txBody>
      </p:sp>
      <p:sp>
        <p:nvSpPr>
          <p:cNvPr id="7" name="Rounded Rectangle 6"/>
          <p:cNvSpPr/>
          <p:nvPr/>
        </p:nvSpPr>
        <p:spPr>
          <a:xfrm>
            <a:off x="6126480" y="731520"/>
            <a:ext cx="2880360" cy="411480"/>
          </a:xfrm>
          <a:prstGeom prst="roundRect">
            <a:avLst/>
          </a:prstGeom>
          <a:solidFill>
            <a:srgbClr val="003C7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CIC-IDS2017  (2017)</a:t>
            </a:r>
          </a:p>
        </p:txBody>
      </p:sp>
      <p:sp>
        <p:nvSpPr>
          <p:cNvPr id="8" name="TextBox 7"/>
          <p:cNvSpPr txBox="1"/>
          <p:nvPr/>
        </p:nvSpPr>
        <p:spPr>
          <a:xfrm>
            <a:off x="6126480" y="1188720"/>
            <a:ext cx="2880360" cy="5212080"/>
          </a:xfrm>
          <a:prstGeom prst="rect">
            <a:avLst/>
          </a:prstGeom>
          <a:noFill/>
        </p:spPr>
        <p:txBody>
          <a:bodyPr wrap="square">
            <a:spAutoFit/>
          </a:bodyPr>
          <a:lstStyle/>
          <a:p>
            <a:pPr>
              <a:spcAft>
                <a:spcPts val="200"/>
              </a:spcAft>
              <a:defRPr sz="1100" b="1">
                <a:solidFill>
                  <a:srgbClr val="000000"/>
                </a:solidFill>
                <a:latin typeface="Consolas"/>
              </a:defRPr>
            </a:pPr>
            <a:r>
              <a:t>Raw Columns (80+ CICFlowMeter features):</a:t>
            </a:r>
          </a:p>
          <a:p>
            <a:pPr>
              <a:spcAft>
                <a:spcPts val="200"/>
              </a:spcAft>
              <a:defRPr sz="900" b="0">
                <a:solidFill>
                  <a:srgbClr val="7F8C8D"/>
                </a:solidFill>
                <a:latin typeface="Consolas"/>
              </a:defRPr>
            </a:pPr>
            <a:r>
              <a:t>  Flow Duration, Flow Pkts/s,</a:t>
            </a:r>
          </a:p>
          <a:p>
            <a:pPr>
              <a:spcAft>
                <a:spcPts val="200"/>
              </a:spcAft>
              <a:defRPr sz="900" b="0">
                <a:solidFill>
                  <a:srgbClr val="7F8C8D"/>
                </a:solidFill>
                <a:latin typeface="Consolas"/>
              </a:defRPr>
            </a:pPr>
            <a:r>
              <a:t>  Flow Byts/s, Flow IAT Std, Fwd Header Len,</a:t>
            </a:r>
          </a:p>
          <a:p>
            <a:pPr>
              <a:spcAft>
                <a:spcPts val="200"/>
              </a:spcAft>
              <a:defRPr sz="900" b="0">
                <a:solidFill>
                  <a:srgbClr val="7F8C8D"/>
                </a:solidFill>
                <a:latin typeface="Consolas"/>
              </a:defRPr>
            </a:pPr>
            <a:r>
              <a:t>  Fwd Packets/s, Avg Packet Size, ...</a:t>
            </a:r>
          </a:p>
          <a:p>
            <a:pPr>
              <a:spcAft>
                <a:spcPts val="200"/>
              </a:spcAft>
              <a:defRPr sz="300" b="0">
                <a:solidFill>
                  <a:srgbClr val="000000"/>
                </a:solidFill>
                <a:latin typeface="Consolas"/>
              </a:defRPr>
            </a:pPr>
          </a:p>
          <a:p>
            <a:pPr>
              <a:spcAft>
                <a:spcPts val="200"/>
              </a:spcAft>
              <a:defRPr sz="900" b="1">
                <a:solidFill>
                  <a:srgbClr val="7B4B2A"/>
                </a:solidFill>
                <a:latin typeface="Consolas"/>
              </a:defRPr>
            </a:pPr>
            <a:r>
              <a:t>PCAP Source: CIC lab network (5 days)</a:t>
            </a:r>
          </a:p>
          <a:p>
            <a:pPr>
              <a:spcAft>
                <a:spcPts val="200"/>
              </a:spcAft>
              <a:defRPr sz="900" b="1">
                <a:solidFill>
                  <a:srgbClr val="7B4B2A"/>
                </a:solidFill>
                <a:latin typeface="Consolas"/>
              </a:defRPr>
            </a:pPr>
            <a:r>
              <a:t>Flow Tool: CICFlowMeter</a:t>
            </a:r>
          </a:p>
          <a:p>
            <a:pPr>
              <a:spcAft>
                <a:spcPts val="200"/>
              </a:spcAft>
              <a:defRPr sz="300" b="0">
                <a:solidFill>
                  <a:srgbClr val="000000"/>
                </a:solidFill>
                <a:latin typeface="Consolas"/>
              </a:defRPr>
            </a:pPr>
          </a:p>
          <a:p>
            <a:pPr>
              <a:spcAft>
                <a:spcPts val="200"/>
              </a:spcAft>
              <a:defRPr sz="1000" b="1">
                <a:solidFill>
                  <a:srgbClr val="003C71"/>
                </a:solidFill>
                <a:latin typeface="Consolas"/>
              </a:defRPr>
            </a:pPr>
            <a:r>
              <a:t>Feature Extraction (10 features, same as CSE):</a:t>
            </a:r>
          </a:p>
          <a:p>
            <a:pPr>
              <a:spcAft>
                <a:spcPts val="200"/>
              </a:spcAft>
              <a:defRPr sz="900" b="0">
                <a:solidFill>
                  <a:srgbClr val="000000"/>
                </a:solidFill>
                <a:latin typeface="Consolas"/>
              </a:defRPr>
            </a:pPr>
            <a:r>
              <a:t>  flow_duration = Flow Duration / 1000  (μs → ms)</a:t>
            </a:r>
          </a:p>
          <a:p>
            <a:pPr>
              <a:spcAft>
                <a:spcPts val="200"/>
              </a:spcAft>
              <a:defRPr sz="900" b="0">
                <a:solidFill>
                  <a:srgbClr val="000000"/>
                </a:solidFill>
                <a:latin typeface="Consolas"/>
              </a:defRPr>
            </a:pPr>
            <a:r>
              <a:t>  pkt_rate      = Flow Packets/s</a:t>
            </a:r>
          </a:p>
          <a:p>
            <a:pPr>
              <a:spcAft>
                <a:spcPts val="200"/>
              </a:spcAft>
              <a:defRPr sz="900" b="0">
                <a:solidFill>
                  <a:srgbClr val="000000"/>
                </a:solidFill>
                <a:latin typeface="Consolas"/>
              </a:defRPr>
            </a:pPr>
            <a:r>
              <a:t>  byte_rate     = Flow Bytes/s</a:t>
            </a:r>
          </a:p>
          <a:p>
            <a:pPr>
              <a:spcAft>
                <a:spcPts val="200"/>
              </a:spcAft>
              <a:defRPr sz="900" b="0">
                <a:solidFill>
                  <a:srgbClr val="000000"/>
                </a:solidFill>
                <a:latin typeface="Consolas"/>
              </a:defRPr>
            </a:pPr>
            <a:r>
              <a:t>  traffic_pat_var* = quantile_norm(Fwd IAT Std)</a:t>
            </a:r>
          </a:p>
          <a:p>
            <a:pPr>
              <a:spcAft>
                <a:spcPts val="200"/>
              </a:spcAft>
              <a:defRPr sz="900" b="0">
                <a:solidFill>
                  <a:srgbClr val="000000"/>
                </a:solidFill>
                <a:latin typeface="Consolas"/>
              </a:defRPr>
            </a:pPr>
            <a:r>
              <a:t>  port_cat      = bin(Dst Port,[80,443,1K,5K,10K,65K])</a:t>
            </a:r>
          </a:p>
          <a:p>
            <a:pPr>
              <a:spcAft>
                <a:spcPts val="200"/>
              </a:spcAft>
              <a:defRPr sz="900" b="0">
                <a:solidFill>
                  <a:srgbClr val="000000"/>
                </a:solidFill>
                <a:latin typeface="Consolas"/>
              </a:defRPr>
            </a:pPr>
            <a:r>
              <a:t>  size_cat      = bin(bytes×dur,[100,1K,10K,∞])</a:t>
            </a:r>
          </a:p>
          <a:p>
            <a:pPr>
              <a:spcAft>
                <a:spcPts val="200"/>
              </a:spcAft>
              <a:defRPr sz="900" b="0">
                <a:solidFill>
                  <a:srgbClr val="000000"/>
                </a:solidFill>
                <a:latin typeface="Consolas"/>
              </a:defRPr>
            </a:pPr>
            <a:r>
              <a:t>  protocol      = {6→TCP:0, 17→UDP:1, 1→ICMP:2}</a:t>
            </a:r>
          </a:p>
          <a:p>
            <a:pPr>
              <a:spcAft>
                <a:spcPts val="200"/>
              </a:spcAft>
              <a:defRPr sz="900" b="0">
                <a:solidFill>
                  <a:srgbClr val="1E8E3E"/>
                </a:solidFill>
                <a:latin typeface="Consolas"/>
              </a:defRPr>
            </a:pPr>
            <a:r>
              <a:t>  src_ttl       = quantile_norm(Fwd Header Len)</a:t>
            </a:r>
          </a:p>
          <a:p>
            <a:pPr>
              <a:spcAft>
                <a:spcPts val="200"/>
              </a:spcAft>
              <a:defRPr sz="900" b="0">
                <a:solidFill>
                  <a:srgbClr val="1E8E3E"/>
                </a:solidFill>
                <a:latin typeface="Consolas"/>
              </a:defRPr>
            </a:pPr>
            <a:r>
              <a:t>  src_load      = quantile_norm(Fwd Packets/s)</a:t>
            </a:r>
          </a:p>
          <a:p>
            <a:pPr>
              <a:spcAft>
                <a:spcPts val="200"/>
              </a:spcAft>
              <a:defRPr sz="900" b="0">
                <a:solidFill>
                  <a:srgbClr val="1E8E3E"/>
                </a:solidFill>
                <a:latin typeface="Consolas"/>
              </a:defRPr>
            </a:pPr>
            <a:r>
              <a:t>  mean_pkt_size = quantile_norm(Avg Packet Size)</a:t>
            </a:r>
          </a:p>
          <a:p>
            <a:pPr>
              <a:spcAft>
                <a:spcPts val="200"/>
              </a:spcAft>
              <a:defRPr sz="300" b="0">
                <a:solidFill>
                  <a:srgbClr val="000000"/>
                </a:solidFill>
                <a:latin typeface="Consolas"/>
              </a:defRPr>
            </a:pPr>
          </a:p>
          <a:p>
            <a:pPr>
              <a:spcAft>
                <a:spcPts val="200"/>
              </a:spcAft>
              <a:defRPr sz="900" b="0">
                <a:solidFill>
                  <a:srgbClr val="C0392B"/>
                </a:solidFill>
                <a:latin typeface="Consolas"/>
              </a:defRPr>
            </a:pPr>
            <a:r>
              <a:t>Attack Types (14): DoS, PortScan, DDoS,</a:t>
            </a:r>
          </a:p>
          <a:p>
            <a:pPr>
              <a:spcAft>
                <a:spcPts val="200"/>
              </a:spcAft>
              <a:defRPr sz="900" b="0">
                <a:solidFill>
                  <a:srgbClr val="C0392B"/>
                </a:solidFill>
                <a:latin typeface="Consolas"/>
              </a:defRPr>
            </a:pPr>
            <a:r>
              <a:t>  BruteForce, WebAttack, Infiltration,</a:t>
            </a:r>
          </a:p>
          <a:p>
            <a:pPr>
              <a:spcAft>
                <a:spcPts val="200"/>
              </a:spcAft>
              <a:defRPr sz="900" b="0">
                <a:solidFill>
                  <a:srgbClr val="C0392B"/>
                </a:solidFill>
                <a:latin typeface="Consolas"/>
              </a:defRPr>
            </a:pPr>
            <a:r>
              <a:t>  Heartbleed, Botnet, SSH-Patator, ...</a:t>
            </a:r>
          </a:p>
          <a:p>
            <a:pPr>
              <a:spcAft>
                <a:spcPts val="200"/>
              </a:spcAft>
              <a:defRPr sz="900" b="1">
                <a:solidFill>
                  <a:srgbClr val="C0392B"/>
                </a:solidFill>
                <a:latin typeface="Consolas"/>
              </a:defRPr>
            </a:pPr>
            <a:r>
              <a:t>Attack Ratio: ~20%</a:t>
            </a:r>
          </a:p>
        </p:txBody>
      </p:sp>
      <p:sp>
        <p:nvSpPr>
          <p:cNvPr id="9" name="Rounded Rectangle 8"/>
          <p:cNvSpPr/>
          <p:nvPr/>
        </p:nvSpPr>
        <p:spPr>
          <a:xfrm>
            <a:off x="9144000" y="731520"/>
            <a:ext cx="2880360" cy="411480"/>
          </a:xfrm>
          <a:prstGeom prst="round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MISP Threat Intel  (2024–2025)</a:t>
            </a:r>
          </a:p>
        </p:txBody>
      </p:sp>
      <p:sp>
        <p:nvSpPr>
          <p:cNvPr id="10" name="TextBox 9"/>
          <p:cNvSpPr txBox="1"/>
          <p:nvPr/>
        </p:nvSpPr>
        <p:spPr>
          <a:xfrm>
            <a:off x="9144000" y="1188720"/>
            <a:ext cx="2880360" cy="5212080"/>
          </a:xfrm>
          <a:prstGeom prst="rect">
            <a:avLst/>
          </a:prstGeom>
          <a:noFill/>
        </p:spPr>
        <p:txBody>
          <a:bodyPr wrap="square">
            <a:spAutoFit/>
          </a:bodyPr>
          <a:lstStyle/>
          <a:p>
            <a:pPr>
              <a:spcAft>
                <a:spcPts val="200"/>
              </a:spcAft>
              <a:defRPr sz="1100" b="1">
                <a:solidFill>
                  <a:srgbClr val="000000"/>
                </a:solidFill>
                <a:latin typeface="Consolas"/>
              </a:defRPr>
            </a:pPr>
            <a:r>
              <a:t>Source: MISP OpenAPI Feed Protocol:</a:t>
            </a:r>
          </a:p>
          <a:p>
            <a:pPr>
              <a:spcAft>
                <a:spcPts val="200"/>
              </a:spcAft>
              <a:defRPr sz="900" b="0">
                <a:solidFill>
                  <a:srgbClr val="7F8C8D"/>
                </a:solidFill>
                <a:latin typeface="Consolas"/>
              </a:defRPr>
            </a:pPr>
            <a:r>
              <a:t>  ip-dst|port, ip-src, domain, url,</a:t>
            </a:r>
          </a:p>
          <a:p>
            <a:pPr>
              <a:spcAft>
                <a:spcPts val="200"/>
              </a:spcAft>
              <a:defRPr sz="900" b="0">
                <a:solidFill>
                  <a:srgbClr val="7F8C8D"/>
                </a:solidFill>
                <a:latin typeface="Consolas"/>
              </a:defRPr>
            </a:pPr>
            <a:r>
              <a:t>  malware family tags, TTP tags...</a:t>
            </a:r>
          </a:p>
          <a:p>
            <a:pPr>
              <a:spcAft>
                <a:spcPts val="200"/>
              </a:spcAft>
              <a:defRPr sz="300" b="0">
                <a:solidFill>
                  <a:srgbClr val="000000"/>
                </a:solidFill>
                <a:latin typeface="Consolas"/>
              </a:defRPr>
            </a:pPr>
          </a:p>
          <a:p>
            <a:pPr>
              <a:spcAft>
                <a:spcPts val="200"/>
              </a:spcAft>
              <a:defRPr sz="900" b="1">
                <a:solidFill>
                  <a:srgbClr val="7B4B2A"/>
                </a:solidFill>
                <a:latin typeface="Consolas"/>
              </a:defRPr>
            </a:pPr>
            <a:r>
              <a:t>Feed: ThreatFox (abuse.ch) + CIRCL</a:t>
            </a:r>
          </a:p>
          <a:p>
            <a:pPr>
              <a:spcAft>
                <a:spcPts val="200"/>
              </a:spcAft>
              <a:defRPr sz="900" b="1">
                <a:solidFill>
                  <a:srgbClr val="7B4B2A"/>
                </a:solidFill>
                <a:latin typeface="Consolas"/>
              </a:defRPr>
            </a:pPr>
            <a:r>
              <a:t>Labeling: Malware family tags</a:t>
            </a:r>
          </a:p>
          <a:p>
            <a:pPr>
              <a:spcAft>
                <a:spcPts val="200"/>
              </a:spcAft>
              <a:defRPr sz="300" b="0">
                <a:solidFill>
                  <a:srgbClr val="000000"/>
                </a:solidFill>
                <a:latin typeface="Consolas"/>
              </a:defRPr>
            </a:pPr>
          </a:p>
          <a:p>
            <a:pPr>
              <a:spcAft>
                <a:spcPts val="200"/>
              </a:spcAft>
              <a:defRPr sz="1000" b="1">
                <a:solidFill>
                  <a:srgbClr val="003C71"/>
                </a:solidFill>
                <a:latin typeface="Consolas"/>
              </a:defRPr>
            </a:pPr>
            <a:r>
              <a:t>Feature Extraction (10 features):</a:t>
            </a:r>
          </a:p>
          <a:p>
            <a:pPr>
              <a:spcAft>
                <a:spcPts val="200"/>
              </a:spcAft>
              <a:defRPr sz="900" b="0">
                <a:solidFill>
                  <a:srgbClr val="000000"/>
                </a:solidFill>
                <a:latin typeface="Consolas"/>
              </a:defRPr>
            </a:pPr>
            <a:r>
              <a:t>  flow_duration = f(packet_size, duration)</a:t>
            </a:r>
          </a:p>
          <a:p>
            <a:pPr>
              <a:spcAft>
                <a:spcPts val="200"/>
              </a:spcAft>
              <a:defRPr sz="900" b="0">
                <a:solidFill>
                  <a:srgbClr val="000000"/>
                </a:solidFill>
                <a:latin typeface="Consolas"/>
              </a:defRPr>
            </a:pPr>
            <a:r>
              <a:t>  pkt_rate      = f(connection rate)</a:t>
            </a:r>
          </a:p>
          <a:p>
            <a:pPr>
              <a:spcAft>
                <a:spcPts val="200"/>
              </a:spcAft>
              <a:defRPr sz="900" b="0">
                <a:solidFill>
                  <a:srgbClr val="000000"/>
                </a:solidFill>
                <a:latin typeface="Consolas"/>
              </a:defRPr>
            </a:pPr>
            <a:r>
              <a:t>  byte_rate     = f(pkt_size × rate)</a:t>
            </a:r>
          </a:p>
          <a:p>
            <a:pPr>
              <a:spcAft>
                <a:spcPts val="200"/>
              </a:spcAft>
              <a:defRPr sz="900" b="0">
                <a:solidFill>
                  <a:srgbClr val="000000"/>
                </a:solidFill>
                <a:latin typeface="Consolas"/>
              </a:defRPr>
            </a:pPr>
            <a:r>
              <a:t>  traffic_pat_var = f(flow variability)</a:t>
            </a:r>
          </a:p>
          <a:p>
            <a:pPr>
              <a:spcAft>
                <a:spcPts val="200"/>
              </a:spcAft>
              <a:defRPr sz="900" b="0">
                <a:solidFill>
                  <a:srgbClr val="000000"/>
                </a:solidFill>
                <a:latin typeface="Consolas"/>
              </a:defRPr>
            </a:pPr>
            <a:r>
              <a:t>  port_cat      = bin(dst_port)</a:t>
            </a:r>
          </a:p>
          <a:p>
            <a:pPr>
              <a:spcAft>
                <a:spcPts val="200"/>
              </a:spcAft>
              <a:defRPr sz="900" b="0">
                <a:solidFill>
                  <a:srgbClr val="000000"/>
                </a:solidFill>
                <a:latin typeface="Consolas"/>
              </a:defRPr>
            </a:pPr>
            <a:r>
              <a:t>  size_cat      = bin(packet_size)</a:t>
            </a:r>
          </a:p>
          <a:p>
            <a:pPr>
              <a:spcAft>
                <a:spcPts val="200"/>
              </a:spcAft>
              <a:defRPr sz="900" b="0">
                <a:solidFill>
                  <a:srgbClr val="000000"/>
                </a:solidFill>
                <a:latin typeface="Consolas"/>
              </a:defRPr>
            </a:pPr>
            <a:r>
              <a:t>  protocol      = {tcp:0, udp:1, icmp:2}</a:t>
            </a:r>
          </a:p>
          <a:p>
            <a:pPr>
              <a:spcAft>
                <a:spcPts val="200"/>
              </a:spcAft>
              <a:defRPr sz="900" b="0">
                <a:solidFill>
                  <a:srgbClr val="1E8E3E"/>
                </a:solidFill>
                <a:latin typeface="Consolas"/>
              </a:defRPr>
            </a:pPr>
            <a:r>
              <a:t>  src_ttl       = f(TTL patterns)</a:t>
            </a:r>
          </a:p>
          <a:p>
            <a:pPr>
              <a:spcAft>
                <a:spcPts val="200"/>
              </a:spcAft>
              <a:defRPr sz="900" b="0">
                <a:solidFill>
                  <a:srgbClr val="1E8E3E"/>
                </a:solidFill>
                <a:latin typeface="Consolas"/>
              </a:defRPr>
            </a:pPr>
            <a:r>
              <a:t>  src_load      = f(burst detection)</a:t>
            </a:r>
          </a:p>
          <a:p>
            <a:pPr>
              <a:spcAft>
                <a:spcPts val="200"/>
              </a:spcAft>
              <a:defRPr sz="900" b="0">
                <a:solidFill>
                  <a:srgbClr val="1E8E3E"/>
                </a:solidFill>
                <a:latin typeface="Consolas"/>
              </a:defRPr>
            </a:pPr>
            <a:r>
              <a:t>  mean_pkt_size = norm(packet_size)</a:t>
            </a:r>
          </a:p>
          <a:p>
            <a:pPr>
              <a:spcAft>
                <a:spcPts val="200"/>
              </a:spcAft>
              <a:defRPr sz="300" b="0">
                <a:solidFill>
                  <a:srgbClr val="000000"/>
                </a:solidFill>
                <a:latin typeface="Consolas"/>
              </a:defRPr>
            </a:pPr>
          </a:p>
          <a:p>
            <a:pPr>
              <a:spcAft>
                <a:spcPts val="200"/>
              </a:spcAft>
              <a:defRPr sz="900" b="0">
                <a:solidFill>
                  <a:srgbClr val="C0392B"/>
                </a:solidFill>
                <a:latin typeface="Consolas"/>
              </a:defRPr>
            </a:pPr>
            <a:r>
              <a:t>Attack Types (12): C2, RAT, Stealer,</a:t>
            </a:r>
          </a:p>
          <a:p>
            <a:pPr>
              <a:spcAft>
                <a:spcPts val="200"/>
              </a:spcAft>
              <a:defRPr sz="900" b="0">
                <a:solidFill>
                  <a:srgbClr val="C0392B"/>
                </a:solidFill>
                <a:latin typeface="Consolas"/>
              </a:defRPr>
            </a:pPr>
            <a:r>
              <a:t>  Botnet, Loader, Ransomware,</a:t>
            </a:r>
          </a:p>
          <a:p>
            <a:pPr>
              <a:spcAft>
                <a:spcPts val="200"/>
              </a:spcAft>
              <a:defRPr sz="900" b="0">
                <a:solidFill>
                  <a:srgbClr val="C0392B"/>
                </a:solidFill>
                <a:latin typeface="Consolas"/>
              </a:defRPr>
            </a:pPr>
            <a:r>
              <a:t>  Phishing, APT, DoS, Exploit, ...</a:t>
            </a:r>
          </a:p>
          <a:p>
            <a:pPr>
              <a:spcAft>
                <a:spcPts val="200"/>
              </a:spcAft>
              <a:defRPr sz="900" b="1">
                <a:solidFill>
                  <a:srgbClr val="C0392B"/>
                </a:solidFill>
                <a:latin typeface="Consolas"/>
              </a:defRPr>
            </a:pPr>
            <a:r>
              <a:t>Attack Ratio: ~35%</a:t>
            </a:r>
          </a:p>
        </p:txBody>
      </p:sp>
      <p:sp>
        <p:nvSpPr>
          <p:cNvPr id="11" name="TextBox 10"/>
          <p:cNvSpPr txBox="1"/>
          <p:nvPr/>
        </p:nvSpPr>
        <p:spPr>
          <a:xfrm>
            <a:off x="274320" y="5852160"/>
            <a:ext cx="11430000" cy="274320"/>
          </a:xfrm>
          <a:prstGeom prst="rect">
            <a:avLst/>
          </a:prstGeom>
          <a:noFill/>
        </p:spPr>
        <p:txBody>
          <a:bodyPr wrap="square">
            <a:spAutoFit/>
          </a:bodyPr>
          <a:lstStyle/>
          <a:p>
            <a:pPr algn="l">
              <a:defRPr sz="1000" b="0">
                <a:solidFill>
                  <a:srgbClr val="7F8C8D"/>
                </a:solidFill>
                <a:latin typeface="Calibri"/>
              </a:defRPr>
            </a:pPr>
            <a:r>
              <a:t>*traffic_pat_var is a traffic pattern variability proxy (NOT Shannon entropy): UNSW uses ct_srv_src (connection diversity); CIC datasets use Fwd IAT Std (timing variability), both normalized to [0,1].</a:t>
            </a:r>
          </a:p>
        </p:txBody>
      </p:sp>
      <p:sp>
        <p:nvSpPr>
          <p:cNvPr id="12" name="TextBox 11"/>
          <p:cNvSpPr txBox="1"/>
          <p:nvPr/>
        </p:nvSpPr>
        <p:spPr>
          <a:xfrm>
            <a:off x="274320" y="6126480"/>
            <a:ext cx="11430000" cy="457200"/>
          </a:xfrm>
          <a:prstGeom prst="rect">
            <a:avLst/>
          </a:prstGeom>
          <a:noFill/>
        </p:spPr>
        <p:txBody>
          <a:bodyPr wrap="square">
            <a:spAutoFit/>
          </a:bodyPr>
          <a:lstStyle/>
          <a:p>
            <a:pPr algn="ctr">
              <a:defRPr sz="1300" b="1">
                <a:solidFill>
                  <a:srgbClr val="2980B9"/>
                </a:solidFill>
                <a:latin typeface="Calibri"/>
              </a:defRPr>
            </a:pPr>
            <a:r>
              <a:t>All 4 datasets → Standardized 10-feature schema:  x_i = [flow_duration, pkt_rate, byte_rate, traffic_pat_var*, port_cat, size_cat, protocol, src_ttl, src_load, mean_pkt_size],  y_i ∈ {0,1}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274320" y="137160"/>
            <a:ext cx="11430000" cy="457200"/>
          </a:xfrm>
          <a:prstGeom prst="rect">
            <a:avLst/>
          </a:prstGeom>
          <a:noFill/>
        </p:spPr>
        <p:txBody>
          <a:bodyPr wrap="square">
            <a:spAutoFit/>
          </a:bodyPr>
          <a:lstStyle/>
          <a:p>
            <a:pPr algn="l">
              <a:defRPr sz="2400" b="1">
                <a:solidFill>
                  <a:srgbClr val="7B4B2A"/>
                </a:solidFill>
                <a:latin typeface="Calibri"/>
              </a:defRPr>
            </a:pPr>
            <a:r>
              <a:t>Stage 0: PCAP Binary Preprocessing &amp; Flow Aggregation  [⚡ Parallelizable]</a:t>
            </a:r>
          </a:p>
        </p:txBody>
      </p:sp>
      <p:sp>
        <p:nvSpPr>
          <p:cNvPr id="3" name="Rectangle 2"/>
          <p:cNvSpPr/>
          <p:nvPr/>
        </p:nvSpPr>
        <p:spPr>
          <a:xfrm>
            <a:off x="274320" y="640080"/>
            <a:ext cx="7132320" cy="5303520"/>
          </a:xfrm>
          <a:prstGeom prst="rect">
            <a:avLst/>
          </a:prstGeom>
          <a:solidFill>
            <a:srgbClr val="F7F9FB"/>
          </a:solidFill>
          <a:ln w="19050">
            <a:solidFill>
              <a:srgbClr val="3449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685800"/>
            <a:ext cx="6858000" cy="5212080"/>
          </a:xfrm>
          <a:prstGeom prst="rect">
            <a:avLst/>
          </a:prstGeom>
          <a:noFill/>
        </p:spPr>
        <p:txBody>
          <a:bodyPr wrap="square">
            <a:spAutoFit/>
          </a:bodyPr>
          <a:lstStyle/>
          <a:p>
            <a:pPr>
              <a:spcAft>
                <a:spcPts val="300"/>
              </a:spcAft>
            </a:pPr>
            <a:r>
              <a:rPr sz="1200" b="1" i="1">
                <a:solidFill>
                  <a:srgbClr val="000000"/>
                </a:solidFill>
                <a:latin typeface="Times New Roman"/>
              </a:rPr>
              <a:t>Algorithm 1: </a:t>
            </a:r>
            <a:r>
              <a:rPr sz="1200" b="1">
                <a:solidFill>
                  <a:srgbClr val="000000"/>
                </a:solidFill>
                <a:latin typeface="Times New Roman"/>
              </a:rPr>
              <a:t>PCAP Binary Preprocessing &amp; Flow Aggregation</a:t>
            </a:r>
          </a:p>
          <a:p>
            <a:pPr>
              <a:spcBef>
                <a:spcPts val="0"/>
              </a:spcBef>
              <a:spcAft>
                <a:spcPts val="100"/>
              </a:spcAft>
            </a:pPr>
            <a:r>
              <a:rPr sz="1000" b="1">
                <a:solidFill>
                  <a:srgbClr val="000000"/>
                </a:solidFill>
                <a:latin typeface="Times New Roman"/>
              </a:rPr>
              <a:t>Require:</a:t>
            </a:r>
            <a:r>
              <a:rPr sz="1000" b="0">
                <a:solidFill>
                  <a:srgbClr val="000000"/>
                </a:solidFill>
                <a:latin typeface="Times New Roman"/>
              </a:rPr>
              <a:t> Raw binary PCAP file(s) P = {p_1, ..., p_N}</a:t>
            </a:r>
          </a:p>
          <a:p>
            <a:pPr>
              <a:spcBef>
                <a:spcPts val="0"/>
              </a:spcBef>
              <a:spcAft>
                <a:spcPts val="100"/>
              </a:spcAft>
            </a:pPr>
            <a:r>
              <a:rPr sz="1000" b="1">
                <a:solidFill>
                  <a:srgbClr val="000000"/>
                </a:solidFill>
                <a:latin typeface="Times New Roman"/>
              </a:rPr>
              <a:t>Ensure:</a:t>
            </a:r>
            <a:r>
              <a:rPr sz="1000" b="0">
                <a:solidFill>
                  <a:srgbClr val="000000"/>
                </a:solidFill>
                <a:latin typeface="Times New Roman"/>
              </a:rPr>
              <a:t> Flow-level CSV with F features per flow (F=49 for UNSW, F=80+ for CIC)</a:t>
            </a:r>
          </a:p>
          <a:p>
            <a:pPr>
              <a:spcBef>
                <a:spcPts val="0"/>
              </a:spcBef>
              <a:spcAft>
                <a:spcPts val="100"/>
              </a:spcAft>
            </a:pPr>
            <a:r>
              <a:rPr sz="1000" b="0">
                <a:solidFill>
                  <a:srgbClr val="7F8C8D"/>
                </a:solidFill>
                <a:latin typeface="Consolas"/>
              </a:rPr>
              <a:t> 1:  </a:t>
            </a:r>
            <a:r>
              <a:rPr sz="1000" b="1">
                <a:solidFill>
                  <a:srgbClr val="000000"/>
                </a:solidFill>
                <a:latin typeface="Times New Roman"/>
              </a:rPr>
              <a:t>for </a:t>
            </a:r>
            <a:r>
              <a:rPr sz="1000" b="0">
                <a:solidFill>
                  <a:srgbClr val="000000"/>
                </a:solidFill>
                <a:latin typeface="Times New Roman"/>
              </a:rPr>
              <a:t>each PCAP file p_k ∈ P </a:t>
            </a:r>
            <a:r>
              <a:rPr sz="1000" b="1">
                <a:solidFill>
                  <a:srgbClr val="000000"/>
                </a:solidFill>
                <a:latin typeface="Times New Roman"/>
              </a:rPr>
              <a:t>do</a:t>
            </a:r>
            <a:r>
              <a:rPr sz="1000" b="0">
                <a:solidFill>
                  <a:srgbClr val="000000"/>
                </a:solidFill>
                <a:latin typeface="Times New Roman"/>
              </a:rPr>
              <a:t>  // ⚡ parallelizable per file</a:t>
            </a:r>
          </a:p>
          <a:p>
            <a:pPr>
              <a:spcBef>
                <a:spcPts val="0"/>
              </a:spcBef>
              <a:spcAft>
                <a:spcPts val="100"/>
              </a:spcAft>
            </a:pPr>
            <a:r>
              <a:rPr sz="1000" b="0">
                <a:solidFill>
                  <a:srgbClr val="7F8C8D"/>
                </a:solidFill>
                <a:latin typeface="Consolas"/>
              </a:rPr>
              <a:t> 2:      </a:t>
            </a:r>
            <a:r>
              <a:rPr sz="1000" b="1">
                <a:solidFill>
                  <a:srgbClr val="000000"/>
                </a:solidFill>
                <a:latin typeface="Times New Roman"/>
              </a:rPr>
              <a:t>for </a:t>
            </a:r>
            <a:r>
              <a:rPr sz="1000" b="0">
                <a:solidFill>
                  <a:srgbClr val="000000"/>
                </a:solidFill>
                <a:latin typeface="Times New Roman"/>
              </a:rPr>
              <a:t>each raw packet pkt ∈ p_k </a:t>
            </a:r>
            <a:r>
              <a:rPr sz="1000" b="1">
                <a:solidFill>
                  <a:srgbClr val="000000"/>
                </a:solidFill>
                <a:latin typeface="Times New Roman"/>
              </a:rPr>
              <a:t>do</a:t>
            </a:r>
          </a:p>
          <a:p>
            <a:pPr>
              <a:spcBef>
                <a:spcPts val="0"/>
              </a:spcBef>
              <a:spcAft>
                <a:spcPts val="100"/>
              </a:spcAft>
            </a:pPr>
            <a:r>
              <a:rPr sz="1000" b="0">
                <a:solidFill>
                  <a:srgbClr val="7F8C8D"/>
                </a:solidFill>
                <a:latin typeface="Consolas"/>
              </a:rPr>
              <a:t> 3:          </a:t>
            </a:r>
            <a:r>
              <a:rPr sz="1000" b="0">
                <a:solidFill>
                  <a:srgbClr val="000000"/>
                </a:solidFill>
                <a:latin typeface="Times New Roman"/>
              </a:rPr>
              <a:t>Parse binary headers: Ethernet → IP → TCP/UDP/ICMP</a:t>
            </a:r>
          </a:p>
          <a:p>
            <a:pPr>
              <a:spcBef>
                <a:spcPts val="0"/>
              </a:spcBef>
              <a:spcAft>
                <a:spcPts val="100"/>
              </a:spcAft>
            </a:pPr>
            <a:r>
              <a:rPr sz="1000" b="0">
                <a:solidFill>
                  <a:srgbClr val="7F8C8D"/>
                </a:solidFill>
                <a:latin typeface="Consolas"/>
              </a:rPr>
              <a:t> 4:          </a:t>
            </a:r>
            <a:r>
              <a:rPr sz="1000" b="0">
                <a:solidFill>
                  <a:srgbClr val="000000"/>
                </a:solidFill>
                <a:latin typeface="Times New Roman"/>
              </a:rPr>
              <a:t>Extract 5-tuple: key ← (src_ip, dst_ip, src_port, dst_port, proto)</a:t>
            </a:r>
          </a:p>
          <a:p>
            <a:pPr>
              <a:spcBef>
                <a:spcPts val="0"/>
              </a:spcBef>
              <a:spcAft>
                <a:spcPts val="100"/>
              </a:spcAft>
            </a:pPr>
            <a:r>
              <a:rPr sz="1000" b="0">
                <a:solidFill>
                  <a:srgbClr val="7F8C8D"/>
                </a:solidFill>
                <a:latin typeface="Consolas"/>
              </a:rPr>
              <a:t> 5:          </a:t>
            </a:r>
            <a:r>
              <a:rPr sz="1000" b="1">
                <a:solidFill>
                  <a:srgbClr val="000000"/>
                </a:solidFill>
                <a:latin typeface="Times New Roman"/>
              </a:rPr>
              <a:t>if </a:t>
            </a:r>
            <a:r>
              <a:rPr sz="1000" b="0">
                <a:solidFill>
                  <a:srgbClr val="000000"/>
                </a:solidFill>
                <a:latin typeface="Times New Roman"/>
              </a:rPr>
              <a:t>key ∈ active_flows </a:t>
            </a:r>
            <a:r>
              <a:rPr sz="1000" b="1">
                <a:solidFill>
                  <a:srgbClr val="000000"/>
                </a:solidFill>
                <a:latin typeface="Times New Roman"/>
              </a:rPr>
              <a:t>then</a:t>
            </a:r>
          </a:p>
          <a:p>
            <a:pPr>
              <a:spcBef>
                <a:spcPts val="0"/>
              </a:spcBef>
              <a:spcAft>
                <a:spcPts val="100"/>
              </a:spcAft>
            </a:pPr>
            <a:r>
              <a:rPr sz="1000" b="0">
                <a:solidFill>
                  <a:srgbClr val="7F8C8D"/>
                </a:solidFill>
                <a:latin typeface="Consolas"/>
              </a:rPr>
              <a:t> 6:              </a:t>
            </a:r>
            <a:r>
              <a:rPr sz="1000" b="0">
                <a:solidFill>
                  <a:srgbClr val="000000"/>
                </a:solidFill>
                <a:latin typeface="Times New Roman"/>
              </a:rPr>
              <a:t>active_flows[key].append(pkt)  // add to existing flow</a:t>
            </a:r>
          </a:p>
          <a:p>
            <a:pPr>
              <a:spcBef>
                <a:spcPts val="0"/>
              </a:spcBef>
              <a:spcAft>
                <a:spcPts val="100"/>
              </a:spcAft>
            </a:pPr>
            <a:r>
              <a:rPr sz="1000" b="0">
                <a:solidFill>
                  <a:srgbClr val="7F8C8D"/>
                </a:solidFill>
                <a:latin typeface="Consolas"/>
              </a:rPr>
              <a:t> 7:          </a:t>
            </a:r>
            <a:r>
              <a:rPr sz="1000" b="1">
                <a:solidFill>
                  <a:srgbClr val="000000"/>
                </a:solidFill>
                <a:latin typeface="Times New Roman"/>
              </a:rPr>
              <a:t>else</a:t>
            </a:r>
          </a:p>
          <a:p>
            <a:pPr>
              <a:spcBef>
                <a:spcPts val="0"/>
              </a:spcBef>
              <a:spcAft>
                <a:spcPts val="100"/>
              </a:spcAft>
            </a:pPr>
            <a:r>
              <a:rPr sz="1000" b="0">
                <a:solidFill>
                  <a:srgbClr val="7F8C8D"/>
                </a:solidFill>
                <a:latin typeface="Consolas"/>
              </a:rPr>
              <a:t> 8:              </a:t>
            </a:r>
            <a:r>
              <a:rPr sz="1000" b="0">
                <a:solidFill>
                  <a:srgbClr val="000000"/>
                </a:solidFill>
                <a:latin typeface="Times New Roman"/>
              </a:rPr>
              <a:t>active_flows[key] ← new_flow(pkt)  // start new flow</a:t>
            </a:r>
          </a:p>
          <a:p>
            <a:pPr>
              <a:spcBef>
                <a:spcPts val="0"/>
              </a:spcBef>
              <a:spcAft>
                <a:spcPts val="100"/>
              </a:spcAft>
            </a:pPr>
            <a:r>
              <a:rPr sz="1000" b="0">
                <a:solidFill>
                  <a:srgbClr val="7F8C8D"/>
                </a:solidFill>
                <a:latin typeface="Consolas"/>
              </a:rPr>
              <a:t> 9:          </a:t>
            </a:r>
            <a:r>
              <a:rPr sz="1000" b="1">
                <a:solidFill>
                  <a:srgbClr val="000000"/>
                </a:solidFill>
                <a:latin typeface="Times New Roman"/>
              </a:rPr>
              <a:t>end if</a:t>
            </a:r>
          </a:p>
          <a:p>
            <a:pPr>
              <a:spcBef>
                <a:spcPts val="0"/>
              </a:spcBef>
              <a:spcAft>
                <a:spcPts val="100"/>
              </a:spcAft>
            </a:pPr>
            <a:r>
              <a:rPr sz="1000" b="0">
                <a:solidFill>
                  <a:srgbClr val="7F8C8D"/>
                </a:solidFill>
                <a:latin typeface="Consolas"/>
              </a:rPr>
              <a:t>10:      </a:t>
            </a:r>
            <a:r>
              <a:rPr sz="1000" b="1">
                <a:solidFill>
                  <a:srgbClr val="000000"/>
                </a:solidFill>
                <a:latin typeface="Times New Roman"/>
              </a:rPr>
              <a:t>end for</a:t>
            </a:r>
          </a:p>
          <a:p>
            <a:pPr>
              <a:spcBef>
                <a:spcPts val="0"/>
              </a:spcBef>
              <a:spcAft>
                <a:spcPts val="100"/>
              </a:spcAft>
            </a:pPr>
            <a:r>
              <a:rPr sz="1000" b="0">
                <a:solidFill>
                  <a:srgbClr val="7F8C8D"/>
                </a:solidFill>
                <a:latin typeface="Consolas"/>
              </a:rPr>
              <a:t>11:      </a:t>
            </a:r>
            <a:r>
              <a:rPr sz="1000" b="1">
                <a:solidFill>
                  <a:srgbClr val="000000"/>
                </a:solidFill>
                <a:latin typeface="Times New Roman"/>
              </a:rPr>
              <a:t>for </a:t>
            </a:r>
            <a:r>
              <a:rPr sz="1000" b="0">
                <a:solidFill>
                  <a:srgbClr val="000000"/>
                </a:solidFill>
                <a:latin typeface="Times New Roman"/>
              </a:rPr>
              <a:t>each flow f ∈ active_flows </a:t>
            </a:r>
            <a:r>
              <a:rPr sz="1000" b="1">
                <a:solidFill>
                  <a:srgbClr val="000000"/>
                </a:solidFill>
                <a:latin typeface="Times New Roman"/>
              </a:rPr>
              <a:t>do</a:t>
            </a:r>
          </a:p>
          <a:p>
            <a:pPr>
              <a:spcBef>
                <a:spcPts val="0"/>
              </a:spcBef>
              <a:spcAft>
                <a:spcPts val="100"/>
              </a:spcAft>
            </a:pPr>
            <a:r>
              <a:rPr sz="1000" b="0">
                <a:solidFill>
                  <a:srgbClr val="7F8C8D"/>
                </a:solidFill>
                <a:latin typeface="Consolas"/>
              </a:rPr>
              <a:t>12:          </a:t>
            </a:r>
            <a:r>
              <a:rPr sz="1000" b="1">
                <a:solidFill>
                  <a:srgbClr val="000000"/>
                </a:solidFill>
                <a:latin typeface="Times New Roman"/>
              </a:rPr>
              <a:t>if </a:t>
            </a:r>
            <a:r>
              <a:rPr sz="1000" b="0">
                <a:solidFill>
                  <a:srgbClr val="000000"/>
                </a:solidFill>
                <a:latin typeface="Times New Roman"/>
              </a:rPr>
              <a:t>idle_time(f) &gt; T_idle or active_time(f) &gt; T_active </a:t>
            </a:r>
            <a:r>
              <a:rPr sz="1000" b="1">
                <a:solidFill>
                  <a:srgbClr val="000000"/>
                </a:solidFill>
                <a:latin typeface="Times New Roman"/>
              </a:rPr>
              <a:t>then</a:t>
            </a:r>
          </a:p>
          <a:p>
            <a:pPr>
              <a:spcBef>
                <a:spcPts val="0"/>
              </a:spcBef>
              <a:spcAft>
                <a:spcPts val="100"/>
              </a:spcAft>
            </a:pPr>
            <a:r>
              <a:rPr sz="1000" b="0">
                <a:solidFill>
                  <a:srgbClr val="7F8C8D"/>
                </a:solidFill>
                <a:latin typeface="Consolas"/>
              </a:rPr>
              <a:t>13:              </a:t>
            </a:r>
            <a:r>
              <a:rPr sz="1000" b="0">
                <a:solidFill>
                  <a:srgbClr val="000000"/>
                </a:solidFill>
                <a:latin typeface="Times New Roman"/>
              </a:rPr>
              <a:t>Terminate flow and compute statistical features:</a:t>
            </a:r>
          </a:p>
          <a:p>
            <a:pPr>
              <a:spcBef>
                <a:spcPts val="0"/>
              </a:spcBef>
              <a:spcAft>
                <a:spcPts val="100"/>
              </a:spcAft>
            </a:pPr>
            <a:r>
              <a:rPr sz="1000" b="0">
                <a:solidFill>
                  <a:srgbClr val="7F8C8D"/>
                </a:solidFill>
                <a:latin typeface="Consolas"/>
              </a:rPr>
              <a:t>14:              </a:t>
            </a:r>
            <a:r>
              <a:rPr sz="1000" b="0">
                <a:solidFill>
                  <a:srgbClr val="000000"/>
                </a:solidFill>
                <a:latin typeface="Times New Roman"/>
              </a:rPr>
              <a:t>  duration, pkt_count, byte_count, pkt_rate, byte_rate,</a:t>
            </a:r>
          </a:p>
          <a:p>
            <a:pPr>
              <a:spcBef>
                <a:spcPts val="0"/>
              </a:spcBef>
              <a:spcAft>
                <a:spcPts val="100"/>
              </a:spcAft>
            </a:pPr>
            <a:r>
              <a:rPr sz="1000" b="0">
                <a:solidFill>
                  <a:srgbClr val="7F8C8D"/>
                </a:solidFill>
                <a:latin typeface="Consolas"/>
              </a:rPr>
              <a:t>15:              </a:t>
            </a:r>
            <a:r>
              <a:rPr sz="1000" b="0">
                <a:solidFill>
                  <a:srgbClr val="000000"/>
                </a:solidFill>
                <a:latin typeface="Times New Roman"/>
              </a:rPr>
              <a:t>  fwd/bwd ratios, IAT stats (mean, std, min, max),</a:t>
            </a:r>
          </a:p>
          <a:p>
            <a:pPr>
              <a:spcBef>
                <a:spcPts val="0"/>
              </a:spcBef>
              <a:spcAft>
                <a:spcPts val="100"/>
              </a:spcAft>
            </a:pPr>
            <a:r>
              <a:rPr sz="1000" b="0">
                <a:solidFill>
                  <a:srgbClr val="7F8C8D"/>
                </a:solidFill>
                <a:latin typeface="Consolas"/>
              </a:rPr>
              <a:t>16:              </a:t>
            </a:r>
            <a:r>
              <a:rPr sz="1000" b="0">
                <a:solidFill>
                  <a:srgbClr val="000000"/>
                </a:solidFill>
                <a:latin typeface="Times New Roman"/>
              </a:rPr>
              <a:t>  TCP flags, payload size stats, ...</a:t>
            </a:r>
          </a:p>
          <a:p>
            <a:pPr>
              <a:spcBef>
                <a:spcPts val="0"/>
              </a:spcBef>
              <a:spcAft>
                <a:spcPts val="100"/>
              </a:spcAft>
            </a:pPr>
            <a:r>
              <a:rPr sz="1000" b="0">
                <a:solidFill>
                  <a:srgbClr val="7F8C8D"/>
                </a:solidFill>
                <a:latin typeface="Consolas"/>
              </a:rPr>
              <a:t>17:          </a:t>
            </a:r>
            <a:r>
              <a:rPr sz="1000" b="1">
                <a:solidFill>
                  <a:srgbClr val="000000"/>
                </a:solidFill>
                <a:latin typeface="Times New Roman"/>
              </a:rPr>
              <a:t>end if</a:t>
            </a:r>
          </a:p>
          <a:p>
            <a:pPr>
              <a:spcBef>
                <a:spcPts val="0"/>
              </a:spcBef>
              <a:spcAft>
                <a:spcPts val="100"/>
              </a:spcAft>
            </a:pPr>
            <a:r>
              <a:rPr sz="1000" b="0">
                <a:solidFill>
                  <a:srgbClr val="7F8C8D"/>
                </a:solidFill>
                <a:latin typeface="Consolas"/>
              </a:rPr>
              <a:t>18:      </a:t>
            </a:r>
            <a:r>
              <a:rPr sz="1000" b="1">
                <a:solidFill>
                  <a:srgbClr val="000000"/>
                </a:solidFill>
                <a:latin typeface="Times New Roman"/>
              </a:rPr>
              <a:t>end for</a:t>
            </a:r>
          </a:p>
          <a:p>
            <a:pPr>
              <a:spcBef>
                <a:spcPts val="0"/>
              </a:spcBef>
              <a:spcAft>
                <a:spcPts val="100"/>
              </a:spcAft>
            </a:pPr>
            <a:r>
              <a:rPr sz="1000" b="0">
                <a:solidFill>
                  <a:srgbClr val="7F8C8D"/>
                </a:solidFill>
                <a:latin typeface="Consolas"/>
              </a:rPr>
              <a:t>19:      </a:t>
            </a:r>
            <a:r>
              <a:rPr sz="1000" b="0">
                <a:solidFill>
                  <a:srgbClr val="000000"/>
                </a:solidFill>
                <a:latin typeface="Times New Roman"/>
              </a:rPr>
              <a:t>Export terminated flows as CSV rows with F feature columns</a:t>
            </a:r>
          </a:p>
          <a:p>
            <a:pPr>
              <a:spcBef>
                <a:spcPts val="0"/>
              </a:spcBef>
              <a:spcAft>
                <a:spcPts val="100"/>
              </a:spcAft>
            </a:pPr>
            <a:r>
              <a:rPr sz="1000" b="0">
                <a:solidFill>
                  <a:srgbClr val="7F8C8D"/>
                </a:solidFill>
                <a:latin typeface="Consolas"/>
              </a:rPr>
              <a:t>20:  </a:t>
            </a:r>
            <a:r>
              <a:rPr sz="1000" b="1">
                <a:solidFill>
                  <a:srgbClr val="000000"/>
                </a:solidFill>
                <a:latin typeface="Times New Roman"/>
              </a:rPr>
              <a:t>end for</a:t>
            </a:r>
          </a:p>
          <a:p>
            <a:pPr>
              <a:spcBef>
                <a:spcPts val="0"/>
              </a:spcBef>
              <a:spcAft>
                <a:spcPts val="100"/>
              </a:spcAft>
            </a:pPr>
            <a:r>
              <a:rPr sz="1000" b="0">
                <a:solidFill>
                  <a:srgbClr val="7F8C8D"/>
                </a:solidFill>
                <a:latin typeface="Consolas"/>
              </a:rPr>
              <a:t>21:  </a:t>
            </a:r>
            <a:r>
              <a:rPr sz="1000" b="1">
                <a:solidFill>
                  <a:srgbClr val="000000"/>
                </a:solidFill>
                <a:latin typeface="Times New Roman"/>
              </a:rPr>
              <a:t>return </a:t>
            </a:r>
            <a:r>
              <a:rPr sz="1000" b="0">
                <a:solidFill>
                  <a:srgbClr val="000000"/>
                </a:solidFill>
                <a:latin typeface="Times New Roman"/>
              </a:rPr>
              <a:t>Merged CSV: D_raw with n flows × F features</a:t>
            </a:r>
          </a:p>
        </p:txBody>
      </p:sp>
      <p:pic>
        <p:nvPicPr>
          <p:cNvPr id="5" name="Picture 4" descr="image.png"/>
          <p:cNvPicPr>
            <a:picLocks noChangeAspect="1"/>
          </p:cNvPicPr>
          <p:nvPr/>
        </p:nvPicPr>
        <p:blipFill>
          <a:blip r:embed="rId2"/>
          <a:stretch>
            <a:fillRect/>
          </a:stretch>
        </p:blipFill>
        <p:spPr>
          <a:xfrm>
            <a:off x="7589520" y="640080"/>
            <a:ext cx="4114800" cy="1297417"/>
          </a:xfrm>
          <a:prstGeom prst="rect">
            <a:avLst/>
          </a:prstGeom>
        </p:spPr>
      </p:pic>
      <p:sp>
        <p:nvSpPr>
          <p:cNvPr id="6" name="TextBox 5"/>
          <p:cNvSpPr txBox="1"/>
          <p:nvPr/>
        </p:nvSpPr>
        <p:spPr>
          <a:xfrm>
            <a:off x="7589520" y="2286000"/>
            <a:ext cx="4114800" cy="3200400"/>
          </a:xfrm>
          <a:prstGeom prst="rect">
            <a:avLst/>
          </a:prstGeom>
          <a:noFill/>
        </p:spPr>
        <p:txBody>
          <a:bodyPr wrap="square">
            <a:spAutoFit/>
          </a:bodyPr>
          <a:lstStyle/>
          <a:p>
            <a:pPr>
              <a:spcAft>
                <a:spcPts val="200"/>
              </a:spcAft>
              <a:defRPr sz="1200" b="1">
                <a:solidFill>
                  <a:srgbClr val="7B4B2A"/>
                </a:solidFill>
                <a:latin typeface="Consolas"/>
              </a:defRPr>
            </a:pPr>
            <a:r>
              <a:t>Flow Extraction Tools per Dataset:</a:t>
            </a:r>
          </a:p>
          <a:p>
            <a:pPr>
              <a:spcAft>
                <a:spcPts val="200"/>
              </a:spcAft>
              <a:defRPr sz="400" b="0">
                <a:solidFill>
                  <a:srgbClr val="000000"/>
                </a:solidFill>
                <a:latin typeface="Consolas"/>
              </a:defRPr>
            </a:pPr>
          </a:p>
          <a:p>
            <a:pPr>
              <a:spcAft>
                <a:spcPts val="200"/>
              </a:spcAft>
              <a:defRPr sz="1100" b="1">
                <a:solidFill>
                  <a:srgbClr val="000000"/>
                </a:solidFill>
                <a:latin typeface="Consolas"/>
              </a:defRPr>
            </a:pPr>
            <a:r>
              <a:t>UNSW-NB15:</a:t>
            </a:r>
          </a:p>
          <a:p>
            <a:pPr>
              <a:spcAft>
                <a:spcPts val="200"/>
              </a:spcAft>
              <a:defRPr sz="1000" b="0">
                <a:solidFill>
                  <a:srgbClr val="7F8C8D"/>
                </a:solidFill>
                <a:latin typeface="Consolas"/>
              </a:defRPr>
            </a:pPr>
            <a:r>
              <a:t>  PCAP → Argus + Bro-IDS → 49-column CSV</a:t>
            </a:r>
          </a:p>
          <a:p>
            <a:pPr>
              <a:spcAft>
                <a:spcPts val="200"/>
              </a:spcAft>
              <a:defRPr sz="1000" b="0">
                <a:solidFill>
                  <a:srgbClr val="7F8C8D"/>
                </a:solidFill>
                <a:latin typeface="Consolas"/>
              </a:defRPr>
            </a:pPr>
            <a:r>
              <a:t>  Captures: IXIA PerfectStorm traffic gen</a:t>
            </a:r>
          </a:p>
          <a:p>
            <a:pPr>
              <a:spcAft>
                <a:spcPts val="200"/>
              </a:spcAft>
              <a:defRPr sz="400" b="0">
                <a:solidFill>
                  <a:srgbClr val="000000"/>
                </a:solidFill>
                <a:latin typeface="Consolas"/>
              </a:defRPr>
            </a:pPr>
          </a:p>
          <a:p>
            <a:pPr>
              <a:spcAft>
                <a:spcPts val="200"/>
              </a:spcAft>
              <a:defRPr sz="1100" b="1">
                <a:solidFill>
                  <a:srgbClr val="000000"/>
                </a:solidFill>
                <a:latin typeface="Consolas"/>
              </a:defRPr>
            </a:pPr>
            <a:r>
              <a:t>CSE-CIC-IDS-2018:</a:t>
            </a:r>
          </a:p>
          <a:p>
            <a:pPr>
              <a:spcAft>
                <a:spcPts val="200"/>
              </a:spcAft>
              <a:defRPr sz="1000" b="0">
                <a:solidFill>
                  <a:srgbClr val="7F8C8D"/>
                </a:solidFill>
                <a:latin typeface="Consolas"/>
              </a:defRPr>
            </a:pPr>
            <a:r>
              <a:t>  PCAP → CICFlowMeter v4 → 80+ column CSV</a:t>
            </a:r>
          </a:p>
          <a:p>
            <a:pPr>
              <a:spcAft>
                <a:spcPts val="200"/>
              </a:spcAft>
              <a:defRPr sz="1000" b="0">
                <a:solidFill>
                  <a:srgbClr val="7F8C8D"/>
                </a:solidFill>
                <a:latin typeface="Consolas"/>
              </a:defRPr>
            </a:pPr>
            <a:r>
              <a:t>  Captures: AWS infrastructure, 10-day run</a:t>
            </a:r>
          </a:p>
          <a:p>
            <a:pPr>
              <a:spcAft>
                <a:spcPts val="200"/>
              </a:spcAft>
              <a:defRPr sz="400" b="0">
                <a:solidFill>
                  <a:srgbClr val="000000"/>
                </a:solidFill>
                <a:latin typeface="Consolas"/>
              </a:defRPr>
            </a:pPr>
          </a:p>
          <a:p>
            <a:pPr>
              <a:spcAft>
                <a:spcPts val="200"/>
              </a:spcAft>
              <a:defRPr sz="1100" b="1">
                <a:solidFill>
                  <a:srgbClr val="000000"/>
                </a:solidFill>
                <a:latin typeface="Consolas"/>
              </a:defRPr>
            </a:pPr>
            <a:r>
              <a:t>CIC-IDS2017:</a:t>
            </a:r>
          </a:p>
          <a:p>
            <a:pPr>
              <a:spcAft>
                <a:spcPts val="200"/>
              </a:spcAft>
              <a:defRPr sz="1000" b="0">
                <a:solidFill>
                  <a:srgbClr val="7F8C8D"/>
                </a:solidFill>
                <a:latin typeface="Consolas"/>
              </a:defRPr>
            </a:pPr>
            <a:r>
              <a:t>  PCAP → CICFlowMeter v3 → 80+ column CSV</a:t>
            </a:r>
          </a:p>
          <a:p>
            <a:pPr>
              <a:spcAft>
                <a:spcPts val="200"/>
              </a:spcAft>
              <a:defRPr sz="1000" b="0">
                <a:solidFill>
                  <a:srgbClr val="7F8C8D"/>
                </a:solidFill>
                <a:latin typeface="Consolas"/>
              </a:defRPr>
            </a:pPr>
            <a:r>
              <a:t>  Captures: CIC lab B-Profile, 5-day run</a:t>
            </a:r>
          </a:p>
        </p:txBody>
      </p:sp>
      <p:sp>
        <p:nvSpPr>
          <p:cNvPr id="7" name="TextBox 6"/>
          <p:cNvSpPr txBox="1"/>
          <p:nvPr/>
        </p:nvSpPr>
        <p:spPr>
          <a:xfrm>
            <a:off x="274320" y="6035040"/>
            <a:ext cx="11430000" cy="731520"/>
          </a:xfrm>
          <a:prstGeom prst="rect">
            <a:avLst/>
          </a:prstGeom>
          <a:noFill/>
        </p:spPr>
        <p:txBody>
          <a:bodyPr wrap="square">
            <a:spAutoFit/>
          </a:bodyPr>
          <a:lstStyle/>
          <a:p>
            <a:pPr>
              <a:spcAft>
                <a:spcPts val="400"/>
              </a:spcAft>
              <a:defRPr sz="1000" b="0">
                <a:solidFill>
                  <a:srgbClr val="000000"/>
                </a:solidFill>
                <a:latin typeface="Calibri"/>
              </a:defRPr>
            </a:pPr>
            <a:r>
              <a:t>•  Raw PCAP files contain binary packet data (Ethernet/IP/TCP headers + payload); packets are grouped into bidirectional flows using 5-tuple keys and timeout-based termination.</a:t>
            </a:r>
          </a:p>
          <a:p>
            <a:pPr>
              <a:spcAft>
                <a:spcPts val="400"/>
              </a:spcAft>
              <a:defRPr sz="1000" b="0">
                <a:solidFill>
                  <a:srgbClr val="000000"/>
                </a:solidFill>
                <a:latin typeface="Calibri"/>
              </a:defRPr>
            </a:pPr>
            <a:r>
              <a:t>•  CICFlowMeter (CIC datasets) and Argus/Bro (UNSW-NB15) compute flow-level statistics: duration, packet/byte rates, inter-arrival time distributions, TCP flag counts, and payload size statistics.</a:t>
            </a:r>
          </a:p>
          <a:p>
            <a:pPr>
              <a:spcAft>
                <a:spcPts val="400"/>
              </a:spcAft>
              <a:defRPr sz="1000" b="0">
                <a:solidFill>
                  <a:srgbClr val="000000"/>
                </a:solidFill>
                <a:latin typeface="Calibri"/>
              </a:defRPr>
            </a:pPr>
            <a:r>
              <a:t>•  Each PCAP file is processed independently, enabling embarrassingly parallel preprocessing across multiple capture files or time windows.</a:t>
            </a:r>
          </a:p>
          <a:p>
            <a:pPr>
              <a:spcAft>
                <a:spcPts val="400"/>
              </a:spcAft>
              <a:defRPr sz="1000" b="0">
                <a:solidFill>
                  <a:srgbClr val="000000"/>
                </a:solidFill>
                <a:latin typeface="Calibri"/>
              </a:defRPr>
            </a:pPr>
            <a:r>
              <a:t>•  Output: one CSV row per flow with 49–80+ raw features, which Stage 1 then maps to the standardized 7-feature schema.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274320" y="137160"/>
            <a:ext cx="11430000" cy="457200"/>
          </a:xfrm>
          <a:prstGeom prst="rect">
            <a:avLst/>
          </a:prstGeom>
          <a:noFill/>
        </p:spPr>
        <p:txBody>
          <a:bodyPr wrap="square">
            <a:spAutoFit/>
          </a:bodyPr>
          <a:lstStyle/>
          <a:p>
            <a:pPr algn="l">
              <a:defRPr sz="2400" b="1">
                <a:solidFill>
                  <a:srgbClr val="003C71"/>
                </a:solidFill>
                <a:latin typeface="Calibri"/>
              </a:defRPr>
            </a:pPr>
            <a:r>
              <a:t>Stage 1: Feature Extraction &amp; StandardScaler Normalization</a:t>
            </a:r>
          </a:p>
        </p:txBody>
      </p:sp>
      <p:sp>
        <p:nvSpPr>
          <p:cNvPr id="3" name="Rectangle 2"/>
          <p:cNvSpPr/>
          <p:nvPr/>
        </p:nvSpPr>
        <p:spPr>
          <a:xfrm>
            <a:off x="274320" y="640080"/>
            <a:ext cx="6858000" cy="4754880"/>
          </a:xfrm>
          <a:prstGeom prst="rect">
            <a:avLst/>
          </a:prstGeom>
          <a:solidFill>
            <a:srgbClr val="F7F9FB"/>
          </a:solidFill>
          <a:ln w="19050">
            <a:solidFill>
              <a:srgbClr val="3449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685800"/>
            <a:ext cx="6583680" cy="4663440"/>
          </a:xfrm>
          <a:prstGeom prst="rect">
            <a:avLst/>
          </a:prstGeom>
          <a:noFill/>
        </p:spPr>
        <p:txBody>
          <a:bodyPr wrap="square">
            <a:spAutoFit/>
          </a:bodyPr>
          <a:lstStyle/>
          <a:p>
            <a:pPr>
              <a:spcAft>
                <a:spcPts val="300"/>
              </a:spcAft>
            </a:pPr>
            <a:r>
              <a:rPr sz="1200" b="1" i="1">
                <a:solidFill>
                  <a:srgbClr val="000000"/>
                </a:solidFill>
                <a:latin typeface="Times New Roman"/>
              </a:rPr>
              <a:t>Algorithm 2: </a:t>
            </a:r>
            <a:r>
              <a:rPr sz="1200" b="1">
                <a:solidFill>
                  <a:srgbClr val="000000"/>
                </a:solidFill>
                <a:latin typeface="Times New Roman"/>
              </a:rPr>
              <a:t>Feature Extraction &amp; Z-Score Normalization</a:t>
            </a:r>
          </a:p>
          <a:p>
            <a:pPr>
              <a:spcBef>
                <a:spcPts val="0"/>
              </a:spcBef>
              <a:spcAft>
                <a:spcPts val="100"/>
              </a:spcAft>
            </a:pPr>
            <a:r>
              <a:rPr sz="1000" b="1">
                <a:solidFill>
                  <a:srgbClr val="000000"/>
                </a:solidFill>
                <a:latin typeface="Times New Roman"/>
              </a:rPr>
              <a:t>Require:</a:t>
            </a:r>
            <a:r>
              <a:rPr sz="1000" b="0">
                <a:solidFill>
                  <a:srgbClr val="000000"/>
                </a:solidFill>
                <a:latin typeface="Times New Roman"/>
              </a:rPr>
              <a:t> Raw CSV D_raw from Stage 0, k ∈ {UNSW, CSE, CIC2017}</a:t>
            </a:r>
          </a:p>
          <a:p>
            <a:pPr>
              <a:spcBef>
                <a:spcPts val="0"/>
              </a:spcBef>
              <a:spcAft>
                <a:spcPts val="100"/>
              </a:spcAft>
            </a:pPr>
            <a:r>
              <a:rPr sz="1000" b="1">
                <a:solidFill>
                  <a:srgbClr val="000000"/>
                </a:solidFill>
                <a:latin typeface="Times New Roman"/>
              </a:rPr>
              <a:t>Ensure:</a:t>
            </a:r>
            <a:r>
              <a:rPr sz="1000" b="0">
                <a:solidFill>
                  <a:srgbClr val="000000"/>
                </a:solidFill>
                <a:latin typeface="Times New Roman"/>
              </a:rPr>
              <a:t> Normalized feature matrix X_norm ∈ R^(n×10), labels y ∈ {0,1}^n</a:t>
            </a:r>
          </a:p>
          <a:p>
            <a:pPr>
              <a:spcBef>
                <a:spcPts val="0"/>
              </a:spcBef>
              <a:spcAft>
                <a:spcPts val="100"/>
              </a:spcAft>
            </a:pPr>
            <a:r>
              <a:rPr sz="1000" b="0">
                <a:solidFill>
                  <a:srgbClr val="7F8C8D"/>
                </a:solidFill>
                <a:latin typeface="Consolas"/>
              </a:rPr>
              <a:t> 1:  </a:t>
            </a:r>
            <a:r>
              <a:rPr sz="1000" b="1">
                <a:solidFill>
                  <a:srgbClr val="000000"/>
                </a:solidFill>
                <a:latin typeface="Times New Roman"/>
              </a:rPr>
              <a:t>for </a:t>
            </a:r>
            <a:r>
              <a:rPr sz="1000" b="0">
                <a:solidFill>
                  <a:srgbClr val="000000"/>
                </a:solidFill>
                <a:latin typeface="Times New Roman"/>
              </a:rPr>
              <a:t>each dataset D_k </a:t>
            </a:r>
            <a:r>
              <a:rPr sz="1000" b="1">
                <a:solidFill>
                  <a:srgbClr val="000000"/>
                </a:solidFill>
                <a:latin typeface="Times New Roman"/>
              </a:rPr>
              <a:t>do</a:t>
            </a:r>
          </a:p>
          <a:p>
            <a:pPr>
              <a:spcBef>
                <a:spcPts val="0"/>
              </a:spcBef>
              <a:spcAft>
                <a:spcPts val="100"/>
              </a:spcAft>
            </a:pPr>
            <a:r>
              <a:rPr sz="1000" b="0">
                <a:solidFill>
                  <a:srgbClr val="7F8C8D"/>
                </a:solidFill>
                <a:latin typeface="Consolas"/>
              </a:rPr>
              <a:t> 2:      </a:t>
            </a:r>
            <a:r>
              <a:rPr sz="1000" b="1">
                <a:solidFill>
                  <a:srgbClr val="000000"/>
                </a:solidFill>
                <a:latin typeface="Times New Roman"/>
              </a:rPr>
              <a:t>for </a:t>
            </a:r>
            <a:r>
              <a:rPr sz="1000" b="0">
                <a:solidFill>
                  <a:srgbClr val="000000"/>
                </a:solidFill>
                <a:latin typeface="Times New Roman"/>
              </a:rPr>
              <a:t>each column c_j ∈ D_k </a:t>
            </a:r>
            <a:r>
              <a:rPr sz="1000" b="1">
                <a:solidFill>
                  <a:srgbClr val="000000"/>
                </a:solidFill>
                <a:latin typeface="Times New Roman"/>
              </a:rPr>
              <a:t>do</a:t>
            </a:r>
          </a:p>
          <a:p>
            <a:pPr>
              <a:spcBef>
                <a:spcPts val="0"/>
              </a:spcBef>
              <a:spcAft>
                <a:spcPts val="100"/>
              </a:spcAft>
            </a:pPr>
            <a:r>
              <a:rPr sz="1000" b="0">
                <a:solidFill>
                  <a:srgbClr val="7F8C8D"/>
                </a:solidFill>
                <a:latin typeface="Consolas"/>
              </a:rPr>
              <a:t> 3:          </a:t>
            </a:r>
            <a:r>
              <a:rPr sz="1000" b="1">
                <a:solidFill>
                  <a:srgbClr val="000000"/>
                </a:solidFill>
                <a:latin typeface="Times New Roman"/>
              </a:rPr>
              <a:t>if </a:t>
            </a:r>
            <a:r>
              <a:rPr sz="1000" b="0">
                <a:solidFill>
                  <a:srgbClr val="000000"/>
                </a:solidFill>
                <a:latin typeface="Times New Roman"/>
              </a:rPr>
              <a:t>c_j is continuous </a:t>
            </a:r>
            <a:r>
              <a:rPr sz="1000" b="1">
                <a:solidFill>
                  <a:srgbClr val="000000"/>
                </a:solidFill>
                <a:latin typeface="Times New Roman"/>
              </a:rPr>
              <a:t>then</a:t>
            </a:r>
          </a:p>
          <a:p>
            <a:pPr>
              <a:spcBef>
                <a:spcPts val="0"/>
              </a:spcBef>
              <a:spcAft>
                <a:spcPts val="100"/>
              </a:spcAft>
            </a:pPr>
            <a:r>
              <a:rPr sz="1000" b="0">
                <a:solidFill>
                  <a:srgbClr val="7F8C8D"/>
                </a:solidFill>
                <a:latin typeface="Consolas"/>
              </a:rPr>
              <a:t> 4:              </a:t>
            </a:r>
            <a:r>
              <a:rPr sz="1000" b="0">
                <a:solidFill>
                  <a:srgbClr val="000000"/>
                </a:solidFill>
                <a:latin typeface="Times New Roman"/>
              </a:rPr>
              <a:t>x_j ← map(c_j) using dataset-specific extraction rules</a:t>
            </a:r>
          </a:p>
          <a:p>
            <a:pPr>
              <a:spcBef>
                <a:spcPts val="0"/>
              </a:spcBef>
              <a:spcAft>
                <a:spcPts val="100"/>
              </a:spcAft>
            </a:pPr>
            <a:r>
              <a:rPr sz="1000" b="0">
                <a:solidFill>
                  <a:srgbClr val="7F8C8D"/>
                </a:solidFill>
                <a:latin typeface="Consolas"/>
              </a:rPr>
              <a:t> 5:          </a:t>
            </a:r>
            <a:r>
              <a:rPr sz="1000" b="1">
                <a:solidFill>
                  <a:srgbClr val="000000"/>
                </a:solidFill>
                <a:latin typeface="Times New Roman"/>
              </a:rPr>
              <a:t>else</a:t>
            </a:r>
          </a:p>
          <a:p>
            <a:pPr>
              <a:spcBef>
                <a:spcPts val="0"/>
              </a:spcBef>
              <a:spcAft>
                <a:spcPts val="100"/>
              </a:spcAft>
            </a:pPr>
            <a:r>
              <a:rPr sz="1000" b="0">
                <a:solidFill>
                  <a:srgbClr val="7F8C8D"/>
                </a:solidFill>
                <a:latin typeface="Consolas"/>
              </a:rPr>
              <a:t> 6:              </a:t>
            </a:r>
            <a:r>
              <a:rPr sz="1000" b="0">
                <a:solidFill>
                  <a:srgbClr val="000000"/>
                </a:solidFill>
                <a:latin typeface="Times New Roman"/>
              </a:rPr>
              <a:t>x_j ← categorize(c_j) into integer bins</a:t>
            </a:r>
          </a:p>
          <a:p>
            <a:pPr>
              <a:spcBef>
                <a:spcPts val="0"/>
              </a:spcBef>
              <a:spcAft>
                <a:spcPts val="100"/>
              </a:spcAft>
            </a:pPr>
            <a:r>
              <a:rPr sz="1000" b="0">
                <a:solidFill>
                  <a:srgbClr val="7F8C8D"/>
                </a:solidFill>
                <a:latin typeface="Consolas"/>
              </a:rPr>
              <a:t> 7:          </a:t>
            </a:r>
            <a:r>
              <a:rPr sz="1000" b="1">
                <a:solidFill>
                  <a:srgbClr val="000000"/>
                </a:solidFill>
                <a:latin typeface="Times New Roman"/>
              </a:rPr>
              <a:t>end if</a:t>
            </a:r>
          </a:p>
          <a:p>
            <a:pPr>
              <a:spcBef>
                <a:spcPts val="0"/>
              </a:spcBef>
              <a:spcAft>
                <a:spcPts val="100"/>
              </a:spcAft>
            </a:pPr>
            <a:r>
              <a:rPr sz="1000" b="0">
                <a:solidFill>
                  <a:srgbClr val="7F8C8D"/>
                </a:solidFill>
                <a:latin typeface="Consolas"/>
              </a:rPr>
              <a:t> 8:      </a:t>
            </a:r>
            <a:r>
              <a:rPr sz="1000" b="1">
                <a:solidFill>
                  <a:srgbClr val="000000"/>
                </a:solidFill>
                <a:latin typeface="Times New Roman"/>
              </a:rPr>
              <a:t>end for</a:t>
            </a:r>
          </a:p>
          <a:p>
            <a:pPr>
              <a:spcBef>
                <a:spcPts val="0"/>
              </a:spcBef>
              <a:spcAft>
                <a:spcPts val="100"/>
              </a:spcAft>
            </a:pPr>
            <a:r>
              <a:rPr sz="1000" b="0">
                <a:solidFill>
                  <a:srgbClr val="7F8C8D"/>
                </a:solidFill>
                <a:latin typeface="Consolas"/>
              </a:rPr>
              <a:t> 9:      </a:t>
            </a:r>
            <a:r>
              <a:rPr sz="1000" b="0">
                <a:solidFill>
                  <a:srgbClr val="000000"/>
                </a:solidFill>
                <a:latin typeface="Times New Roman"/>
              </a:rPr>
              <a:t>X ← [x_1, ..., x_10]  (n × 10 feature matrix)</a:t>
            </a:r>
          </a:p>
          <a:p>
            <a:pPr>
              <a:spcBef>
                <a:spcPts val="0"/>
              </a:spcBef>
              <a:spcAft>
                <a:spcPts val="100"/>
              </a:spcAft>
            </a:pPr>
            <a:r>
              <a:rPr sz="1000" b="0">
                <a:solidFill>
                  <a:srgbClr val="7F8C8D"/>
                </a:solidFill>
                <a:latin typeface="Consolas"/>
              </a:rPr>
              <a:t>10:      </a:t>
            </a:r>
            <a:r>
              <a:rPr sz="1000" b="0">
                <a:solidFill>
                  <a:srgbClr val="000000"/>
                </a:solidFill>
                <a:latin typeface="Times New Roman"/>
              </a:rPr>
              <a:t>// Continuous: flow_duration, pkt_rate, byte_rate, traffic_pat_var</a:t>
            </a:r>
          </a:p>
          <a:p>
            <a:pPr>
              <a:spcBef>
                <a:spcPts val="0"/>
              </a:spcBef>
              <a:spcAft>
                <a:spcPts val="100"/>
              </a:spcAft>
            </a:pPr>
            <a:r>
              <a:rPr sz="1000" b="0">
                <a:solidFill>
                  <a:srgbClr val="7F8C8D"/>
                </a:solidFill>
                <a:latin typeface="Consolas"/>
              </a:rPr>
              <a:t>11:      </a:t>
            </a:r>
            <a:r>
              <a:rPr sz="1000" b="0">
                <a:solidFill>
                  <a:srgbClr val="000000"/>
                </a:solidFill>
                <a:latin typeface="Times New Roman"/>
              </a:rPr>
              <a:t>// Categorical: port_cat, size_cat, protocol</a:t>
            </a:r>
          </a:p>
          <a:p>
            <a:pPr>
              <a:spcBef>
                <a:spcPts val="0"/>
              </a:spcBef>
              <a:spcAft>
                <a:spcPts val="100"/>
              </a:spcAft>
            </a:pPr>
            <a:r>
              <a:rPr sz="1000" b="0">
                <a:solidFill>
                  <a:srgbClr val="7F8C8D"/>
                </a:solidFill>
                <a:latin typeface="Consolas"/>
              </a:rPr>
              <a:t>12:      </a:t>
            </a:r>
            <a:r>
              <a:rPr sz="1000" b="0">
                <a:solidFill>
                  <a:srgbClr val="000000"/>
                </a:solidFill>
                <a:latin typeface="Times New Roman"/>
              </a:rPr>
              <a:t>// Quantile-normalized: src_ttl, src_load, mean_pkt_size</a:t>
            </a:r>
          </a:p>
          <a:p>
            <a:pPr>
              <a:spcBef>
                <a:spcPts val="0"/>
              </a:spcBef>
              <a:spcAft>
                <a:spcPts val="100"/>
              </a:spcAft>
            </a:pPr>
            <a:r>
              <a:rPr sz="1000" b="0">
                <a:solidFill>
                  <a:srgbClr val="7F8C8D"/>
                </a:solidFill>
                <a:latin typeface="Consolas"/>
              </a:rPr>
              <a:t>13:      </a:t>
            </a:r>
            <a:r>
              <a:rPr sz="1000" b="0">
                <a:solidFill>
                  <a:srgbClr val="000000"/>
                </a:solidFill>
                <a:latin typeface="Times New Roman"/>
              </a:rPr>
              <a:t>μ_j ← (1/n) ∑ x_j^(i),  σ_j ← std(x_j)  </a:t>
            </a:r>
            <a:r>
              <a:rPr sz="1000" b="1">
                <a:solidFill>
                  <a:srgbClr val="000000"/>
                </a:solidFill>
                <a:latin typeface="Times New Roman"/>
              </a:rPr>
              <a:t>for </a:t>
            </a:r>
            <a:r>
              <a:rPr sz="1000" b="0">
                <a:solidFill>
                  <a:srgbClr val="000000"/>
                </a:solidFill>
                <a:latin typeface="Times New Roman"/>
              </a:rPr>
              <a:t>j = 1..4  (continuous)</a:t>
            </a:r>
          </a:p>
          <a:p>
            <a:pPr>
              <a:spcBef>
                <a:spcPts val="0"/>
              </a:spcBef>
              <a:spcAft>
                <a:spcPts val="100"/>
              </a:spcAft>
            </a:pPr>
            <a:r>
              <a:rPr sz="1000" b="0">
                <a:solidFill>
                  <a:srgbClr val="7F8C8D"/>
                </a:solidFill>
                <a:latin typeface="Consolas"/>
              </a:rPr>
              <a:t>14:      </a:t>
            </a:r>
            <a:r>
              <a:rPr sz="1000" b="0">
                <a:solidFill>
                  <a:srgbClr val="000000"/>
                </a:solidFill>
                <a:latin typeface="Times New Roman"/>
              </a:rPr>
              <a:t>z_j^(i) ← (x_j^(i) - μ_j) / σ_j  </a:t>
            </a:r>
            <a:r>
              <a:rPr sz="1000" b="1">
                <a:solidFill>
                  <a:srgbClr val="000000"/>
                </a:solidFill>
                <a:latin typeface="Times New Roman"/>
              </a:rPr>
              <a:t>for </a:t>
            </a:r>
            <a:r>
              <a:rPr sz="1000" b="0">
                <a:solidFill>
                  <a:srgbClr val="000000"/>
                </a:solidFill>
                <a:latin typeface="Times New Roman"/>
              </a:rPr>
              <a:t>continuous features</a:t>
            </a:r>
          </a:p>
          <a:p>
            <a:pPr>
              <a:spcBef>
                <a:spcPts val="0"/>
              </a:spcBef>
              <a:spcAft>
                <a:spcPts val="100"/>
              </a:spcAft>
            </a:pPr>
            <a:r>
              <a:rPr sz="1000" b="0">
                <a:solidFill>
                  <a:srgbClr val="7F8C8D"/>
                </a:solidFill>
                <a:latin typeface="Consolas"/>
              </a:rPr>
              <a:t>15:      </a:t>
            </a:r>
            <a:r>
              <a:rPr sz="1000" b="0">
                <a:solidFill>
                  <a:srgbClr val="000000"/>
                </a:solidFill>
                <a:latin typeface="Times New Roman"/>
              </a:rPr>
              <a:t>X_norm ← [z_1, z_2, z_3, z_4, x_5, x_6, x_7, x_8, x_9, x_10]</a:t>
            </a:r>
          </a:p>
          <a:p>
            <a:pPr>
              <a:spcBef>
                <a:spcPts val="0"/>
              </a:spcBef>
              <a:spcAft>
                <a:spcPts val="100"/>
              </a:spcAft>
            </a:pPr>
            <a:r>
              <a:rPr sz="1000" b="0">
                <a:solidFill>
                  <a:srgbClr val="7F8C8D"/>
                </a:solidFill>
                <a:latin typeface="Consolas"/>
              </a:rPr>
              <a:t>16:  </a:t>
            </a:r>
            <a:r>
              <a:rPr sz="1000" b="1">
                <a:solidFill>
                  <a:srgbClr val="000000"/>
                </a:solidFill>
                <a:latin typeface="Times New Roman"/>
              </a:rPr>
              <a:t>end for</a:t>
            </a:r>
          </a:p>
          <a:p>
            <a:pPr>
              <a:spcBef>
                <a:spcPts val="0"/>
              </a:spcBef>
              <a:spcAft>
                <a:spcPts val="100"/>
              </a:spcAft>
            </a:pPr>
            <a:r>
              <a:rPr sz="1000" b="0">
                <a:solidFill>
                  <a:srgbClr val="7F8C8D"/>
                </a:solidFill>
                <a:latin typeface="Consolas"/>
              </a:rPr>
              <a:t>17:  </a:t>
            </a:r>
            <a:r>
              <a:rPr sz="1000" b="1">
                <a:solidFill>
                  <a:srgbClr val="000000"/>
                </a:solidFill>
                <a:latin typeface="Times New Roman"/>
              </a:rPr>
              <a:t>return </a:t>
            </a:r>
            <a:r>
              <a:rPr sz="1000" b="0">
                <a:solidFill>
                  <a:srgbClr val="000000"/>
                </a:solidFill>
                <a:latin typeface="Times New Roman"/>
              </a:rPr>
              <a:t>X_norm, y</a:t>
            </a:r>
          </a:p>
        </p:txBody>
      </p:sp>
      <p:pic>
        <p:nvPicPr>
          <p:cNvPr id="5" name="Picture 4" descr="image.png"/>
          <p:cNvPicPr>
            <a:picLocks noChangeAspect="1"/>
          </p:cNvPicPr>
          <p:nvPr/>
        </p:nvPicPr>
        <p:blipFill>
          <a:blip r:embed="rId2"/>
          <a:stretch>
            <a:fillRect/>
          </a:stretch>
        </p:blipFill>
        <p:spPr>
          <a:xfrm>
            <a:off x="7498079" y="640080"/>
            <a:ext cx="4389120" cy="1569912"/>
          </a:xfrm>
          <a:prstGeom prst="rect">
            <a:avLst/>
          </a:prstGeom>
        </p:spPr>
      </p:pic>
      <p:sp>
        <p:nvSpPr>
          <p:cNvPr id="6" name="TextBox 5"/>
          <p:cNvSpPr txBox="1"/>
          <p:nvPr/>
        </p:nvSpPr>
        <p:spPr>
          <a:xfrm>
            <a:off x="7498079" y="2743200"/>
            <a:ext cx="4389120" cy="2743200"/>
          </a:xfrm>
          <a:prstGeom prst="rect">
            <a:avLst/>
          </a:prstGeom>
          <a:noFill/>
        </p:spPr>
        <p:txBody>
          <a:bodyPr wrap="square">
            <a:spAutoFit/>
          </a:bodyPr>
          <a:lstStyle/>
          <a:p>
            <a:pPr>
              <a:spcAft>
                <a:spcPts val="400"/>
              </a:spcAft>
              <a:defRPr sz="1000" b="0">
                <a:solidFill>
                  <a:srgbClr val="000000"/>
                </a:solidFill>
                <a:latin typeface="Calibri"/>
              </a:defRPr>
            </a:pPr>
            <a:r>
              <a:t>•  Maps 49–80+ raw CSV columns into a unified 10-feature schema: 4 continuous (flow_duration, pkt_rate, byte_rate, traffic_pat_var*), 3 categorical (port_cat, size_cat, protocol), and 3 quantile-normalized (src_ttl, src_load, mean_pkt_size).</a:t>
            </a:r>
          </a:p>
          <a:p>
            <a:pPr>
              <a:spcAft>
                <a:spcPts val="400"/>
              </a:spcAft>
              <a:defRPr sz="1000" b="0">
                <a:solidFill>
                  <a:srgbClr val="000000"/>
                </a:solidFill>
                <a:latin typeface="Calibri"/>
              </a:defRPr>
            </a:pPr>
            <a:r>
              <a:t>•  Z-score normalization (StandardScaler) applied to the 4 continuous features. The 3 new features are pre-normalized to [0,1] via quantile transform.</a:t>
            </a:r>
          </a:p>
          <a:p>
            <a:pPr>
              <a:spcAft>
                <a:spcPts val="400"/>
              </a:spcAft>
              <a:defRPr sz="1000" b="0">
                <a:solidFill>
                  <a:srgbClr val="000000"/>
                </a:solidFill>
                <a:latin typeface="Calibri"/>
              </a:defRPr>
            </a:pPr>
            <a:r>
              <a:t>•  Categorical features (port_cat, size_cat, protocol) are binned into integer categories and passed through unchanged.</a:t>
            </a:r>
          </a:p>
          <a:p>
            <a:pPr>
              <a:spcAft>
                <a:spcPts val="400"/>
              </a:spcAft>
              <a:defRPr sz="1000" b="0">
                <a:solidFill>
                  <a:srgbClr val="000000"/>
                </a:solidFill>
                <a:latin typeface="Calibri"/>
              </a:defRPr>
            </a:pPr>
            <a:r>
              <a:t>•  The 3 new features (src_ttl, src_load, mean_pkt_size) capture network-level properties: TTL fingerprinting, source load, and packet size distribution—improving UNSW F1 by +5%.</a:t>
            </a:r>
          </a:p>
          <a:p>
            <a:pPr>
              <a:spcAft>
                <a:spcPts val="400"/>
              </a:spcAft>
              <a:defRPr sz="1000" b="0">
                <a:solidFill>
                  <a:srgbClr val="000000"/>
                </a:solidFill>
                <a:latin typeface="Calibri"/>
              </a:defRPr>
            </a:pPr>
            <a:r>
              <a:t>•  Scaler is fit on training data only and applied to test data to prevent data leakage.</a:t>
            </a:r>
          </a:p>
        </p:txBody>
      </p:sp>
      <p:sp>
        <p:nvSpPr>
          <p:cNvPr id="7" name="TextBox 6"/>
          <p:cNvSpPr txBox="1"/>
          <p:nvPr/>
        </p:nvSpPr>
        <p:spPr>
          <a:xfrm>
            <a:off x="274320" y="5669280"/>
            <a:ext cx="11430000" cy="365760"/>
          </a:xfrm>
          <a:prstGeom prst="rect">
            <a:avLst/>
          </a:prstGeom>
          <a:noFill/>
        </p:spPr>
        <p:txBody>
          <a:bodyPr wrap="square">
            <a:spAutoFit/>
          </a:bodyPr>
          <a:lstStyle/>
          <a:p>
            <a:pPr algn="ctr">
              <a:defRPr sz="1300" b="1">
                <a:solidFill>
                  <a:srgbClr val="2980B9"/>
                </a:solidFill>
                <a:latin typeface="Calibri"/>
              </a:defRPr>
            </a:pPr>
            <a:r>
              <a:t>Output:  X_norm ∈ R^(n×10)  [4 z-scored + 3 categorical + 3 quantile-normed], y ∈ {0,1}^n  → Stage 2 (DT)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274320" y="137160"/>
            <a:ext cx="11430000" cy="457200"/>
          </a:xfrm>
          <a:prstGeom prst="rect">
            <a:avLst/>
          </a:prstGeom>
          <a:noFill/>
        </p:spPr>
        <p:txBody>
          <a:bodyPr wrap="square">
            <a:spAutoFit/>
          </a:bodyPr>
          <a:lstStyle/>
          <a:p>
            <a:pPr algn="l">
              <a:defRPr sz="2400" b="1">
                <a:solidFill>
                  <a:srgbClr val="8E44AD"/>
                </a:solidFill>
                <a:latin typeface="Calibri"/>
              </a:defRPr>
            </a:pPr>
            <a:r>
              <a:t>Stage 2: Decision Tree Symbolic Model (CART)</a:t>
            </a:r>
          </a:p>
        </p:txBody>
      </p:sp>
      <p:sp>
        <p:nvSpPr>
          <p:cNvPr id="3" name="Rectangle 2"/>
          <p:cNvSpPr/>
          <p:nvPr/>
        </p:nvSpPr>
        <p:spPr>
          <a:xfrm>
            <a:off x="274320" y="640080"/>
            <a:ext cx="6858000" cy="4663440"/>
          </a:xfrm>
          <a:prstGeom prst="rect">
            <a:avLst/>
          </a:prstGeom>
          <a:solidFill>
            <a:srgbClr val="F7F9FB"/>
          </a:solidFill>
          <a:ln w="19050">
            <a:solidFill>
              <a:srgbClr val="3449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685800"/>
            <a:ext cx="6583680" cy="4572000"/>
          </a:xfrm>
          <a:prstGeom prst="rect">
            <a:avLst/>
          </a:prstGeom>
          <a:noFill/>
        </p:spPr>
        <p:txBody>
          <a:bodyPr wrap="square">
            <a:spAutoFit/>
          </a:bodyPr>
          <a:lstStyle/>
          <a:p>
            <a:pPr>
              <a:spcAft>
                <a:spcPts val="300"/>
              </a:spcAft>
            </a:pPr>
            <a:r>
              <a:rPr sz="1200" b="1" i="1">
                <a:solidFill>
                  <a:srgbClr val="000000"/>
                </a:solidFill>
                <a:latin typeface="Times New Roman"/>
              </a:rPr>
              <a:t>Algorithm 3: </a:t>
            </a:r>
            <a:r>
              <a:rPr sz="1200" b="1">
                <a:solidFill>
                  <a:srgbClr val="000000"/>
                </a:solidFill>
                <a:latin typeface="Times New Roman"/>
              </a:rPr>
              <a:t>CART Decision Tree Training</a:t>
            </a:r>
          </a:p>
          <a:p>
            <a:pPr>
              <a:spcBef>
                <a:spcPts val="0"/>
              </a:spcBef>
              <a:spcAft>
                <a:spcPts val="100"/>
              </a:spcAft>
            </a:pPr>
            <a:r>
              <a:rPr sz="1000" b="1">
                <a:solidFill>
                  <a:srgbClr val="000000"/>
                </a:solidFill>
                <a:latin typeface="Times New Roman"/>
              </a:rPr>
              <a:t>Require:</a:t>
            </a:r>
            <a:r>
              <a:rPr sz="1000" b="0">
                <a:solidFill>
                  <a:srgbClr val="000000"/>
                </a:solidFill>
                <a:latin typeface="Times New Roman"/>
              </a:rPr>
              <a:t> X_norm ∈ R^(n×10), y ∈ {0,1}^n, max_depth=7, min_leaf=20, class_weight=balanced</a:t>
            </a:r>
          </a:p>
          <a:p>
            <a:pPr>
              <a:spcBef>
                <a:spcPts val="0"/>
              </a:spcBef>
              <a:spcAft>
                <a:spcPts val="100"/>
              </a:spcAft>
            </a:pPr>
            <a:r>
              <a:rPr sz="1000" b="1">
                <a:solidFill>
                  <a:srgbClr val="000000"/>
                </a:solidFill>
                <a:latin typeface="Times New Roman"/>
              </a:rPr>
              <a:t>Ensure:</a:t>
            </a:r>
            <a:r>
              <a:rPr sz="1000" b="0">
                <a:solidFill>
                  <a:srgbClr val="000000"/>
                </a:solidFill>
                <a:latin typeface="Times New Roman"/>
              </a:rPr>
              <a:t> Trained tree T with L leaf nodes, leaf predictions</a:t>
            </a:r>
          </a:p>
          <a:p>
            <a:pPr>
              <a:spcBef>
                <a:spcPts val="0"/>
              </a:spcBef>
              <a:spcAft>
                <a:spcPts val="100"/>
              </a:spcAft>
            </a:pPr>
            <a:r>
              <a:rPr sz="1000" b="0">
                <a:solidFill>
                  <a:srgbClr val="7F8C8D"/>
                </a:solidFill>
                <a:latin typeface="Consolas"/>
              </a:rPr>
              <a:t> 1:  </a:t>
            </a:r>
            <a:r>
              <a:rPr sz="1000" b="0">
                <a:solidFill>
                  <a:srgbClr val="000000"/>
                </a:solidFill>
                <a:latin typeface="Times New Roman"/>
              </a:rPr>
              <a:t>T ← initialize empty CART tree</a:t>
            </a:r>
          </a:p>
          <a:p>
            <a:pPr>
              <a:spcBef>
                <a:spcPts val="0"/>
              </a:spcBef>
              <a:spcAft>
                <a:spcPts val="100"/>
              </a:spcAft>
            </a:pPr>
            <a:r>
              <a:rPr sz="1000" b="0">
                <a:solidFill>
                  <a:srgbClr val="7F8C8D"/>
                </a:solidFill>
                <a:latin typeface="Consolas"/>
              </a:rPr>
              <a:t> 2:  </a:t>
            </a:r>
            <a:r>
              <a:rPr sz="1000" b="1">
                <a:solidFill>
                  <a:srgbClr val="000000"/>
                </a:solidFill>
                <a:latin typeface="Times New Roman"/>
              </a:rPr>
              <a:t>for </a:t>
            </a:r>
            <a:r>
              <a:rPr sz="1000" b="0">
                <a:solidFill>
                  <a:srgbClr val="000000"/>
                </a:solidFill>
                <a:latin typeface="Times New Roman"/>
              </a:rPr>
              <a:t>each node v in T (breadth-first) </a:t>
            </a:r>
            <a:r>
              <a:rPr sz="1000" b="1">
                <a:solidFill>
                  <a:srgbClr val="000000"/>
                </a:solidFill>
                <a:latin typeface="Times New Roman"/>
              </a:rPr>
              <a:t>do</a:t>
            </a:r>
          </a:p>
          <a:p>
            <a:pPr>
              <a:spcBef>
                <a:spcPts val="0"/>
              </a:spcBef>
              <a:spcAft>
                <a:spcPts val="100"/>
              </a:spcAft>
            </a:pPr>
            <a:r>
              <a:rPr sz="1000" b="0">
                <a:solidFill>
                  <a:srgbClr val="7F8C8D"/>
                </a:solidFill>
                <a:latin typeface="Consolas"/>
              </a:rPr>
              <a:t> 3:      </a:t>
            </a:r>
            <a:r>
              <a:rPr sz="1000" b="1">
                <a:solidFill>
                  <a:srgbClr val="000000"/>
                </a:solidFill>
                <a:latin typeface="Times New Roman"/>
              </a:rPr>
              <a:t>if </a:t>
            </a:r>
            <a:r>
              <a:rPr sz="1000" b="0">
                <a:solidFill>
                  <a:srgbClr val="000000"/>
                </a:solidFill>
                <a:latin typeface="Times New Roman"/>
              </a:rPr>
              <a:t>depth(v) &lt; max_depth and |samples(v)| ≥ 2 × min_leaf </a:t>
            </a:r>
            <a:r>
              <a:rPr sz="1000" b="1">
                <a:solidFill>
                  <a:srgbClr val="000000"/>
                </a:solidFill>
                <a:latin typeface="Times New Roman"/>
              </a:rPr>
              <a:t>then</a:t>
            </a:r>
          </a:p>
          <a:p>
            <a:pPr>
              <a:spcBef>
                <a:spcPts val="0"/>
              </a:spcBef>
              <a:spcAft>
                <a:spcPts val="100"/>
              </a:spcAft>
            </a:pPr>
            <a:r>
              <a:rPr sz="1000" b="0">
                <a:solidFill>
                  <a:srgbClr val="7F8C8D"/>
                </a:solidFill>
                <a:latin typeface="Consolas"/>
              </a:rPr>
              <a:t> 4:          </a:t>
            </a:r>
            <a:r>
              <a:rPr sz="1000" b="1">
                <a:solidFill>
                  <a:srgbClr val="000000"/>
                </a:solidFill>
                <a:latin typeface="Times New Roman"/>
              </a:rPr>
              <a:t>for </a:t>
            </a:r>
            <a:r>
              <a:rPr sz="1000" b="0">
                <a:solidFill>
                  <a:srgbClr val="000000"/>
                </a:solidFill>
                <a:latin typeface="Times New Roman"/>
              </a:rPr>
              <a:t>each feature j ∈ {1,...,10} </a:t>
            </a:r>
            <a:r>
              <a:rPr sz="1000" b="1">
                <a:solidFill>
                  <a:srgbClr val="000000"/>
                </a:solidFill>
                <a:latin typeface="Times New Roman"/>
              </a:rPr>
              <a:t>do</a:t>
            </a:r>
          </a:p>
          <a:p>
            <a:pPr>
              <a:spcBef>
                <a:spcPts val="0"/>
              </a:spcBef>
              <a:spcAft>
                <a:spcPts val="100"/>
              </a:spcAft>
            </a:pPr>
            <a:r>
              <a:rPr sz="1000" b="0">
                <a:solidFill>
                  <a:srgbClr val="7F8C8D"/>
                </a:solidFill>
                <a:latin typeface="Consolas"/>
              </a:rPr>
              <a:t> 5:              </a:t>
            </a:r>
            <a:r>
              <a:rPr sz="1000" b="1">
                <a:solidFill>
                  <a:srgbClr val="000000"/>
                </a:solidFill>
                <a:latin typeface="Times New Roman"/>
              </a:rPr>
              <a:t>for </a:t>
            </a:r>
            <a:r>
              <a:rPr sz="1000" b="0">
                <a:solidFill>
                  <a:srgbClr val="000000"/>
                </a:solidFill>
                <a:latin typeface="Times New Roman"/>
              </a:rPr>
              <a:t>each threshold θ in unique_splits(X_j) </a:t>
            </a:r>
            <a:r>
              <a:rPr sz="1000" b="1">
                <a:solidFill>
                  <a:srgbClr val="000000"/>
                </a:solidFill>
                <a:latin typeface="Times New Roman"/>
              </a:rPr>
              <a:t>do</a:t>
            </a:r>
          </a:p>
          <a:p>
            <a:pPr>
              <a:spcBef>
                <a:spcPts val="0"/>
              </a:spcBef>
              <a:spcAft>
                <a:spcPts val="100"/>
              </a:spcAft>
            </a:pPr>
            <a:r>
              <a:rPr sz="1000" b="0">
                <a:solidFill>
                  <a:srgbClr val="7F8C8D"/>
                </a:solidFill>
                <a:latin typeface="Consolas"/>
              </a:rPr>
              <a:t> 6:                  </a:t>
            </a:r>
            <a:r>
              <a:rPr sz="1000" b="0">
                <a:solidFill>
                  <a:srgbClr val="000000"/>
                </a:solidFill>
                <a:latin typeface="Times New Roman"/>
              </a:rPr>
              <a:t>Compute Gini_split = (|S_L|/|S|)·Gini(S_L) + (|S_R|/|S|)·Gini(S_R)</a:t>
            </a:r>
          </a:p>
          <a:p>
            <a:pPr>
              <a:spcBef>
                <a:spcPts val="0"/>
              </a:spcBef>
              <a:spcAft>
                <a:spcPts val="100"/>
              </a:spcAft>
            </a:pPr>
            <a:r>
              <a:rPr sz="1000" b="0">
                <a:solidFill>
                  <a:srgbClr val="7F8C8D"/>
                </a:solidFill>
                <a:latin typeface="Consolas"/>
              </a:rPr>
              <a:t> 7:              </a:t>
            </a:r>
            <a:r>
              <a:rPr sz="1000" b="1">
                <a:solidFill>
                  <a:srgbClr val="000000"/>
                </a:solidFill>
                <a:latin typeface="Times New Roman"/>
              </a:rPr>
              <a:t>end for</a:t>
            </a:r>
          </a:p>
          <a:p>
            <a:pPr>
              <a:spcBef>
                <a:spcPts val="0"/>
              </a:spcBef>
              <a:spcAft>
                <a:spcPts val="100"/>
              </a:spcAft>
            </a:pPr>
            <a:r>
              <a:rPr sz="1000" b="0">
                <a:solidFill>
                  <a:srgbClr val="7F8C8D"/>
                </a:solidFill>
                <a:latin typeface="Consolas"/>
              </a:rPr>
              <a:t> 8:          </a:t>
            </a:r>
            <a:r>
              <a:rPr sz="1000" b="1">
                <a:solidFill>
                  <a:srgbClr val="000000"/>
                </a:solidFill>
                <a:latin typeface="Times New Roman"/>
              </a:rPr>
              <a:t>end for</a:t>
            </a:r>
          </a:p>
          <a:p>
            <a:pPr>
              <a:spcBef>
                <a:spcPts val="0"/>
              </a:spcBef>
              <a:spcAft>
                <a:spcPts val="100"/>
              </a:spcAft>
            </a:pPr>
            <a:r>
              <a:rPr sz="1000" b="0">
                <a:solidFill>
                  <a:srgbClr val="7F8C8D"/>
                </a:solidFill>
                <a:latin typeface="Consolas"/>
              </a:rPr>
              <a:t> 9:          </a:t>
            </a:r>
            <a:r>
              <a:rPr sz="1000" b="0">
                <a:solidFill>
                  <a:srgbClr val="000000"/>
                </a:solidFill>
                <a:latin typeface="Times New Roman"/>
              </a:rPr>
              <a:t>(j*, θ*) ← argmin Gini_split</a:t>
            </a:r>
          </a:p>
          <a:p>
            <a:pPr>
              <a:spcBef>
                <a:spcPts val="0"/>
              </a:spcBef>
              <a:spcAft>
                <a:spcPts val="100"/>
              </a:spcAft>
            </a:pPr>
            <a:r>
              <a:rPr sz="1000" b="0">
                <a:solidFill>
                  <a:srgbClr val="7F8C8D"/>
                </a:solidFill>
                <a:latin typeface="Consolas"/>
              </a:rPr>
              <a:t>10:          </a:t>
            </a:r>
            <a:r>
              <a:rPr sz="1000" b="0">
                <a:solidFill>
                  <a:srgbClr val="000000"/>
                </a:solidFill>
                <a:latin typeface="Times New Roman"/>
              </a:rPr>
              <a:t>Split v into left child (x_{j*} ≤ θ*) and right child (x_{j*} &gt; θ*)</a:t>
            </a:r>
          </a:p>
          <a:p>
            <a:pPr>
              <a:spcBef>
                <a:spcPts val="0"/>
              </a:spcBef>
              <a:spcAft>
                <a:spcPts val="100"/>
              </a:spcAft>
            </a:pPr>
            <a:r>
              <a:rPr sz="1000" b="0">
                <a:solidFill>
                  <a:srgbClr val="7F8C8D"/>
                </a:solidFill>
                <a:latin typeface="Consolas"/>
              </a:rPr>
              <a:t>11:      </a:t>
            </a:r>
            <a:r>
              <a:rPr sz="1000" b="1">
                <a:solidFill>
                  <a:srgbClr val="000000"/>
                </a:solidFill>
                <a:latin typeface="Times New Roman"/>
              </a:rPr>
              <a:t>else</a:t>
            </a:r>
          </a:p>
          <a:p>
            <a:pPr>
              <a:spcBef>
                <a:spcPts val="0"/>
              </a:spcBef>
              <a:spcAft>
                <a:spcPts val="100"/>
              </a:spcAft>
            </a:pPr>
            <a:r>
              <a:rPr sz="1000" b="0">
                <a:solidFill>
                  <a:srgbClr val="7F8C8D"/>
                </a:solidFill>
                <a:latin typeface="Consolas"/>
              </a:rPr>
              <a:t>12:          </a:t>
            </a:r>
            <a:r>
              <a:rPr sz="1000" b="0">
                <a:solidFill>
                  <a:srgbClr val="000000"/>
                </a:solidFill>
                <a:latin typeface="Times New Roman"/>
              </a:rPr>
              <a:t>Mark v as leaf: P(attack|v) = n_attack / n_total</a:t>
            </a:r>
          </a:p>
          <a:p>
            <a:pPr>
              <a:spcBef>
                <a:spcPts val="0"/>
              </a:spcBef>
              <a:spcAft>
                <a:spcPts val="100"/>
              </a:spcAft>
            </a:pPr>
            <a:r>
              <a:rPr sz="1000" b="0">
                <a:solidFill>
                  <a:srgbClr val="7F8C8D"/>
                </a:solidFill>
                <a:latin typeface="Consolas"/>
              </a:rPr>
              <a:t>13:      </a:t>
            </a:r>
            <a:r>
              <a:rPr sz="1000" b="1">
                <a:solidFill>
                  <a:srgbClr val="000000"/>
                </a:solidFill>
                <a:latin typeface="Times New Roman"/>
              </a:rPr>
              <a:t>end if</a:t>
            </a:r>
          </a:p>
          <a:p>
            <a:pPr>
              <a:spcBef>
                <a:spcPts val="0"/>
              </a:spcBef>
              <a:spcAft>
                <a:spcPts val="100"/>
              </a:spcAft>
            </a:pPr>
            <a:r>
              <a:rPr sz="1000" b="0">
                <a:solidFill>
                  <a:srgbClr val="7F8C8D"/>
                </a:solidFill>
                <a:latin typeface="Consolas"/>
              </a:rPr>
              <a:t>14:  </a:t>
            </a:r>
            <a:r>
              <a:rPr sz="1000" b="1">
                <a:solidFill>
                  <a:srgbClr val="000000"/>
                </a:solidFill>
                <a:latin typeface="Times New Roman"/>
              </a:rPr>
              <a:t>end for</a:t>
            </a:r>
          </a:p>
          <a:p>
            <a:pPr>
              <a:spcBef>
                <a:spcPts val="0"/>
              </a:spcBef>
              <a:spcAft>
                <a:spcPts val="100"/>
              </a:spcAft>
            </a:pPr>
            <a:r>
              <a:rPr sz="1000" b="0">
                <a:solidFill>
                  <a:srgbClr val="7F8C8D"/>
                </a:solidFill>
                <a:latin typeface="Consolas"/>
              </a:rPr>
              <a:t>15:  </a:t>
            </a:r>
            <a:r>
              <a:rPr sz="1000" b="1">
                <a:solidFill>
                  <a:srgbClr val="000000"/>
                </a:solidFill>
                <a:latin typeface="Times New Roman"/>
              </a:rPr>
              <a:t>return </a:t>
            </a:r>
            <a:r>
              <a:rPr sz="1000" b="0">
                <a:solidFill>
                  <a:srgbClr val="000000"/>
                </a:solidFill>
                <a:latin typeface="Times New Roman"/>
              </a:rPr>
              <a:t>T, {leaf_id(x_i), P(attack|x_i), ŷ_DT(x_i)} </a:t>
            </a:r>
            <a:r>
              <a:rPr sz="1000" b="1">
                <a:solidFill>
                  <a:srgbClr val="000000"/>
                </a:solidFill>
                <a:latin typeface="Times New Roman"/>
              </a:rPr>
              <a:t>for </a:t>
            </a:r>
            <a:r>
              <a:rPr sz="1000" b="0">
                <a:solidFill>
                  <a:srgbClr val="000000"/>
                </a:solidFill>
                <a:latin typeface="Times New Roman"/>
              </a:rPr>
              <a:t>all x_i</a:t>
            </a:r>
          </a:p>
        </p:txBody>
      </p:sp>
      <p:pic>
        <p:nvPicPr>
          <p:cNvPr id="5" name="Picture 4" descr="image.png"/>
          <p:cNvPicPr>
            <a:picLocks noChangeAspect="1"/>
          </p:cNvPicPr>
          <p:nvPr/>
        </p:nvPicPr>
        <p:blipFill>
          <a:blip r:embed="rId2"/>
          <a:stretch>
            <a:fillRect/>
          </a:stretch>
        </p:blipFill>
        <p:spPr>
          <a:xfrm>
            <a:off x="7498079" y="640080"/>
            <a:ext cx="4114800" cy="1641329"/>
          </a:xfrm>
          <a:prstGeom prst="rect">
            <a:avLst/>
          </a:prstGeom>
        </p:spPr>
      </p:pic>
      <p:sp>
        <p:nvSpPr>
          <p:cNvPr id="6" name="TextBox 5"/>
          <p:cNvSpPr txBox="1"/>
          <p:nvPr/>
        </p:nvSpPr>
        <p:spPr>
          <a:xfrm>
            <a:off x="7498079" y="2743200"/>
            <a:ext cx="4389120" cy="2286000"/>
          </a:xfrm>
          <a:prstGeom prst="rect">
            <a:avLst/>
          </a:prstGeom>
          <a:noFill/>
        </p:spPr>
        <p:txBody>
          <a:bodyPr wrap="square">
            <a:spAutoFit/>
          </a:bodyPr>
          <a:lstStyle/>
          <a:p>
            <a:pPr>
              <a:spcAft>
                <a:spcPts val="400"/>
              </a:spcAft>
              <a:defRPr sz="1100" b="0">
                <a:solidFill>
                  <a:srgbClr val="000000"/>
                </a:solidFill>
                <a:latin typeface="Calibri"/>
              </a:defRPr>
            </a:pPr>
            <a:r>
              <a:t>•  Trains a CART decision tree (max_depth=7, min_samples_leaf=20, class_weight=balanced) on 10 features as the interpretable symbolic model whose paths become Z3 constraints.</a:t>
            </a:r>
          </a:p>
          <a:p>
            <a:pPr>
              <a:spcAft>
                <a:spcPts val="400"/>
              </a:spcAft>
              <a:defRPr sz="1100" b="0">
                <a:solidFill>
                  <a:srgbClr val="000000"/>
                </a:solidFill>
                <a:latin typeface="Calibri"/>
              </a:defRPr>
            </a:pPr>
            <a:r>
              <a:t>•  Each leaf node provides: a discrete state ID for Q-learning (Stage 4), an attack probability P(attack|leaf), and a baseline classification.</a:t>
            </a:r>
          </a:p>
          <a:p>
            <a:pPr>
              <a:spcAft>
                <a:spcPts val="400"/>
              </a:spcAft>
              <a:defRPr sz="1100" b="0">
                <a:solidFill>
                  <a:srgbClr val="000000"/>
                </a:solidFill>
                <a:latin typeface="Calibri"/>
              </a:defRPr>
            </a:pPr>
            <a:r>
              <a:t>•  Depth 7 (max 128 leaves) balances Z3 tractability with real-data expressiveness; class_weight=balanced corrects for imbalanced attack ratios (15–68%).</a:t>
            </a:r>
          </a:p>
          <a:p>
            <a:pPr>
              <a:spcAft>
                <a:spcPts val="400"/>
              </a:spcAft>
              <a:defRPr sz="1100" b="0">
                <a:solidFill>
                  <a:srgbClr val="000000"/>
                </a:solidFill>
                <a:latin typeface="Calibri"/>
              </a:defRPr>
            </a:pPr>
            <a:r>
              <a:t>•  Gini impurity guides feature splits—pure leaves (Gini=0) give high-confidence predictions; impure leaves are deferred to the RL agent.</a:t>
            </a:r>
          </a:p>
        </p:txBody>
      </p:sp>
      <p:sp>
        <p:nvSpPr>
          <p:cNvPr id="7" name="TextBox 6"/>
          <p:cNvSpPr txBox="1"/>
          <p:nvPr/>
        </p:nvSpPr>
        <p:spPr>
          <a:xfrm>
            <a:off x="274320" y="5669280"/>
            <a:ext cx="11430000" cy="365760"/>
          </a:xfrm>
          <a:prstGeom prst="rect">
            <a:avLst/>
          </a:prstGeom>
          <a:noFill/>
        </p:spPr>
        <p:txBody>
          <a:bodyPr wrap="square">
            <a:spAutoFit/>
          </a:bodyPr>
          <a:lstStyle/>
          <a:p>
            <a:pPr algn="ctr">
              <a:defRPr sz="1300" b="1">
                <a:solidFill>
                  <a:srgbClr val="2980B9"/>
                </a:solidFill>
                <a:latin typeface="Calibri"/>
              </a:defRPr>
            </a:pPr>
            <a:r>
              <a:t>Output: Tree T with L leaves → Feeds into Stage 3 (Z3 extraction) + Stage 4 (leaf_id as RL state)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274320" y="137160"/>
            <a:ext cx="11430000" cy="457200"/>
          </a:xfrm>
          <a:prstGeom prst="rect">
            <a:avLst/>
          </a:prstGeom>
          <a:noFill/>
        </p:spPr>
        <p:txBody>
          <a:bodyPr wrap="square">
            <a:spAutoFit/>
          </a:bodyPr>
          <a:lstStyle/>
          <a:p>
            <a:pPr algn="l">
              <a:defRPr sz="2400" b="1">
                <a:solidFill>
                  <a:srgbClr val="27AE60"/>
                </a:solidFill>
                <a:latin typeface="Calibri"/>
              </a:defRPr>
            </a:pPr>
            <a:r>
              <a:t>Stage 3: Z3 SMT Constraint Extraction  [⚡ Parallelizable per Leaf Path]</a:t>
            </a:r>
          </a:p>
        </p:txBody>
      </p:sp>
      <p:sp>
        <p:nvSpPr>
          <p:cNvPr id="3" name="Rectangle 2"/>
          <p:cNvSpPr/>
          <p:nvPr/>
        </p:nvSpPr>
        <p:spPr>
          <a:xfrm>
            <a:off x="274320" y="640080"/>
            <a:ext cx="6858000" cy="4846320"/>
          </a:xfrm>
          <a:prstGeom prst="rect">
            <a:avLst/>
          </a:prstGeom>
          <a:solidFill>
            <a:srgbClr val="F7F9FB"/>
          </a:solidFill>
          <a:ln w="19050">
            <a:solidFill>
              <a:srgbClr val="3449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685800"/>
            <a:ext cx="6583680" cy="4754880"/>
          </a:xfrm>
          <a:prstGeom prst="rect">
            <a:avLst/>
          </a:prstGeom>
          <a:noFill/>
        </p:spPr>
        <p:txBody>
          <a:bodyPr wrap="square">
            <a:spAutoFit/>
          </a:bodyPr>
          <a:lstStyle/>
          <a:p>
            <a:pPr>
              <a:spcAft>
                <a:spcPts val="300"/>
              </a:spcAft>
            </a:pPr>
            <a:r>
              <a:rPr sz="1200" b="1" i="1">
                <a:solidFill>
                  <a:srgbClr val="000000"/>
                </a:solidFill>
                <a:latin typeface="Times New Roman"/>
              </a:rPr>
              <a:t>Algorithm 4: </a:t>
            </a:r>
            <a:r>
              <a:rPr sz="1200" b="1">
                <a:solidFill>
                  <a:srgbClr val="000000"/>
                </a:solidFill>
                <a:latin typeface="Times New Roman"/>
              </a:rPr>
              <a:t>Z3 Constraint Extraction</a:t>
            </a:r>
          </a:p>
          <a:p>
            <a:pPr>
              <a:spcBef>
                <a:spcPts val="0"/>
              </a:spcBef>
              <a:spcAft>
                <a:spcPts val="100"/>
              </a:spcAft>
            </a:pPr>
            <a:r>
              <a:rPr sz="1000" b="1">
                <a:solidFill>
                  <a:srgbClr val="000000"/>
                </a:solidFill>
                <a:latin typeface="Times New Roman"/>
              </a:rPr>
              <a:t>Require:</a:t>
            </a:r>
            <a:r>
              <a:rPr sz="1000" b="0">
                <a:solidFill>
                  <a:srgbClr val="000000"/>
                </a:solidFill>
                <a:latin typeface="Times New Roman"/>
              </a:rPr>
              <a:t> Trained decision tree T with L leaf nodes</a:t>
            </a:r>
          </a:p>
          <a:p>
            <a:pPr>
              <a:spcBef>
                <a:spcPts val="0"/>
              </a:spcBef>
              <a:spcAft>
                <a:spcPts val="100"/>
              </a:spcAft>
            </a:pPr>
            <a:r>
              <a:rPr sz="1000" b="1">
                <a:solidFill>
                  <a:srgbClr val="000000"/>
                </a:solidFill>
                <a:latin typeface="Times New Roman"/>
              </a:rPr>
              <a:t>Ensure:</a:t>
            </a:r>
            <a:r>
              <a:rPr sz="1000" b="0">
                <a:solidFill>
                  <a:srgbClr val="000000"/>
                </a:solidFill>
                <a:latin typeface="Times New Roman"/>
              </a:rPr>
              <a:t> Constraint set C = {φ_1, ..., φ_|C|} of Z3 implications</a:t>
            </a:r>
          </a:p>
          <a:p>
            <a:pPr>
              <a:spcBef>
                <a:spcPts val="0"/>
              </a:spcBef>
              <a:spcAft>
                <a:spcPts val="100"/>
              </a:spcAft>
            </a:pPr>
            <a:r>
              <a:rPr sz="1000" b="0">
                <a:solidFill>
                  <a:srgbClr val="7F8C8D"/>
                </a:solidFill>
                <a:latin typeface="Consolas"/>
              </a:rPr>
              <a:t> 1:  </a:t>
            </a:r>
            <a:r>
              <a:rPr sz="1000" b="0">
                <a:solidFill>
                  <a:srgbClr val="000000"/>
                </a:solidFill>
                <a:latin typeface="Times New Roman"/>
              </a:rPr>
              <a:t>C ← ∅</a:t>
            </a:r>
          </a:p>
          <a:p>
            <a:pPr>
              <a:spcBef>
                <a:spcPts val="0"/>
              </a:spcBef>
              <a:spcAft>
                <a:spcPts val="100"/>
              </a:spcAft>
            </a:pPr>
            <a:r>
              <a:rPr sz="1000" b="0">
                <a:solidFill>
                  <a:srgbClr val="7F8C8D"/>
                </a:solidFill>
                <a:latin typeface="Consolas"/>
              </a:rPr>
              <a:t> 2:  </a:t>
            </a:r>
            <a:r>
              <a:rPr sz="1000" b="1">
                <a:solidFill>
                  <a:srgbClr val="000000"/>
                </a:solidFill>
                <a:latin typeface="Times New Roman"/>
              </a:rPr>
              <a:t>for </a:t>
            </a:r>
            <a:r>
              <a:rPr sz="1000" b="0">
                <a:solidFill>
                  <a:srgbClr val="000000"/>
                </a:solidFill>
                <a:latin typeface="Times New Roman"/>
              </a:rPr>
              <a:t>each leaf l ∈ {1, ..., L} </a:t>
            </a:r>
            <a:r>
              <a:rPr sz="1000" b="1">
                <a:solidFill>
                  <a:srgbClr val="000000"/>
                </a:solidFill>
                <a:latin typeface="Times New Roman"/>
              </a:rPr>
              <a:t>do</a:t>
            </a:r>
            <a:r>
              <a:rPr sz="1000" b="0">
                <a:solidFill>
                  <a:srgbClr val="000000"/>
                </a:solidFill>
                <a:latin typeface="Times New Roman"/>
              </a:rPr>
              <a:t>  // ⚡ parallelizable per leaf</a:t>
            </a:r>
          </a:p>
          <a:p>
            <a:pPr>
              <a:spcBef>
                <a:spcPts val="0"/>
              </a:spcBef>
              <a:spcAft>
                <a:spcPts val="100"/>
              </a:spcAft>
            </a:pPr>
            <a:r>
              <a:rPr sz="1000" b="0">
                <a:solidFill>
                  <a:srgbClr val="7F8C8D"/>
                </a:solidFill>
                <a:latin typeface="Consolas"/>
              </a:rPr>
              <a:t> 3:      </a:t>
            </a:r>
            <a:r>
              <a:rPr sz="1000" b="0">
                <a:solidFill>
                  <a:srgbClr val="000000"/>
                </a:solidFill>
                <a:latin typeface="Times New Roman"/>
              </a:rPr>
              <a:t>π_l ← extract_path(root, l)  // walk tree root → leaf</a:t>
            </a:r>
          </a:p>
          <a:p>
            <a:pPr>
              <a:spcBef>
                <a:spcPts val="0"/>
              </a:spcBef>
              <a:spcAft>
                <a:spcPts val="100"/>
              </a:spcAft>
            </a:pPr>
            <a:r>
              <a:rPr sz="1000" b="0">
                <a:solidFill>
                  <a:srgbClr val="7F8C8D"/>
                </a:solidFill>
                <a:latin typeface="Consolas"/>
              </a:rPr>
              <a:t> 4:      </a:t>
            </a:r>
            <a:r>
              <a:rPr sz="1000" b="0">
                <a:solidFill>
                  <a:srgbClr val="000000"/>
                </a:solidFill>
                <a:latin typeface="Times New Roman"/>
              </a:rPr>
              <a:t>conditions ← []</a:t>
            </a:r>
          </a:p>
          <a:p>
            <a:pPr>
              <a:spcBef>
                <a:spcPts val="0"/>
              </a:spcBef>
              <a:spcAft>
                <a:spcPts val="100"/>
              </a:spcAft>
            </a:pPr>
            <a:r>
              <a:rPr sz="1000" b="0">
                <a:solidFill>
                  <a:srgbClr val="7F8C8D"/>
                </a:solidFill>
                <a:latin typeface="Consolas"/>
              </a:rPr>
              <a:t> 5:      </a:t>
            </a:r>
            <a:r>
              <a:rPr sz="1000" b="1">
                <a:solidFill>
                  <a:srgbClr val="000000"/>
                </a:solidFill>
                <a:latin typeface="Times New Roman"/>
              </a:rPr>
              <a:t>for </a:t>
            </a:r>
            <a:r>
              <a:rPr sz="1000" b="0">
                <a:solidFill>
                  <a:srgbClr val="000000"/>
                </a:solidFill>
                <a:latin typeface="Times New Roman"/>
              </a:rPr>
              <a:t>each split (feature_j, threshold_θ, direction) in π_l </a:t>
            </a:r>
            <a:r>
              <a:rPr sz="1000" b="1">
                <a:solidFill>
                  <a:srgbClr val="000000"/>
                </a:solidFill>
                <a:latin typeface="Times New Roman"/>
              </a:rPr>
              <a:t>do</a:t>
            </a:r>
          </a:p>
          <a:p>
            <a:pPr>
              <a:spcBef>
                <a:spcPts val="0"/>
              </a:spcBef>
              <a:spcAft>
                <a:spcPts val="100"/>
              </a:spcAft>
            </a:pPr>
            <a:r>
              <a:rPr sz="1000" b="0">
                <a:solidFill>
                  <a:srgbClr val="7F8C8D"/>
                </a:solidFill>
                <a:latin typeface="Consolas"/>
              </a:rPr>
              <a:t> 6:          </a:t>
            </a:r>
            <a:r>
              <a:rPr sz="1000" b="1">
                <a:solidFill>
                  <a:srgbClr val="000000"/>
                </a:solidFill>
                <a:latin typeface="Times New Roman"/>
              </a:rPr>
              <a:t>if </a:t>
            </a:r>
            <a:r>
              <a:rPr sz="1000" b="0">
                <a:solidFill>
                  <a:srgbClr val="000000"/>
                </a:solidFill>
                <a:latin typeface="Times New Roman"/>
              </a:rPr>
              <a:t>direction = left </a:t>
            </a:r>
            <a:r>
              <a:rPr sz="1000" b="1">
                <a:solidFill>
                  <a:srgbClr val="000000"/>
                </a:solidFill>
                <a:latin typeface="Times New Roman"/>
              </a:rPr>
              <a:t>then</a:t>
            </a:r>
          </a:p>
          <a:p>
            <a:pPr>
              <a:spcBef>
                <a:spcPts val="0"/>
              </a:spcBef>
              <a:spcAft>
                <a:spcPts val="100"/>
              </a:spcAft>
            </a:pPr>
            <a:r>
              <a:rPr sz="1000" b="0">
                <a:solidFill>
                  <a:srgbClr val="7F8C8D"/>
                </a:solidFill>
                <a:latin typeface="Consolas"/>
              </a:rPr>
              <a:t> 7:              </a:t>
            </a:r>
            <a:r>
              <a:rPr sz="1000" b="0">
                <a:solidFill>
                  <a:srgbClr val="000000"/>
                </a:solidFill>
                <a:latin typeface="Times New Roman"/>
              </a:rPr>
              <a:t>conditions.append( Real(f_j) ≤ θ )</a:t>
            </a:r>
          </a:p>
          <a:p>
            <a:pPr>
              <a:spcBef>
                <a:spcPts val="0"/>
              </a:spcBef>
              <a:spcAft>
                <a:spcPts val="100"/>
              </a:spcAft>
            </a:pPr>
            <a:r>
              <a:rPr sz="1000" b="0">
                <a:solidFill>
                  <a:srgbClr val="7F8C8D"/>
                </a:solidFill>
                <a:latin typeface="Consolas"/>
              </a:rPr>
              <a:t> 8:          </a:t>
            </a:r>
            <a:r>
              <a:rPr sz="1000" b="1">
                <a:solidFill>
                  <a:srgbClr val="000000"/>
                </a:solidFill>
                <a:latin typeface="Times New Roman"/>
              </a:rPr>
              <a:t>else</a:t>
            </a:r>
          </a:p>
          <a:p>
            <a:pPr>
              <a:spcBef>
                <a:spcPts val="0"/>
              </a:spcBef>
              <a:spcAft>
                <a:spcPts val="100"/>
              </a:spcAft>
            </a:pPr>
            <a:r>
              <a:rPr sz="1000" b="0">
                <a:solidFill>
                  <a:srgbClr val="7F8C8D"/>
                </a:solidFill>
                <a:latin typeface="Consolas"/>
              </a:rPr>
              <a:t> 9:              </a:t>
            </a:r>
            <a:r>
              <a:rPr sz="1000" b="0">
                <a:solidFill>
                  <a:srgbClr val="000000"/>
                </a:solidFill>
                <a:latin typeface="Times New Roman"/>
              </a:rPr>
              <a:t>conditions.append( Real(f_j) &gt; θ )</a:t>
            </a:r>
          </a:p>
          <a:p>
            <a:pPr>
              <a:spcBef>
                <a:spcPts val="0"/>
              </a:spcBef>
              <a:spcAft>
                <a:spcPts val="100"/>
              </a:spcAft>
            </a:pPr>
            <a:r>
              <a:rPr sz="1000" b="0">
                <a:solidFill>
                  <a:srgbClr val="7F8C8D"/>
                </a:solidFill>
                <a:latin typeface="Consolas"/>
              </a:rPr>
              <a:t>10:          </a:t>
            </a:r>
            <a:r>
              <a:rPr sz="1000" b="1">
                <a:solidFill>
                  <a:srgbClr val="000000"/>
                </a:solidFill>
                <a:latin typeface="Times New Roman"/>
              </a:rPr>
              <a:t>end if</a:t>
            </a:r>
          </a:p>
          <a:p>
            <a:pPr>
              <a:spcBef>
                <a:spcPts val="0"/>
              </a:spcBef>
              <a:spcAft>
                <a:spcPts val="100"/>
              </a:spcAft>
            </a:pPr>
            <a:r>
              <a:rPr sz="1000" b="0">
                <a:solidFill>
                  <a:srgbClr val="7F8C8D"/>
                </a:solidFill>
                <a:latin typeface="Consolas"/>
              </a:rPr>
              <a:t>11:      </a:t>
            </a:r>
            <a:r>
              <a:rPr sz="1000" b="1">
                <a:solidFill>
                  <a:srgbClr val="000000"/>
                </a:solidFill>
                <a:latin typeface="Times New Roman"/>
              </a:rPr>
              <a:t>end for</a:t>
            </a:r>
          </a:p>
          <a:p>
            <a:pPr>
              <a:spcBef>
                <a:spcPts val="0"/>
              </a:spcBef>
              <a:spcAft>
                <a:spcPts val="100"/>
              </a:spcAft>
            </a:pPr>
            <a:r>
              <a:rPr sz="1000" b="0">
                <a:solidFill>
                  <a:srgbClr val="7F8C8D"/>
                </a:solidFill>
                <a:latin typeface="Consolas"/>
              </a:rPr>
              <a:t>12:      </a:t>
            </a:r>
            <a:r>
              <a:rPr sz="1000" b="0">
                <a:solidFill>
                  <a:srgbClr val="000000"/>
                </a:solidFill>
                <a:latin typeface="Times New Roman"/>
              </a:rPr>
              <a:t>φ_l ← Implies( And(conditions), Int(action) == class(l) )</a:t>
            </a:r>
          </a:p>
          <a:p>
            <a:pPr>
              <a:spcBef>
                <a:spcPts val="0"/>
              </a:spcBef>
              <a:spcAft>
                <a:spcPts val="100"/>
              </a:spcAft>
            </a:pPr>
            <a:r>
              <a:rPr sz="1000" b="0">
                <a:solidFill>
                  <a:srgbClr val="7F8C8D"/>
                </a:solidFill>
                <a:latin typeface="Consolas"/>
              </a:rPr>
              <a:t>13:      </a:t>
            </a:r>
            <a:r>
              <a:rPr sz="1000" b="1">
                <a:solidFill>
                  <a:srgbClr val="000000"/>
                </a:solidFill>
                <a:latin typeface="Times New Roman"/>
              </a:rPr>
              <a:t>if </a:t>
            </a:r>
            <a:r>
              <a:rPr sz="1000" b="0">
                <a:solidFill>
                  <a:srgbClr val="000000"/>
                </a:solidFill>
                <a:latin typeface="Times New Roman"/>
              </a:rPr>
              <a:t>solver.check(C ∪ {φ_l}) == sat </a:t>
            </a:r>
            <a:r>
              <a:rPr sz="1000" b="1">
                <a:solidFill>
                  <a:srgbClr val="000000"/>
                </a:solidFill>
                <a:latin typeface="Times New Roman"/>
              </a:rPr>
              <a:t>then</a:t>
            </a:r>
          </a:p>
          <a:p>
            <a:pPr>
              <a:spcBef>
                <a:spcPts val="0"/>
              </a:spcBef>
              <a:spcAft>
                <a:spcPts val="100"/>
              </a:spcAft>
            </a:pPr>
            <a:r>
              <a:rPr sz="1000" b="0">
                <a:solidFill>
                  <a:srgbClr val="7F8C8D"/>
                </a:solidFill>
                <a:latin typeface="Consolas"/>
              </a:rPr>
              <a:t>14:          </a:t>
            </a:r>
            <a:r>
              <a:rPr sz="1000" b="0">
                <a:solidFill>
                  <a:srgbClr val="000000"/>
                </a:solidFill>
                <a:latin typeface="Times New Roman"/>
              </a:rPr>
              <a:t>C ← C ∪ {φ_l}</a:t>
            </a:r>
          </a:p>
          <a:p>
            <a:pPr>
              <a:spcBef>
                <a:spcPts val="0"/>
              </a:spcBef>
              <a:spcAft>
                <a:spcPts val="100"/>
              </a:spcAft>
            </a:pPr>
            <a:r>
              <a:rPr sz="1000" b="0">
                <a:solidFill>
                  <a:srgbClr val="7F8C8D"/>
                </a:solidFill>
                <a:latin typeface="Consolas"/>
              </a:rPr>
              <a:t>15:      </a:t>
            </a:r>
            <a:r>
              <a:rPr sz="1000" b="1">
                <a:solidFill>
                  <a:srgbClr val="000000"/>
                </a:solidFill>
                <a:latin typeface="Times New Roman"/>
              </a:rPr>
              <a:t>end if</a:t>
            </a:r>
          </a:p>
          <a:p>
            <a:pPr>
              <a:spcBef>
                <a:spcPts val="0"/>
              </a:spcBef>
              <a:spcAft>
                <a:spcPts val="100"/>
              </a:spcAft>
            </a:pPr>
            <a:r>
              <a:rPr sz="1000" b="0">
                <a:solidFill>
                  <a:srgbClr val="7F8C8D"/>
                </a:solidFill>
                <a:latin typeface="Consolas"/>
              </a:rPr>
              <a:t>16:  </a:t>
            </a:r>
            <a:r>
              <a:rPr sz="1000" b="1">
                <a:solidFill>
                  <a:srgbClr val="000000"/>
                </a:solidFill>
                <a:latin typeface="Times New Roman"/>
              </a:rPr>
              <a:t>end for</a:t>
            </a:r>
          </a:p>
          <a:p>
            <a:pPr>
              <a:spcBef>
                <a:spcPts val="0"/>
              </a:spcBef>
              <a:spcAft>
                <a:spcPts val="100"/>
              </a:spcAft>
            </a:pPr>
            <a:r>
              <a:rPr sz="1000" b="0">
                <a:solidFill>
                  <a:srgbClr val="7F8C8D"/>
                </a:solidFill>
                <a:latin typeface="Consolas"/>
              </a:rPr>
              <a:t>17:  </a:t>
            </a:r>
            <a:r>
              <a:rPr sz="1000" b="1">
                <a:solidFill>
                  <a:srgbClr val="000000"/>
                </a:solidFill>
                <a:latin typeface="Times New Roman"/>
              </a:rPr>
              <a:t>return </a:t>
            </a:r>
            <a:r>
              <a:rPr sz="1000" b="0">
                <a:solidFill>
                  <a:srgbClr val="000000"/>
                </a:solidFill>
                <a:latin typeface="Times New Roman"/>
              </a:rPr>
              <a:t>C</a:t>
            </a:r>
          </a:p>
        </p:txBody>
      </p:sp>
      <p:pic>
        <p:nvPicPr>
          <p:cNvPr id="5" name="Picture 4" descr="image.png"/>
          <p:cNvPicPr>
            <a:picLocks noChangeAspect="1"/>
          </p:cNvPicPr>
          <p:nvPr/>
        </p:nvPicPr>
        <p:blipFill>
          <a:blip r:embed="rId2"/>
          <a:stretch>
            <a:fillRect/>
          </a:stretch>
        </p:blipFill>
        <p:spPr>
          <a:xfrm>
            <a:off x="7498079" y="640080"/>
            <a:ext cx="4389120" cy="1486550"/>
          </a:xfrm>
          <a:prstGeom prst="rect">
            <a:avLst/>
          </a:prstGeom>
        </p:spPr>
      </p:pic>
      <p:sp>
        <p:nvSpPr>
          <p:cNvPr id="6" name="TextBox 5"/>
          <p:cNvSpPr txBox="1"/>
          <p:nvPr/>
        </p:nvSpPr>
        <p:spPr>
          <a:xfrm>
            <a:off x="7498079" y="2743200"/>
            <a:ext cx="4389120" cy="2286000"/>
          </a:xfrm>
          <a:prstGeom prst="rect">
            <a:avLst/>
          </a:prstGeom>
          <a:noFill/>
        </p:spPr>
        <p:txBody>
          <a:bodyPr wrap="square">
            <a:spAutoFit/>
          </a:bodyPr>
          <a:lstStyle/>
          <a:p>
            <a:pPr>
              <a:spcAft>
                <a:spcPts val="400"/>
              </a:spcAft>
              <a:defRPr sz="1100" b="0">
                <a:solidFill>
                  <a:srgbClr val="000000"/>
                </a:solidFill>
                <a:latin typeface="Calibri"/>
              </a:defRPr>
            </a:pPr>
            <a:r>
              <a:t>•  Traverses each root-to-leaf path in the decision tree, converting feature threshold comparisons into Z3 Real/Int constraints with Implies() implications.</a:t>
            </a:r>
          </a:p>
          <a:p>
            <a:pPr>
              <a:spcAft>
                <a:spcPts val="400"/>
              </a:spcAft>
              <a:defRPr sz="1100" b="0">
                <a:solidFill>
                  <a:srgbClr val="000000"/>
                </a:solidFill>
                <a:latin typeface="Calibri"/>
              </a:defRPr>
            </a:pPr>
            <a:r>
              <a:t>•  Each constraint φ_l states: if the conjunction of feature conditions along path π_l holds, then the action must equal the leaf's predicted class.</a:t>
            </a:r>
          </a:p>
          <a:p>
            <a:pPr>
              <a:spcAft>
                <a:spcPts val="400"/>
              </a:spcAft>
              <a:defRPr sz="1100" b="0">
                <a:solidFill>
                  <a:srgbClr val="000000"/>
                </a:solidFill>
                <a:latin typeface="Calibri"/>
              </a:defRPr>
            </a:pPr>
            <a:r>
              <a:t>•  Leaf paths are independent—each can be extracted in parallel across CPU cores, with a final sequential merge and satisfiability check.</a:t>
            </a:r>
          </a:p>
          <a:p>
            <a:pPr>
              <a:spcAft>
                <a:spcPts val="400"/>
              </a:spcAft>
              <a:defRPr sz="1100" b="0">
                <a:solidFill>
                  <a:srgbClr val="000000"/>
                </a:solidFill>
                <a:latin typeface="Calibri"/>
              </a:defRPr>
            </a:pPr>
            <a:r>
              <a:t>•  The resulting constraint set C enables runtime verification: any proposed RL action can be checked against C using Z3's SMT solver in O(ms) time.</a:t>
            </a:r>
          </a:p>
        </p:txBody>
      </p:sp>
      <p:sp>
        <p:nvSpPr>
          <p:cNvPr id="7" name="TextBox 6"/>
          <p:cNvSpPr txBox="1"/>
          <p:nvPr/>
        </p:nvSpPr>
        <p:spPr>
          <a:xfrm>
            <a:off x="274320" y="5760720"/>
            <a:ext cx="11430000" cy="365760"/>
          </a:xfrm>
          <a:prstGeom prst="rect">
            <a:avLst/>
          </a:prstGeom>
          <a:noFill/>
        </p:spPr>
        <p:txBody>
          <a:bodyPr wrap="square">
            <a:spAutoFit/>
          </a:bodyPr>
          <a:lstStyle/>
          <a:p>
            <a:pPr algn="ctr">
              <a:defRPr sz="1300" b="1">
                <a:solidFill>
                  <a:srgbClr val="2980B9"/>
                </a:solidFill>
                <a:latin typeface="Calibri"/>
              </a:defRPr>
            </a:pPr>
            <a:r>
              <a:t>Output: Constraint set C → Used by Stage 4 (Q-Learning safety shield) and updated by Stage 5 (DBSCAN)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274320" y="137160"/>
            <a:ext cx="11430000" cy="457200"/>
          </a:xfrm>
          <a:prstGeom prst="rect">
            <a:avLst/>
          </a:prstGeom>
          <a:noFill/>
        </p:spPr>
        <p:txBody>
          <a:bodyPr wrap="square">
            <a:spAutoFit/>
          </a:bodyPr>
          <a:lstStyle/>
          <a:p>
            <a:pPr algn="ctr">
              <a:defRPr sz="2400" b="1">
                <a:solidFill>
                  <a:srgbClr val="E67E22"/>
                </a:solidFill>
                <a:latin typeface="Calibri"/>
              </a:defRPr>
            </a:pPr>
            <a:r>
              <a:t>Q-Learning Reinforcement Learning Agent — Deep Dive</a:t>
            </a:r>
          </a:p>
        </p:txBody>
      </p:sp>
      <p:sp>
        <p:nvSpPr>
          <p:cNvPr id="3" name="TextBox 2"/>
          <p:cNvSpPr txBox="1"/>
          <p:nvPr/>
        </p:nvSpPr>
        <p:spPr>
          <a:xfrm>
            <a:off x="274320" y="640080"/>
            <a:ext cx="5029200" cy="365760"/>
          </a:xfrm>
          <a:prstGeom prst="rect">
            <a:avLst/>
          </a:prstGeom>
          <a:noFill/>
        </p:spPr>
        <p:txBody>
          <a:bodyPr wrap="square">
            <a:spAutoFit/>
          </a:bodyPr>
          <a:lstStyle/>
          <a:p>
            <a:pPr algn="l">
              <a:defRPr sz="1400" b="1">
                <a:solidFill>
                  <a:srgbClr val="003C71"/>
                </a:solidFill>
                <a:latin typeface="Calibri"/>
              </a:defRPr>
            </a:pPr>
            <a:r>
              <a:t>Agent Architecture &amp; State-Action Space</a:t>
            </a:r>
          </a:p>
        </p:txBody>
      </p:sp>
      <p:sp>
        <p:nvSpPr>
          <p:cNvPr id="4" name="Rounded Rectangle 3"/>
          <p:cNvSpPr/>
          <p:nvPr/>
        </p:nvSpPr>
        <p:spPr>
          <a:xfrm>
            <a:off x="365760" y="1097280"/>
            <a:ext cx="2011680" cy="548640"/>
          </a:xfrm>
          <a:prstGeom prst="round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FFFFF"/>
                </a:solidFill>
                <a:latin typeface="Calibri"/>
              </a:defRPr>
            </a:pPr>
            <a:r>
              <a:t>State: s = leaf_id(T, x)</a:t>
            </a:r>
          </a:p>
        </p:txBody>
      </p:sp>
      <p:sp>
        <p:nvSpPr>
          <p:cNvPr id="5" name="TextBox 4"/>
          <p:cNvSpPr txBox="1"/>
          <p:nvPr/>
        </p:nvSpPr>
        <p:spPr>
          <a:xfrm>
            <a:off x="365760" y="1691640"/>
            <a:ext cx="2011680" cy="457200"/>
          </a:xfrm>
          <a:prstGeom prst="rect">
            <a:avLst/>
          </a:prstGeom>
          <a:noFill/>
        </p:spPr>
        <p:txBody>
          <a:bodyPr wrap="square">
            <a:spAutoFit/>
          </a:bodyPr>
          <a:lstStyle/>
          <a:p>
            <a:pPr algn="l">
              <a:defRPr sz="800" b="0">
                <a:solidFill>
                  <a:srgbClr val="7F8C8D"/>
                </a:solidFill>
                <a:latin typeface="Calibri"/>
              </a:defRPr>
            </a:pPr>
            <a:r>
              <a:t>DT leaf node index</a:t>
            </a:r>
            <a:br/>
            <a:r>
              <a:t>|S| = L (up to 128 leaves)</a:t>
            </a:r>
          </a:p>
        </p:txBody>
      </p:sp>
      <p:sp>
        <p:nvSpPr>
          <p:cNvPr id="6" name="Right Arrow 5"/>
          <p:cNvSpPr/>
          <p:nvPr/>
        </p:nvSpPr>
        <p:spPr>
          <a:xfrm>
            <a:off x="2468880" y="1234440"/>
            <a:ext cx="457200" cy="274320"/>
          </a:xfrm>
          <a:prstGeom prst="rightArrow">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017520" y="1005840"/>
            <a:ext cx="2103120" cy="731520"/>
          </a:xfrm>
          <a:prstGeom prst="round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FFFFF"/>
                </a:solidFill>
                <a:latin typeface="Calibri"/>
              </a:defRPr>
            </a:pPr>
            <a:r>
              <a:t>Q-Table: Q(s, a)</a:t>
            </a:r>
            <a:br/>
            <a:r>
              <a:t>|S| × |A| matrix</a:t>
            </a:r>
          </a:p>
        </p:txBody>
      </p:sp>
      <p:sp>
        <p:nvSpPr>
          <p:cNvPr id="8" name="TextBox 7"/>
          <p:cNvSpPr txBox="1"/>
          <p:nvPr/>
        </p:nvSpPr>
        <p:spPr>
          <a:xfrm>
            <a:off x="3017520" y="1783080"/>
            <a:ext cx="2103120" cy="457200"/>
          </a:xfrm>
          <a:prstGeom prst="rect">
            <a:avLst/>
          </a:prstGeom>
          <a:noFill/>
        </p:spPr>
        <p:txBody>
          <a:bodyPr wrap="square">
            <a:spAutoFit/>
          </a:bodyPr>
          <a:lstStyle/>
          <a:p>
            <a:pPr algn="l">
              <a:defRPr sz="800" b="0">
                <a:solidFill>
                  <a:srgbClr val="7F8C8D"/>
                </a:solidFill>
                <a:latin typeface="Calibri"/>
              </a:defRPr>
            </a:pPr>
            <a:r>
              <a:t>Actions: a ∈ {ALLOW=0, BLOCK=1}</a:t>
            </a:r>
            <a:br/>
            <a:r>
              <a:t>Lookup: O(1) per flow</a:t>
            </a:r>
          </a:p>
        </p:txBody>
      </p:sp>
      <p:sp>
        <p:nvSpPr>
          <p:cNvPr id="9" name="TextBox 8"/>
          <p:cNvSpPr txBox="1"/>
          <p:nvPr/>
        </p:nvSpPr>
        <p:spPr>
          <a:xfrm>
            <a:off x="5669280" y="640080"/>
            <a:ext cx="5943600" cy="365760"/>
          </a:xfrm>
          <a:prstGeom prst="rect">
            <a:avLst/>
          </a:prstGeom>
          <a:noFill/>
        </p:spPr>
        <p:txBody>
          <a:bodyPr wrap="square">
            <a:spAutoFit/>
          </a:bodyPr>
          <a:lstStyle/>
          <a:p>
            <a:pPr algn="l">
              <a:defRPr sz="1400" b="1">
                <a:solidFill>
                  <a:srgbClr val="003C71"/>
                </a:solidFill>
                <a:latin typeface="Calibri"/>
              </a:defRPr>
            </a:pPr>
            <a:r>
              <a:t>Optimized Hyperparameters</a:t>
            </a:r>
          </a:p>
        </p:txBody>
      </p:sp>
      <p:sp>
        <p:nvSpPr>
          <p:cNvPr id="10" name="TextBox 9"/>
          <p:cNvSpPr txBox="1"/>
          <p:nvPr/>
        </p:nvSpPr>
        <p:spPr>
          <a:xfrm>
            <a:off x="5669280" y="914400"/>
            <a:ext cx="5943600" cy="3200400"/>
          </a:xfrm>
          <a:prstGeom prst="rect">
            <a:avLst/>
          </a:prstGeom>
          <a:noFill/>
        </p:spPr>
        <p:txBody>
          <a:bodyPr wrap="square">
            <a:spAutoFit/>
          </a:bodyPr>
          <a:lstStyle/>
          <a:p>
            <a:pPr>
              <a:spcAft>
                <a:spcPts val="200"/>
              </a:spcAft>
              <a:defRPr sz="300" b="0">
                <a:solidFill>
                  <a:srgbClr val="000000"/>
                </a:solidFill>
                <a:latin typeface="Consolas"/>
              </a:defRPr>
            </a:pPr>
          </a:p>
          <a:p>
            <a:pPr>
              <a:spcAft>
                <a:spcPts val="200"/>
              </a:spcAft>
              <a:defRPr sz="1000" b="1">
                <a:solidFill>
                  <a:srgbClr val="000000"/>
                </a:solidFill>
                <a:latin typeface="Consolas"/>
              </a:defRPr>
            </a:pPr>
            <a:r>
              <a:t>  Parameter          Symbol    Value    Range Tested</a:t>
            </a:r>
          </a:p>
          <a:p>
            <a:pPr>
              <a:spcAft>
                <a:spcPts val="200"/>
              </a:spcAft>
              <a:defRPr sz="800" b="0">
                <a:solidFill>
                  <a:srgbClr val="7F8C8D"/>
                </a:solidFill>
                <a:latin typeface="Consolas"/>
              </a:defRPr>
            </a:pPr>
            <a:r>
              <a:t>───────────────────────────────────────────────────────────</a:t>
            </a:r>
          </a:p>
          <a:p>
            <a:pPr>
              <a:spcAft>
                <a:spcPts val="200"/>
              </a:spcAft>
              <a:defRPr sz="1000" b="0">
                <a:solidFill>
                  <a:srgbClr val="000000"/>
                </a:solidFill>
                <a:latin typeface="Consolas"/>
              </a:defRPr>
            </a:pPr>
            <a:r>
              <a:t>  Learning rate      α         0.10     [0.01, 0.20]</a:t>
            </a:r>
          </a:p>
          <a:p>
            <a:pPr>
              <a:spcAft>
                <a:spcPts val="200"/>
              </a:spcAft>
              <a:defRPr sz="1000" b="0">
                <a:solidFill>
                  <a:srgbClr val="000000"/>
                </a:solidFill>
                <a:latin typeface="Consolas"/>
              </a:defRPr>
            </a:pPr>
            <a:r>
              <a:t>  Discount factor    γ         0.90     [0.80, 0.99]</a:t>
            </a:r>
          </a:p>
          <a:p>
            <a:pPr>
              <a:spcAft>
                <a:spcPts val="200"/>
              </a:spcAft>
              <a:defRPr sz="1000" b="0">
                <a:solidFill>
                  <a:srgbClr val="000000"/>
                </a:solidFill>
                <a:latin typeface="Consolas"/>
              </a:defRPr>
            </a:pPr>
            <a:r>
              <a:t>  Initial epsilon    ε₀        0.30     [0.10, 0.50]</a:t>
            </a:r>
          </a:p>
          <a:p>
            <a:pPr>
              <a:spcAft>
                <a:spcPts val="200"/>
              </a:spcAft>
              <a:defRPr sz="1000" b="0">
                <a:solidFill>
                  <a:srgbClr val="000000"/>
                </a:solidFill>
                <a:latin typeface="Consolas"/>
              </a:defRPr>
            </a:pPr>
            <a:r>
              <a:t>  Epsilon decay      δ         0.997    [0.990, 0.999]</a:t>
            </a:r>
          </a:p>
          <a:p>
            <a:pPr>
              <a:spcAft>
                <a:spcPts val="200"/>
              </a:spcAft>
              <a:defRPr sz="1000" b="0">
                <a:solidFill>
                  <a:srgbClr val="000000"/>
                </a:solidFill>
                <a:latin typeface="Consolas"/>
              </a:defRPr>
            </a:pPr>
            <a:r>
              <a:t>  Epsilon floor      ε_min     0.03     [0.01, 0.10]</a:t>
            </a:r>
          </a:p>
          <a:p>
            <a:pPr>
              <a:spcAft>
                <a:spcPts val="200"/>
              </a:spcAft>
              <a:defRPr sz="1000" b="0">
                <a:solidFill>
                  <a:srgbClr val="000000"/>
                </a:solidFill>
                <a:latin typeface="Consolas"/>
              </a:defRPr>
            </a:pPr>
            <a:r>
              <a:t>  Training epochs    E         20       [5, 50]</a:t>
            </a:r>
          </a:p>
          <a:p>
            <a:pPr>
              <a:spcAft>
                <a:spcPts val="200"/>
              </a:spcAft>
              <a:defRPr sz="800" b="0">
                <a:solidFill>
                  <a:srgbClr val="7F8C8D"/>
                </a:solidFill>
                <a:latin typeface="Consolas"/>
              </a:defRPr>
            </a:pPr>
            <a:r>
              <a:t>───────────────────────────────────────────────────────────</a:t>
            </a:r>
          </a:p>
          <a:p>
            <a:pPr>
              <a:spcAft>
                <a:spcPts val="200"/>
              </a:spcAft>
              <a:defRPr sz="1000" b="0">
                <a:solidFill>
                  <a:srgbClr val="2980B9"/>
                </a:solidFill>
                <a:latin typeface="Consolas"/>
              </a:defRPr>
            </a:pPr>
            <a:r>
              <a:t>  State space        |S|       ≤128     DT leaf count</a:t>
            </a:r>
          </a:p>
          <a:p>
            <a:pPr>
              <a:spcAft>
                <a:spcPts val="200"/>
              </a:spcAft>
              <a:defRPr sz="1000" b="0">
                <a:solidFill>
                  <a:srgbClr val="2980B9"/>
                </a:solidFill>
                <a:latin typeface="Consolas"/>
              </a:defRPr>
            </a:pPr>
            <a:r>
              <a:t>  Action space       |A|       2        {ALLOW, BLOCK}</a:t>
            </a:r>
          </a:p>
        </p:txBody>
      </p:sp>
      <p:sp>
        <p:nvSpPr>
          <p:cNvPr id="11" name="TextBox 10"/>
          <p:cNvSpPr txBox="1"/>
          <p:nvPr/>
        </p:nvSpPr>
        <p:spPr>
          <a:xfrm>
            <a:off x="274320" y="2377440"/>
            <a:ext cx="5029200" cy="365760"/>
          </a:xfrm>
          <a:prstGeom prst="rect">
            <a:avLst/>
          </a:prstGeom>
          <a:noFill/>
        </p:spPr>
        <p:txBody>
          <a:bodyPr wrap="square">
            <a:spAutoFit/>
          </a:bodyPr>
          <a:lstStyle/>
          <a:p>
            <a:pPr algn="l">
              <a:defRPr sz="1400" b="1">
                <a:solidFill>
                  <a:srgbClr val="003C71"/>
                </a:solidFill>
                <a:latin typeface="Calibri"/>
              </a:defRPr>
            </a:pPr>
            <a:r>
              <a:t>Asymmetric Reward Function R(a, y)</a:t>
            </a:r>
          </a:p>
        </p:txBody>
      </p:sp>
      <p:pic>
        <p:nvPicPr>
          <p:cNvPr id="12" name="Picture 11" descr="image.png"/>
          <p:cNvPicPr>
            <a:picLocks noChangeAspect="1"/>
          </p:cNvPicPr>
          <p:nvPr/>
        </p:nvPicPr>
        <p:blipFill>
          <a:blip r:embed="rId2"/>
          <a:stretch>
            <a:fillRect/>
          </a:stretch>
        </p:blipFill>
        <p:spPr>
          <a:xfrm>
            <a:off x="274320" y="2834640"/>
            <a:ext cx="5029200" cy="3185344"/>
          </a:xfrm>
          <a:prstGeom prst="rect">
            <a:avLst/>
          </a:prstGeom>
        </p:spPr>
      </p:pic>
      <p:sp>
        <p:nvSpPr>
          <p:cNvPr id="13" name="TextBox 12"/>
          <p:cNvSpPr txBox="1"/>
          <p:nvPr/>
        </p:nvSpPr>
        <p:spPr>
          <a:xfrm>
            <a:off x="5669280" y="4206240"/>
            <a:ext cx="5943600" cy="365760"/>
          </a:xfrm>
          <a:prstGeom prst="rect">
            <a:avLst/>
          </a:prstGeom>
          <a:noFill/>
        </p:spPr>
        <p:txBody>
          <a:bodyPr wrap="square">
            <a:spAutoFit/>
          </a:bodyPr>
          <a:lstStyle/>
          <a:p>
            <a:pPr algn="l">
              <a:defRPr sz="1400" b="1">
                <a:solidFill>
                  <a:srgbClr val="003C71"/>
                </a:solidFill>
                <a:latin typeface="Calibri"/>
              </a:defRPr>
            </a:pPr>
            <a:r>
              <a:t>ε-Greedy Exploration Schedule</a:t>
            </a:r>
          </a:p>
        </p:txBody>
      </p:sp>
      <p:pic>
        <p:nvPicPr>
          <p:cNvPr id="14" name="Picture 13" descr="image.png"/>
          <p:cNvPicPr>
            <a:picLocks noChangeAspect="1"/>
          </p:cNvPicPr>
          <p:nvPr/>
        </p:nvPicPr>
        <p:blipFill>
          <a:blip r:embed="rId3"/>
          <a:stretch>
            <a:fillRect/>
          </a:stretch>
        </p:blipFill>
        <p:spPr>
          <a:xfrm>
            <a:off x="5669280" y="4572000"/>
            <a:ext cx="5943600" cy="2592242"/>
          </a:xfrm>
          <a:prstGeom prst="rect">
            <a:avLst/>
          </a:prstGeom>
        </p:spPr>
      </p:pic>
      <p:sp>
        <p:nvSpPr>
          <p:cNvPr id="15" name="TextBox 14"/>
          <p:cNvSpPr txBox="1"/>
          <p:nvPr/>
        </p:nvSpPr>
        <p:spPr>
          <a:xfrm>
            <a:off x="274320" y="5486400"/>
            <a:ext cx="5303520" cy="1371600"/>
          </a:xfrm>
          <a:prstGeom prst="rect">
            <a:avLst/>
          </a:prstGeom>
          <a:noFill/>
        </p:spPr>
        <p:txBody>
          <a:bodyPr wrap="square">
            <a:spAutoFit/>
          </a:bodyPr>
          <a:lstStyle/>
          <a:p>
            <a:pPr>
              <a:spcAft>
                <a:spcPts val="400"/>
              </a:spcAft>
              <a:defRPr sz="1000" b="0">
                <a:solidFill>
                  <a:srgbClr val="000000"/>
                </a:solidFill>
                <a:latin typeface="Calibri"/>
              </a:defRPr>
            </a:pPr>
            <a:r>
              <a:t>•  FN/FP ratio = 2.67:1 — biases agent toward recall (missed attacks &gt;&gt; false alarms in IDS).</a:t>
            </a:r>
          </a:p>
          <a:p>
            <a:pPr>
              <a:spcAft>
                <a:spcPts val="400"/>
              </a:spcAft>
              <a:defRPr sz="1000" b="0">
                <a:solidFill>
                  <a:srgbClr val="000000"/>
                </a:solidFill>
                <a:latin typeface="Calibri"/>
              </a:defRPr>
            </a:pPr>
            <a:r>
              <a:t>•  Shield bonus (+1.0) is 50% of TP reward — strongly incentivizes Z3-consistent behavior.</a:t>
            </a:r>
          </a:p>
          <a:p>
            <a:pPr>
              <a:spcAft>
                <a:spcPts val="400"/>
              </a:spcAft>
              <a:defRPr sz="1000" b="0">
                <a:solidFill>
                  <a:srgbClr val="000000"/>
                </a:solidFill>
                <a:latin typeface="Calibri"/>
              </a:defRPr>
            </a:pPr>
            <a:r>
              <a:t>•  Tabular Q-learning chosen over deep RL: |S|≤128 makes tables exact, interpretable, and fast.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274320" y="137160"/>
            <a:ext cx="11430000" cy="457200"/>
          </a:xfrm>
          <a:prstGeom prst="rect">
            <a:avLst/>
          </a:prstGeom>
          <a:noFill/>
        </p:spPr>
        <p:txBody>
          <a:bodyPr wrap="square">
            <a:spAutoFit/>
          </a:bodyPr>
          <a:lstStyle/>
          <a:p>
            <a:pPr algn="l">
              <a:defRPr sz="2400" b="1">
                <a:solidFill>
                  <a:srgbClr val="E67E22"/>
                </a:solidFill>
                <a:latin typeface="Calibri"/>
              </a:defRPr>
            </a:pPr>
            <a:r>
              <a:t>Stage 4: Q-Learning Reinforcement Learning with Z3 Safety Shielding</a:t>
            </a:r>
          </a:p>
        </p:txBody>
      </p:sp>
      <p:sp>
        <p:nvSpPr>
          <p:cNvPr id="3" name="Rectangle 2"/>
          <p:cNvSpPr/>
          <p:nvPr/>
        </p:nvSpPr>
        <p:spPr>
          <a:xfrm>
            <a:off x="274320" y="640080"/>
            <a:ext cx="7315200" cy="5303520"/>
          </a:xfrm>
          <a:prstGeom prst="rect">
            <a:avLst/>
          </a:prstGeom>
          <a:solidFill>
            <a:srgbClr val="F7F9FB"/>
          </a:solidFill>
          <a:ln w="19050">
            <a:solidFill>
              <a:srgbClr val="3449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685800"/>
            <a:ext cx="7040880" cy="5212080"/>
          </a:xfrm>
          <a:prstGeom prst="rect">
            <a:avLst/>
          </a:prstGeom>
          <a:noFill/>
        </p:spPr>
        <p:txBody>
          <a:bodyPr wrap="square">
            <a:spAutoFit/>
          </a:bodyPr>
          <a:lstStyle/>
          <a:p>
            <a:pPr>
              <a:spcAft>
                <a:spcPts val="300"/>
              </a:spcAft>
            </a:pPr>
            <a:r>
              <a:rPr sz="1200" b="1" i="1">
                <a:solidFill>
                  <a:srgbClr val="000000"/>
                </a:solidFill>
                <a:latin typeface="Times New Roman"/>
              </a:rPr>
              <a:t>Algorithm 5: </a:t>
            </a:r>
            <a:r>
              <a:rPr sz="1200" b="1">
                <a:solidFill>
                  <a:srgbClr val="000000"/>
                </a:solidFill>
                <a:latin typeface="Times New Roman"/>
              </a:rPr>
              <a:t>Q-Learning with Z3 Safety Shielding</a:t>
            </a:r>
          </a:p>
          <a:p>
            <a:pPr>
              <a:spcBef>
                <a:spcPts val="0"/>
              </a:spcBef>
              <a:spcAft>
                <a:spcPts val="100"/>
              </a:spcAft>
            </a:pPr>
            <a:r>
              <a:rPr sz="1000" b="1">
                <a:solidFill>
                  <a:srgbClr val="000000"/>
                </a:solidFill>
                <a:latin typeface="Times New Roman"/>
              </a:rPr>
              <a:t>Require:</a:t>
            </a:r>
            <a:r>
              <a:rPr sz="1000" b="0">
                <a:solidFill>
                  <a:srgbClr val="000000"/>
                </a:solidFill>
                <a:latin typeface="Times New Roman"/>
              </a:rPr>
              <a:t> Constraint set C, DT tree T, training data (X, y)</a:t>
            </a:r>
          </a:p>
          <a:p>
            <a:pPr>
              <a:spcBef>
                <a:spcPts val="0"/>
              </a:spcBef>
              <a:spcAft>
                <a:spcPts val="100"/>
              </a:spcAft>
            </a:pPr>
            <a:r>
              <a:rPr sz="1000" b="1">
                <a:solidFill>
                  <a:srgbClr val="000000"/>
                </a:solidFill>
                <a:latin typeface="Times New Roman"/>
              </a:rPr>
              <a:t>Ensure:</a:t>
            </a:r>
            <a:r>
              <a:rPr sz="1000" b="0">
                <a:solidFill>
                  <a:srgbClr val="000000"/>
                </a:solidFill>
                <a:latin typeface="Times New Roman"/>
              </a:rPr>
              <a:t> Learned Q-table Q(s, a) with safety-verified actions</a:t>
            </a:r>
          </a:p>
          <a:p>
            <a:pPr>
              <a:spcBef>
                <a:spcPts val="0"/>
              </a:spcBef>
              <a:spcAft>
                <a:spcPts val="100"/>
              </a:spcAft>
            </a:pPr>
            <a:r>
              <a:rPr sz="1000" b="0">
                <a:solidFill>
                  <a:srgbClr val="7F8C8D"/>
                </a:solidFill>
                <a:latin typeface="Consolas"/>
              </a:rPr>
              <a:t> 1:  </a:t>
            </a:r>
            <a:r>
              <a:rPr sz="1000" b="0">
                <a:solidFill>
                  <a:srgbClr val="000000"/>
                </a:solidFill>
                <a:latin typeface="Times New Roman"/>
              </a:rPr>
              <a:t>Initialize Q(s, a) ← 0 </a:t>
            </a:r>
            <a:r>
              <a:rPr sz="1000" b="1">
                <a:solidFill>
                  <a:srgbClr val="000000"/>
                </a:solidFill>
                <a:latin typeface="Times New Roman"/>
              </a:rPr>
              <a:t>for </a:t>
            </a:r>
            <a:r>
              <a:rPr sz="1000" b="0">
                <a:solidFill>
                  <a:srgbClr val="000000"/>
                </a:solidFill>
                <a:latin typeface="Times New Roman"/>
              </a:rPr>
              <a:t>all states s, actions a ∈ {0, 1}</a:t>
            </a:r>
          </a:p>
          <a:p>
            <a:pPr>
              <a:spcBef>
                <a:spcPts val="0"/>
              </a:spcBef>
              <a:spcAft>
                <a:spcPts val="100"/>
              </a:spcAft>
            </a:pPr>
            <a:r>
              <a:rPr sz="1000" b="0">
                <a:solidFill>
                  <a:srgbClr val="7F8C8D"/>
                </a:solidFill>
                <a:latin typeface="Consolas"/>
              </a:rPr>
              <a:t> 2:  </a:t>
            </a:r>
            <a:r>
              <a:rPr sz="1000" b="0">
                <a:solidFill>
                  <a:srgbClr val="000000"/>
                </a:solidFill>
                <a:latin typeface="Times New Roman"/>
              </a:rPr>
              <a:t>ε ← 0.30, α ← 0.10, γ ← 0.90</a:t>
            </a:r>
          </a:p>
          <a:p>
            <a:pPr>
              <a:spcBef>
                <a:spcPts val="0"/>
              </a:spcBef>
              <a:spcAft>
                <a:spcPts val="100"/>
              </a:spcAft>
            </a:pPr>
            <a:r>
              <a:rPr sz="1000" b="0">
                <a:solidFill>
                  <a:srgbClr val="7F8C8D"/>
                </a:solidFill>
                <a:latin typeface="Consolas"/>
              </a:rPr>
              <a:t> 3:  </a:t>
            </a:r>
            <a:r>
              <a:rPr sz="1000" b="1">
                <a:solidFill>
                  <a:srgbClr val="000000"/>
                </a:solidFill>
                <a:latin typeface="Times New Roman"/>
              </a:rPr>
              <a:t>for </a:t>
            </a:r>
            <a:r>
              <a:rPr sz="1000" b="0">
                <a:solidFill>
                  <a:srgbClr val="000000"/>
                </a:solidFill>
                <a:latin typeface="Times New Roman"/>
              </a:rPr>
              <a:t>each episode e = 1, ..., E </a:t>
            </a:r>
            <a:r>
              <a:rPr sz="1000" b="1">
                <a:solidFill>
                  <a:srgbClr val="000000"/>
                </a:solidFill>
                <a:latin typeface="Times New Roman"/>
              </a:rPr>
              <a:t>do</a:t>
            </a:r>
          </a:p>
          <a:p>
            <a:pPr>
              <a:spcBef>
                <a:spcPts val="0"/>
              </a:spcBef>
              <a:spcAft>
                <a:spcPts val="100"/>
              </a:spcAft>
            </a:pPr>
            <a:r>
              <a:rPr sz="1000" b="0">
                <a:solidFill>
                  <a:srgbClr val="7F8C8D"/>
                </a:solidFill>
                <a:latin typeface="Consolas"/>
              </a:rPr>
              <a:t> 4:      </a:t>
            </a:r>
            <a:r>
              <a:rPr sz="1000" b="1">
                <a:solidFill>
                  <a:srgbClr val="000000"/>
                </a:solidFill>
                <a:latin typeface="Times New Roman"/>
              </a:rPr>
              <a:t>for </a:t>
            </a:r>
            <a:r>
              <a:rPr sz="1000" b="0">
                <a:solidFill>
                  <a:srgbClr val="000000"/>
                </a:solidFill>
                <a:latin typeface="Times New Roman"/>
              </a:rPr>
              <a:t>each flow x_i in training batch </a:t>
            </a:r>
            <a:r>
              <a:rPr sz="1000" b="1">
                <a:solidFill>
                  <a:srgbClr val="000000"/>
                </a:solidFill>
                <a:latin typeface="Times New Roman"/>
              </a:rPr>
              <a:t>do</a:t>
            </a:r>
          </a:p>
          <a:p>
            <a:pPr>
              <a:spcBef>
                <a:spcPts val="0"/>
              </a:spcBef>
              <a:spcAft>
                <a:spcPts val="100"/>
              </a:spcAft>
            </a:pPr>
            <a:r>
              <a:rPr sz="1000" b="0">
                <a:solidFill>
                  <a:srgbClr val="7F8C8D"/>
                </a:solidFill>
                <a:latin typeface="Consolas"/>
              </a:rPr>
              <a:t> 5:          </a:t>
            </a:r>
            <a:r>
              <a:rPr sz="1000" b="0">
                <a:solidFill>
                  <a:srgbClr val="000000"/>
                </a:solidFill>
                <a:latin typeface="Times New Roman"/>
              </a:rPr>
              <a:t>s_i ← leaf_id(T, x_i)  // DT leaf as discrete state</a:t>
            </a:r>
          </a:p>
          <a:p>
            <a:pPr>
              <a:spcBef>
                <a:spcPts val="0"/>
              </a:spcBef>
              <a:spcAft>
                <a:spcPts val="100"/>
              </a:spcAft>
            </a:pPr>
            <a:r>
              <a:rPr sz="1000" b="0">
                <a:solidFill>
                  <a:srgbClr val="7F8C8D"/>
                </a:solidFill>
                <a:latin typeface="Consolas"/>
              </a:rPr>
              <a:t> 6:          </a:t>
            </a:r>
            <a:r>
              <a:rPr sz="1000" b="1">
                <a:solidFill>
                  <a:srgbClr val="000000"/>
                </a:solidFill>
                <a:latin typeface="Times New Roman"/>
              </a:rPr>
              <a:t>if </a:t>
            </a:r>
            <a:r>
              <a:rPr sz="1000" b="0">
                <a:solidFill>
                  <a:srgbClr val="000000"/>
                </a:solidFill>
                <a:latin typeface="Times New Roman"/>
              </a:rPr>
              <a:t>ran</a:t>
            </a:r>
            <a:r>
              <a:rPr sz="1000" b="1">
                <a:solidFill>
                  <a:srgbClr val="000000"/>
                </a:solidFill>
                <a:latin typeface="Times New Roman"/>
              </a:rPr>
              <a:t>do</a:t>
            </a:r>
            <a:r>
              <a:rPr sz="1000" b="0">
                <a:solidFill>
                  <a:srgbClr val="000000"/>
                </a:solidFill>
                <a:latin typeface="Times New Roman"/>
              </a:rPr>
              <a:t>m() &lt; ε </a:t>
            </a:r>
            <a:r>
              <a:rPr sz="1000" b="1">
                <a:solidFill>
                  <a:srgbClr val="000000"/>
                </a:solidFill>
                <a:latin typeface="Times New Roman"/>
              </a:rPr>
              <a:t>then</a:t>
            </a:r>
          </a:p>
          <a:p>
            <a:pPr>
              <a:spcBef>
                <a:spcPts val="0"/>
              </a:spcBef>
              <a:spcAft>
                <a:spcPts val="100"/>
              </a:spcAft>
            </a:pPr>
            <a:r>
              <a:rPr sz="1000" b="0">
                <a:solidFill>
                  <a:srgbClr val="7F8C8D"/>
                </a:solidFill>
                <a:latin typeface="Consolas"/>
              </a:rPr>
              <a:t> 7:              </a:t>
            </a:r>
            <a:r>
              <a:rPr sz="1000" b="0">
                <a:solidFill>
                  <a:srgbClr val="000000"/>
                </a:solidFill>
                <a:latin typeface="Times New Roman"/>
              </a:rPr>
              <a:t>a_proposed ← ran</a:t>
            </a:r>
            <a:r>
              <a:rPr sz="1000" b="1">
                <a:solidFill>
                  <a:srgbClr val="000000"/>
                </a:solidFill>
                <a:latin typeface="Times New Roman"/>
              </a:rPr>
              <a:t>do</a:t>
            </a:r>
            <a:r>
              <a:rPr sz="1000" b="0">
                <a:solidFill>
                  <a:srgbClr val="000000"/>
                </a:solidFill>
                <a:latin typeface="Times New Roman"/>
              </a:rPr>
              <a:t>m_action({0, 1})  // explore</a:t>
            </a:r>
          </a:p>
          <a:p>
            <a:pPr>
              <a:spcBef>
                <a:spcPts val="0"/>
              </a:spcBef>
              <a:spcAft>
                <a:spcPts val="100"/>
              </a:spcAft>
            </a:pPr>
            <a:r>
              <a:rPr sz="1000" b="0">
                <a:solidFill>
                  <a:srgbClr val="7F8C8D"/>
                </a:solidFill>
                <a:latin typeface="Consolas"/>
              </a:rPr>
              <a:t> 8:          </a:t>
            </a:r>
            <a:r>
              <a:rPr sz="1000" b="1">
                <a:solidFill>
                  <a:srgbClr val="000000"/>
                </a:solidFill>
                <a:latin typeface="Times New Roman"/>
              </a:rPr>
              <a:t>else</a:t>
            </a:r>
          </a:p>
          <a:p>
            <a:pPr>
              <a:spcBef>
                <a:spcPts val="0"/>
              </a:spcBef>
              <a:spcAft>
                <a:spcPts val="100"/>
              </a:spcAft>
            </a:pPr>
            <a:r>
              <a:rPr sz="1000" b="0">
                <a:solidFill>
                  <a:srgbClr val="7F8C8D"/>
                </a:solidFill>
                <a:latin typeface="Consolas"/>
              </a:rPr>
              <a:t> 9:              </a:t>
            </a:r>
            <a:r>
              <a:rPr sz="1000" b="0">
                <a:solidFill>
                  <a:srgbClr val="000000"/>
                </a:solidFill>
                <a:latin typeface="Times New Roman"/>
              </a:rPr>
              <a:t>a_proposed ← argmax_a Q(s_i, a)  // exploit</a:t>
            </a:r>
          </a:p>
          <a:p>
            <a:pPr>
              <a:spcBef>
                <a:spcPts val="0"/>
              </a:spcBef>
              <a:spcAft>
                <a:spcPts val="100"/>
              </a:spcAft>
            </a:pPr>
            <a:r>
              <a:rPr sz="1000" b="0">
                <a:solidFill>
                  <a:srgbClr val="7F8C8D"/>
                </a:solidFill>
                <a:latin typeface="Consolas"/>
              </a:rPr>
              <a:t>10:          </a:t>
            </a:r>
            <a:r>
              <a:rPr sz="1000" b="1">
                <a:solidFill>
                  <a:srgbClr val="000000"/>
                </a:solidFill>
                <a:latin typeface="Times New Roman"/>
              </a:rPr>
              <a:t>end if</a:t>
            </a:r>
          </a:p>
          <a:p>
            <a:pPr>
              <a:spcBef>
                <a:spcPts val="0"/>
              </a:spcBef>
              <a:spcAft>
                <a:spcPts val="100"/>
              </a:spcAft>
            </a:pPr>
            <a:r>
              <a:rPr sz="1000" b="0">
                <a:solidFill>
                  <a:srgbClr val="7F8C8D"/>
                </a:solidFill>
                <a:latin typeface="Consolas"/>
              </a:rPr>
              <a:t>11:          </a:t>
            </a:r>
            <a:r>
              <a:rPr sz="1000" b="1">
                <a:solidFill>
                  <a:srgbClr val="000000"/>
                </a:solidFill>
                <a:latin typeface="Times New Roman"/>
              </a:rPr>
              <a:t>if </a:t>
            </a:r>
            <a:r>
              <a:rPr sz="1000" b="0">
                <a:solidFill>
                  <a:srgbClr val="000000"/>
                </a:solidFill>
                <a:latin typeface="Times New Roman"/>
              </a:rPr>
              <a:t>Z3_verify(C, x_i, a_proposed) == sat </a:t>
            </a:r>
            <a:r>
              <a:rPr sz="1000" b="1">
                <a:solidFill>
                  <a:srgbClr val="000000"/>
                </a:solidFill>
                <a:latin typeface="Times New Roman"/>
              </a:rPr>
              <a:t>then</a:t>
            </a:r>
          </a:p>
          <a:p>
            <a:pPr>
              <a:spcBef>
                <a:spcPts val="0"/>
              </a:spcBef>
              <a:spcAft>
                <a:spcPts val="100"/>
              </a:spcAft>
            </a:pPr>
            <a:r>
              <a:rPr sz="1000" b="0">
                <a:solidFill>
                  <a:srgbClr val="7F8C8D"/>
                </a:solidFill>
                <a:latin typeface="Consolas"/>
              </a:rPr>
              <a:t>12:              </a:t>
            </a:r>
            <a:r>
              <a:rPr sz="1000" b="0">
                <a:solidFill>
                  <a:srgbClr val="000000"/>
                </a:solidFill>
                <a:latin typeface="Times New Roman"/>
              </a:rPr>
              <a:t>a_i ← a_proposed  // action is safe</a:t>
            </a:r>
          </a:p>
          <a:p>
            <a:pPr>
              <a:spcBef>
                <a:spcPts val="0"/>
              </a:spcBef>
              <a:spcAft>
                <a:spcPts val="100"/>
              </a:spcAft>
            </a:pPr>
            <a:r>
              <a:rPr sz="1000" b="0">
                <a:solidFill>
                  <a:srgbClr val="7F8C8D"/>
                </a:solidFill>
                <a:latin typeface="Consolas"/>
              </a:rPr>
              <a:t>13:          </a:t>
            </a:r>
            <a:r>
              <a:rPr sz="1000" b="1">
                <a:solidFill>
                  <a:srgbClr val="000000"/>
                </a:solidFill>
                <a:latin typeface="Times New Roman"/>
              </a:rPr>
              <a:t>else</a:t>
            </a:r>
          </a:p>
          <a:p>
            <a:pPr>
              <a:spcBef>
                <a:spcPts val="0"/>
              </a:spcBef>
              <a:spcAft>
                <a:spcPts val="100"/>
              </a:spcAft>
            </a:pPr>
            <a:r>
              <a:rPr sz="1000" b="0">
                <a:solidFill>
                  <a:srgbClr val="7F8C8D"/>
                </a:solidFill>
                <a:latin typeface="Consolas"/>
              </a:rPr>
              <a:t>14:              </a:t>
            </a:r>
            <a:r>
              <a:rPr sz="1000" b="0">
                <a:solidFill>
                  <a:srgbClr val="000000"/>
                </a:solidFill>
                <a:latin typeface="Times New Roman"/>
              </a:rPr>
              <a:t>a_i ← 1 - a_proposed  // safety shield override</a:t>
            </a:r>
          </a:p>
          <a:p>
            <a:pPr>
              <a:spcBef>
                <a:spcPts val="0"/>
              </a:spcBef>
              <a:spcAft>
                <a:spcPts val="100"/>
              </a:spcAft>
            </a:pPr>
            <a:r>
              <a:rPr sz="1000" b="0">
                <a:solidFill>
                  <a:srgbClr val="7F8C8D"/>
                </a:solidFill>
                <a:latin typeface="Consolas"/>
              </a:rPr>
              <a:t>15:          </a:t>
            </a:r>
            <a:r>
              <a:rPr sz="1000" b="1">
                <a:solidFill>
                  <a:srgbClr val="000000"/>
                </a:solidFill>
                <a:latin typeface="Times New Roman"/>
              </a:rPr>
              <a:t>end if</a:t>
            </a:r>
          </a:p>
          <a:p>
            <a:pPr>
              <a:spcBef>
                <a:spcPts val="0"/>
              </a:spcBef>
              <a:spcAft>
                <a:spcPts val="100"/>
              </a:spcAft>
            </a:pPr>
            <a:r>
              <a:rPr sz="1000" b="0">
                <a:solidFill>
                  <a:srgbClr val="7F8C8D"/>
                </a:solidFill>
                <a:latin typeface="Consolas"/>
              </a:rPr>
              <a:t>16:          </a:t>
            </a:r>
            <a:r>
              <a:rPr sz="1000" b="0">
                <a:solidFill>
                  <a:srgbClr val="000000"/>
                </a:solidFill>
                <a:latin typeface="Times New Roman"/>
              </a:rPr>
              <a:t>r_i ← Reward(a_i, y_i)  // TP:+2, FN:-4, TN:+1, FP:-1.5</a:t>
            </a:r>
          </a:p>
          <a:p>
            <a:pPr>
              <a:spcBef>
                <a:spcPts val="0"/>
              </a:spcBef>
              <a:spcAft>
                <a:spcPts val="100"/>
              </a:spcAft>
            </a:pPr>
            <a:r>
              <a:rPr sz="1000" b="0">
                <a:solidFill>
                  <a:srgbClr val="7F8C8D"/>
                </a:solidFill>
                <a:latin typeface="Consolas"/>
              </a:rPr>
              <a:t>17:          </a:t>
            </a:r>
            <a:r>
              <a:rPr sz="1000" b="1">
                <a:solidFill>
                  <a:srgbClr val="000000"/>
                </a:solidFill>
                <a:latin typeface="Times New Roman"/>
              </a:rPr>
              <a:t>if </a:t>
            </a:r>
            <a:r>
              <a:rPr sz="1000" b="0">
                <a:solidFill>
                  <a:srgbClr val="000000"/>
                </a:solidFill>
                <a:latin typeface="Times New Roman"/>
              </a:rPr>
              <a:t>Z3_verify passed </a:t>
            </a:r>
            <a:r>
              <a:rPr sz="1000" b="1">
                <a:solidFill>
                  <a:srgbClr val="000000"/>
                </a:solidFill>
                <a:latin typeface="Times New Roman"/>
              </a:rPr>
              <a:t>then</a:t>
            </a:r>
            <a:r>
              <a:rPr sz="1000" b="0">
                <a:solidFill>
                  <a:srgbClr val="000000"/>
                </a:solidFill>
                <a:latin typeface="Times New Roman"/>
              </a:rPr>
              <a:t> r_i ← r_i + 1.0  // shield bonus</a:t>
            </a:r>
          </a:p>
          <a:p>
            <a:pPr>
              <a:spcBef>
                <a:spcPts val="0"/>
              </a:spcBef>
              <a:spcAft>
                <a:spcPts val="100"/>
              </a:spcAft>
            </a:pPr>
            <a:r>
              <a:rPr sz="1000" b="0">
                <a:solidFill>
                  <a:srgbClr val="7F8C8D"/>
                </a:solidFill>
                <a:latin typeface="Consolas"/>
              </a:rPr>
              <a:t>18:          </a:t>
            </a:r>
            <a:r>
              <a:rPr sz="1000" b="0">
                <a:solidFill>
                  <a:srgbClr val="000000"/>
                </a:solidFill>
                <a:latin typeface="Times New Roman"/>
              </a:rPr>
              <a:t>Q(s_i, a_i) ← Q(s_i, a_i) + α[r_i + γ·max_a Q(s', a) - Q(s_i, a_i)]</a:t>
            </a:r>
          </a:p>
          <a:p>
            <a:pPr>
              <a:spcBef>
                <a:spcPts val="0"/>
              </a:spcBef>
              <a:spcAft>
                <a:spcPts val="100"/>
              </a:spcAft>
            </a:pPr>
            <a:r>
              <a:rPr sz="1000" b="0">
                <a:solidFill>
                  <a:srgbClr val="7F8C8D"/>
                </a:solidFill>
                <a:latin typeface="Consolas"/>
              </a:rPr>
              <a:t>19:      </a:t>
            </a:r>
            <a:r>
              <a:rPr sz="1000" b="1">
                <a:solidFill>
                  <a:srgbClr val="000000"/>
                </a:solidFill>
                <a:latin typeface="Times New Roman"/>
              </a:rPr>
              <a:t>end for</a:t>
            </a:r>
          </a:p>
          <a:p>
            <a:pPr>
              <a:spcBef>
                <a:spcPts val="0"/>
              </a:spcBef>
              <a:spcAft>
                <a:spcPts val="100"/>
              </a:spcAft>
            </a:pPr>
            <a:r>
              <a:rPr sz="1000" b="0">
                <a:solidFill>
                  <a:srgbClr val="7F8C8D"/>
                </a:solidFill>
                <a:latin typeface="Consolas"/>
              </a:rPr>
              <a:t>20:      </a:t>
            </a:r>
            <a:r>
              <a:rPr sz="1000" b="0">
                <a:solidFill>
                  <a:srgbClr val="000000"/>
                </a:solidFill>
                <a:latin typeface="Times New Roman"/>
              </a:rPr>
              <a:t>ε ← ε × 0.997  // decay exploration</a:t>
            </a:r>
          </a:p>
          <a:p>
            <a:pPr>
              <a:spcBef>
                <a:spcPts val="0"/>
              </a:spcBef>
              <a:spcAft>
                <a:spcPts val="100"/>
              </a:spcAft>
            </a:pPr>
            <a:r>
              <a:rPr sz="1000" b="0">
                <a:solidFill>
                  <a:srgbClr val="7F8C8D"/>
                </a:solidFill>
                <a:latin typeface="Consolas"/>
              </a:rPr>
              <a:t>21:  </a:t>
            </a:r>
            <a:r>
              <a:rPr sz="1000" b="1">
                <a:solidFill>
                  <a:srgbClr val="000000"/>
                </a:solidFill>
                <a:latin typeface="Times New Roman"/>
              </a:rPr>
              <a:t>end for</a:t>
            </a:r>
          </a:p>
          <a:p>
            <a:pPr>
              <a:spcBef>
                <a:spcPts val="0"/>
              </a:spcBef>
              <a:spcAft>
                <a:spcPts val="100"/>
              </a:spcAft>
            </a:pPr>
            <a:r>
              <a:rPr sz="1000" b="0">
                <a:solidFill>
                  <a:srgbClr val="7F8C8D"/>
                </a:solidFill>
                <a:latin typeface="Consolas"/>
              </a:rPr>
              <a:t>22:  </a:t>
            </a:r>
            <a:r>
              <a:rPr sz="1000" b="1">
                <a:solidFill>
                  <a:srgbClr val="000000"/>
                </a:solidFill>
                <a:latin typeface="Times New Roman"/>
              </a:rPr>
              <a:t>return </a:t>
            </a:r>
            <a:r>
              <a:rPr sz="1000" b="0">
                <a:solidFill>
                  <a:srgbClr val="000000"/>
                </a:solidFill>
                <a:latin typeface="Times New Roman"/>
              </a:rPr>
              <a:t>Q</a:t>
            </a:r>
          </a:p>
        </p:txBody>
      </p:sp>
      <p:pic>
        <p:nvPicPr>
          <p:cNvPr id="5" name="Picture 4" descr="image.png"/>
          <p:cNvPicPr>
            <a:picLocks noChangeAspect="1"/>
          </p:cNvPicPr>
          <p:nvPr/>
        </p:nvPicPr>
        <p:blipFill>
          <a:blip r:embed="rId2"/>
          <a:stretch>
            <a:fillRect/>
          </a:stretch>
        </p:blipFill>
        <p:spPr>
          <a:xfrm>
            <a:off x="7772400" y="640080"/>
            <a:ext cx="4114800" cy="874395"/>
          </a:xfrm>
          <a:prstGeom prst="rect">
            <a:avLst/>
          </a:prstGeom>
        </p:spPr>
      </p:pic>
      <p:sp>
        <p:nvSpPr>
          <p:cNvPr id="6" name="TextBox 5"/>
          <p:cNvSpPr txBox="1"/>
          <p:nvPr/>
        </p:nvSpPr>
        <p:spPr>
          <a:xfrm>
            <a:off x="7772400" y="2286000"/>
            <a:ext cx="4114800" cy="2743200"/>
          </a:xfrm>
          <a:prstGeom prst="rect">
            <a:avLst/>
          </a:prstGeom>
          <a:noFill/>
        </p:spPr>
        <p:txBody>
          <a:bodyPr wrap="square">
            <a:spAutoFit/>
          </a:bodyPr>
          <a:lstStyle/>
          <a:p>
            <a:pPr>
              <a:spcAft>
                <a:spcPts val="400"/>
              </a:spcAft>
              <a:defRPr sz="1100" b="0">
                <a:solidFill>
                  <a:srgbClr val="000000"/>
                </a:solidFill>
                <a:latin typeface="Calibri"/>
              </a:defRPr>
            </a:pPr>
            <a:r>
              <a:t>•  A tabular Q-learning agent uses DT leaf IDs as discrete states and {ALLOW=0, BLOCK=1} as actions, learning from asymmetric rewards: FN penalty (−4) exceeds FP penalty (−1.5) to prioritize attack detection.</a:t>
            </a:r>
          </a:p>
          <a:p>
            <a:pPr>
              <a:spcAft>
                <a:spcPts val="400"/>
              </a:spcAft>
              <a:defRPr sz="1100" b="0">
                <a:solidFill>
                  <a:srgbClr val="000000"/>
                </a:solidFill>
                <a:latin typeface="Calibri"/>
              </a:defRPr>
            </a:pPr>
            <a:r>
              <a:t>•  Every proposed action is verified against the Z3 constraint set—if unsafe (unsat), the safety shield overrides it with the alternative action.</a:t>
            </a:r>
          </a:p>
          <a:p>
            <a:pPr>
              <a:spcAft>
                <a:spcPts val="400"/>
              </a:spcAft>
              <a:defRPr sz="1100" b="0">
                <a:solidFill>
                  <a:srgbClr val="000000"/>
                </a:solidFill>
                <a:latin typeface="Calibri"/>
              </a:defRPr>
            </a:pPr>
            <a:r>
              <a:t>•  Epsilon-greedy exploration (ε=0.30, decay=0.997) balances discovery with exploitation; a +1.0 shield bonus incentivizes Z3-consistent behavior.</a:t>
            </a:r>
          </a:p>
          <a:p>
            <a:pPr>
              <a:spcAft>
                <a:spcPts val="400"/>
              </a:spcAft>
              <a:defRPr sz="1100" b="0">
                <a:solidFill>
                  <a:srgbClr val="000000"/>
                </a:solidFill>
                <a:latin typeface="Calibri"/>
              </a:defRPr>
            </a:pPr>
            <a:r>
              <a:t>•  Sequential bottleneck: Q-table updates within each episode are sequential (shared state), but episodes across datasets run in parallel.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274320" y="137160"/>
            <a:ext cx="11430000" cy="457200"/>
          </a:xfrm>
          <a:prstGeom prst="rect">
            <a:avLst/>
          </a:prstGeom>
          <a:noFill/>
        </p:spPr>
        <p:txBody>
          <a:bodyPr wrap="square">
            <a:spAutoFit/>
          </a:bodyPr>
          <a:lstStyle/>
          <a:p>
            <a:pPr algn="l">
              <a:defRPr sz="2400" b="1">
                <a:solidFill>
                  <a:srgbClr val="C0392B"/>
                </a:solidFill>
                <a:latin typeface="Calibri"/>
              </a:defRPr>
            </a:pPr>
            <a:r>
              <a:t>Stage 5: DBSCAN Novel Attack Pattern Detection</a:t>
            </a:r>
          </a:p>
        </p:txBody>
      </p:sp>
      <p:sp>
        <p:nvSpPr>
          <p:cNvPr id="3" name="Rectangle 2"/>
          <p:cNvSpPr/>
          <p:nvPr/>
        </p:nvSpPr>
        <p:spPr>
          <a:xfrm>
            <a:off x="274320" y="640080"/>
            <a:ext cx="7132320" cy="4846320"/>
          </a:xfrm>
          <a:prstGeom prst="rect">
            <a:avLst/>
          </a:prstGeom>
          <a:solidFill>
            <a:srgbClr val="F7F9FB"/>
          </a:solidFill>
          <a:ln w="19050">
            <a:solidFill>
              <a:srgbClr val="3449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685800"/>
            <a:ext cx="6858000" cy="4754880"/>
          </a:xfrm>
          <a:prstGeom prst="rect">
            <a:avLst/>
          </a:prstGeom>
          <a:noFill/>
        </p:spPr>
        <p:txBody>
          <a:bodyPr wrap="square">
            <a:spAutoFit/>
          </a:bodyPr>
          <a:lstStyle/>
          <a:p>
            <a:pPr>
              <a:spcAft>
                <a:spcPts val="300"/>
              </a:spcAft>
            </a:pPr>
            <a:r>
              <a:rPr sz="1200" b="1" i="1">
                <a:solidFill>
                  <a:srgbClr val="000000"/>
                </a:solidFill>
                <a:latin typeface="Times New Roman"/>
              </a:rPr>
              <a:t>Algorithm 6: </a:t>
            </a:r>
            <a:r>
              <a:rPr sz="1200" b="1">
                <a:solidFill>
                  <a:srgbClr val="000000"/>
                </a:solidFill>
                <a:latin typeface="Times New Roman"/>
              </a:rPr>
              <a:t>DBSCAN Novel Pattern Detection &amp; Constraint Generation</a:t>
            </a:r>
          </a:p>
          <a:p>
            <a:pPr>
              <a:spcBef>
                <a:spcPts val="0"/>
              </a:spcBef>
              <a:spcAft>
                <a:spcPts val="100"/>
              </a:spcAft>
            </a:pPr>
            <a:r>
              <a:rPr sz="1000" b="1">
                <a:solidFill>
                  <a:srgbClr val="000000"/>
                </a:solidFill>
                <a:latin typeface="Times New Roman"/>
              </a:rPr>
              <a:t>Require:</a:t>
            </a:r>
            <a:r>
              <a:rPr sz="1000" b="0">
                <a:solidFill>
                  <a:srgbClr val="000000"/>
                </a:solidFill>
                <a:latin typeface="Times New Roman"/>
              </a:rPr>
              <a:t> Misclassified flows M = {x_i : ŷ_i ≠ y_i}, constraint set C, ε=1.5, minPts=5</a:t>
            </a:r>
          </a:p>
          <a:p>
            <a:pPr>
              <a:spcBef>
                <a:spcPts val="0"/>
              </a:spcBef>
              <a:spcAft>
                <a:spcPts val="100"/>
              </a:spcAft>
            </a:pPr>
            <a:r>
              <a:rPr sz="1000" b="1">
                <a:solidFill>
                  <a:srgbClr val="000000"/>
                </a:solidFill>
                <a:latin typeface="Times New Roman"/>
              </a:rPr>
              <a:t>Ensure:</a:t>
            </a:r>
            <a:r>
              <a:rPr sz="1000" b="0">
                <a:solidFill>
                  <a:srgbClr val="000000"/>
                </a:solidFill>
                <a:latin typeface="Times New Roman"/>
              </a:rPr>
              <a:t> Updated constraint set C' = C ∪ C_novel</a:t>
            </a:r>
          </a:p>
          <a:p>
            <a:pPr>
              <a:spcBef>
                <a:spcPts val="0"/>
              </a:spcBef>
              <a:spcAft>
                <a:spcPts val="100"/>
              </a:spcAft>
            </a:pPr>
            <a:r>
              <a:rPr sz="1000" b="0">
                <a:solidFill>
                  <a:srgbClr val="7F8C8D"/>
                </a:solidFill>
                <a:latin typeface="Consolas"/>
              </a:rPr>
              <a:t> 1:  </a:t>
            </a:r>
            <a:r>
              <a:rPr sz="1000" b="1">
                <a:solidFill>
                  <a:srgbClr val="000000"/>
                </a:solidFill>
                <a:latin typeface="Times New Roman"/>
              </a:rPr>
              <a:t>if </a:t>
            </a:r>
            <a:r>
              <a:rPr sz="1000" b="0">
                <a:solidFill>
                  <a:srgbClr val="000000"/>
                </a:solidFill>
                <a:latin typeface="Times New Roman"/>
              </a:rPr>
              <a:t>|M| &lt; minPts </a:t>
            </a:r>
            <a:r>
              <a:rPr sz="1000" b="1">
                <a:solidFill>
                  <a:srgbClr val="000000"/>
                </a:solidFill>
                <a:latin typeface="Times New Roman"/>
              </a:rPr>
              <a:t>then</a:t>
            </a:r>
            <a:r>
              <a:rPr sz="1000" b="0">
                <a:solidFill>
                  <a:srgbClr val="000000"/>
                </a:solidFill>
                <a:latin typeface="Times New Roman"/>
              </a:rPr>
              <a:t> </a:t>
            </a:r>
            <a:r>
              <a:rPr sz="1000" b="1">
                <a:solidFill>
                  <a:srgbClr val="000000"/>
                </a:solidFill>
                <a:latin typeface="Times New Roman"/>
              </a:rPr>
              <a:t>return </a:t>
            </a:r>
            <a:r>
              <a:rPr sz="1000" b="0">
                <a:solidFill>
                  <a:srgbClr val="000000"/>
                </a:solidFill>
                <a:latin typeface="Times New Roman"/>
              </a:rPr>
              <a:t>C  // insufficient data</a:t>
            </a:r>
          </a:p>
          <a:p>
            <a:pPr>
              <a:spcBef>
                <a:spcPts val="0"/>
              </a:spcBef>
              <a:spcAft>
                <a:spcPts val="100"/>
              </a:spcAft>
            </a:pPr>
            <a:r>
              <a:rPr sz="1000" b="0">
                <a:solidFill>
                  <a:srgbClr val="7F8C8D"/>
                </a:solidFill>
                <a:latin typeface="Consolas"/>
              </a:rPr>
              <a:t> 2:  </a:t>
            </a:r>
            <a:r>
              <a:rPr sz="1000" b="0">
                <a:solidFill>
                  <a:srgbClr val="000000"/>
                </a:solidFill>
                <a:latin typeface="Times New Roman"/>
              </a:rPr>
              <a:t>clusters ← DBSCAN(M, ε=1.5, min_samples=5)</a:t>
            </a:r>
          </a:p>
          <a:p>
            <a:pPr>
              <a:spcBef>
                <a:spcPts val="0"/>
              </a:spcBef>
              <a:spcAft>
                <a:spcPts val="100"/>
              </a:spcAft>
            </a:pPr>
            <a:r>
              <a:rPr sz="1000" b="0">
                <a:solidFill>
                  <a:srgbClr val="7F8C8D"/>
                </a:solidFill>
                <a:latin typeface="Consolas"/>
              </a:rPr>
              <a:t> 3:  </a:t>
            </a:r>
            <a:r>
              <a:rPr sz="1000" b="0">
                <a:solidFill>
                  <a:srgbClr val="000000"/>
                </a:solidFill>
                <a:latin typeface="Times New Roman"/>
              </a:rPr>
              <a:t>C_novel ← ∅</a:t>
            </a:r>
          </a:p>
          <a:p>
            <a:pPr>
              <a:spcBef>
                <a:spcPts val="0"/>
              </a:spcBef>
              <a:spcAft>
                <a:spcPts val="100"/>
              </a:spcAft>
            </a:pPr>
            <a:r>
              <a:rPr sz="1000" b="0">
                <a:solidFill>
                  <a:srgbClr val="7F8C8D"/>
                </a:solidFill>
                <a:latin typeface="Consolas"/>
              </a:rPr>
              <a:t> 4:  </a:t>
            </a:r>
            <a:r>
              <a:rPr sz="1000" b="1">
                <a:solidFill>
                  <a:srgbClr val="000000"/>
                </a:solidFill>
                <a:latin typeface="Times New Roman"/>
              </a:rPr>
              <a:t>for </a:t>
            </a:r>
            <a:r>
              <a:rPr sz="1000" b="0">
                <a:solidFill>
                  <a:srgbClr val="000000"/>
                </a:solidFill>
                <a:latin typeface="Times New Roman"/>
              </a:rPr>
              <a:t>each cluster K_m ∈ clusters (excluding noise) </a:t>
            </a:r>
            <a:r>
              <a:rPr sz="1000" b="1">
                <a:solidFill>
                  <a:srgbClr val="000000"/>
                </a:solidFill>
                <a:latin typeface="Times New Roman"/>
              </a:rPr>
              <a:t>do</a:t>
            </a:r>
          </a:p>
          <a:p>
            <a:pPr>
              <a:spcBef>
                <a:spcPts val="0"/>
              </a:spcBef>
              <a:spcAft>
                <a:spcPts val="100"/>
              </a:spcAft>
            </a:pPr>
            <a:r>
              <a:rPr sz="1000" b="0">
                <a:solidFill>
                  <a:srgbClr val="7F8C8D"/>
                </a:solidFill>
                <a:latin typeface="Consolas"/>
              </a:rPr>
              <a:t> 5:      </a:t>
            </a:r>
            <a:r>
              <a:rPr sz="1000" b="0">
                <a:solidFill>
                  <a:srgbClr val="000000"/>
                </a:solidFill>
                <a:latin typeface="Times New Roman"/>
              </a:rPr>
              <a:t>μ_m ← centroid(K_m)  // mean feature vector</a:t>
            </a:r>
          </a:p>
          <a:p>
            <a:pPr>
              <a:spcBef>
                <a:spcPts val="0"/>
              </a:spcBef>
              <a:spcAft>
                <a:spcPts val="100"/>
              </a:spcAft>
            </a:pPr>
            <a:r>
              <a:rPr sz="1000" b="0">
                <a:solidFill>
                  <a:srgbClr val="7F8C8D"/>
                </a:solidFill>
                <a:latin typeface="Consolas"/>
              </a:rPr>
              <a:t> 6:      </a:t>
            </a:r>
            <a:r>
              <a:rPr sz="1000" b="0">
                <a:solidFill>
                  <a:srgbClr val="000000"/>
                </a:solidFill>
                <a:latin typeface="Times New Roman"/>
              </a:rPr>
              <a:t>σ_m ← std(K_m)  // feature-wise standard deviation</a:t>
            </a:r>
          </a:p>
          <a:p>
            <a:pPr>
              <a:spcBef>
                <a:spcPts val="0"/>
              </a:spcBef>
              <a:spcAft>
                <a:spcPts val="100"/>
              </a:spcAft>
            </a:pPr>
            <a:r>
              <a:rPr sz="1000" b="0">
                <a:solidFill>
                  <a:srgbClr val="7F8C8D"/>
                </a:solidFill>
                <a:latin typeface="Consolas"/>
              </a:rPr>
              <a:t> 7:      </a:t>
            </a:r>
            <a:r>
              <a:rPr sz="1000" b="1">
                <a:solidFill>
                  <a:srgbClr val="000000"/>
                </a:solidFill>
                <a:latin typeface="Times New Roman"/>
              </a:rPr>
              <a:t>for </a:t>
            </a:r>
            <a:r>
              <a:rPr sz="1000" b="0">
                <a:solidFill>
                  <a:srgbClr val="000000"/>
                </a:solidFill>
                <a:latin typeface="Times New Roman"/>
              </a:rPr>
              <a:t>each feature j = 1, ..., 7 </a:t>
            </a:r>
            <a:r>
              <a:rPr sz="1000" b="1">
                <a:solidFill>
                  <a:srgbClr val="000000"/>
                </a:solidFill>
                <a:latin typeface="Times New Roman"/>
              </a:rPr>
              <a:t>do</a:t>
            </a:r>
          </a:p>
          <a:p>
            <a:pPr>
              <a:spcBef>
                <a:spcPts val="0"/>
              </a:spcBef>
              <a:spcAft>
                <a:spcPts val="100"/>
              </a:spcAft>
            </a:pPr>
            <a:r>
              <a:rPr sz="1000" b="0">
                <a:solidFill>
                  <a:srgbClr val="7F8C8D"/>
                </a:solidFill>
                <a:latin typeface="Consolas"/>
              </a:rPr>
              <a:t> 8:          </a:t>
            </a:r>
            <a:r>
              <a:rPr sz="1000" b="0">
                <a:solidFill>
                  <a:srgbClr val="000000"/>
                </a:solidFill>
                <a:latin typeface="Times New Roman"/>
              </a:rPr>
              <a:t>φ_j ← And( Real(f_j) ≥ μ_m[j] - 2σ_m[j],</a:t>
            </a:r>
          </a:p>
          <a:p>
            <a:pPr>
              <a:spcBef>
                <a:spcPts val="0"/>
              </a:spcBef>
              <a:spcAft>
                <a:spcPts val="100"/>
              </a:spcAft>
            </a:pPr>
            <a:r>
              <a:rPr sz="1000" b="0">
                <a:solidFill>
                  <a:srgbClr val="7F8C8D"/>
                </a:solidFill>
                <a:latin typeface="Consolas"/>
              </a:rPr>
              <a:t> 9:          </a:t>
            </a:r>
            <a:r>
              <a:rPr sz="1000" b="0">
                <a:solidFill>
                  <a:srgbClr val="000000"/>
                </a:solidFill>
                <a:latin typeface="Times New Roman"/>
              </a:rPr>
              <a:t>            Real(f_j) ≤ μ_m[j] + 2σ_m[j] )</a:t>
            </a:r>
          </a:p>
          <a:p>
            <a:pPr>
              <a:spcBef>
                <a:spcPts val="0"/>
              </a:spcBef>
              <a:spcAft>
                <a:spcPts val="100"/>
              </a:spcAft>
            </a:pPr>
            <a:r>
              <a:rPr sz="1000" b="0">
                <a:solidFill>
                  <a:srgbClr val="7F8C8D"/>
                </a:solidFill>
                <a:latin typeface="Consolas"/>
              </a:rPr>
              <a:t>10:      </a:t>
            </a:r>
            <a:r>
              <a:rPr sz="1000" b="1">
                <a:solidFill>
                  <a:srgbClr val="000000"/>
                </a:solidFill>
                <a:latin typeface="Times New Roman"/>
              </a:rPr>
              <a:t>end for</a:t>
            </a:r>
          </a:p>
          <a:p>
            <a:pPr>
              <a:spcBef>
                <a:spcPts val="0"/>
              </a:spcBef>
              <a:spcAft>
                <a:spcPts val="100"/>
              </a:spcAft>
            </a:pPr>
            <a:r>
              <a:rPr sz="1000" b="0">
                <a:solidFill>
                  <a:srgbClr val="7F8C8D"/>
                </a:solidFill>
                <a:latin typeface="Consolas"/>
              </a:rPr>
              <a:t>11:      </a:t>
            </a:r>
            <a:r>
              <a:rPr sz="1000" b="0">
                <a:solidFill>
                  <a:srgbClr val="000000"/>
                </a:solidFill>
                <a:latin typeface="Times New Roman"/>
              </a:rPr>
              <a:t>φ_novel ← Implies( And(φ_1,...,φ_7), action == majority_class(K_m) )</a:t>
            </a:r>
          </a:p>
          <a:p>
            <a:pPr>
              <a:spcBef>
                <a:spcPts val="0"/>
              </a:spcBef>
              <a:spcAft>
                <a:spcPts val="100"/>
              </a:spcAft>
            </a:pPr>
            <a:r>
              <a:rPr sz="1000" b="0">
                <a:solidFill>
                  <a:srgbClr val="7F8C8D"/>
                </a:solidFill>
                <a:latin typeface="Consolas"/>
              </a:rPr>
              <a:t>12:      </a:t>
            </a:r>
            <a:r>
              <a:rPr sz="1000" b="1">
                <a:solidFill>
                  <a:srgbClr val="000000"/>
                </a:solidFill>
                <a:latin typeface="Times New Roman"/>
              </a:rPr>
              <a:t>if </a:t>
            </a:r>
            <a:r>
              <a:rPr sz="1000" b="0">
                <a:solidFill>
                  <a:srgbClr val="000000"/>
                </a:solidFill>
                <a:latin typeface="Times New Roman"/>
              </a:rPr>
              <a:t>solver.check(C ∪ {φ_novel}) == sat </a:t>
            </a:r>
            <a:r>
              <a:rPr sz="1000" b="1">
                <a:solidFill>
                  <a:srgbClr val="000000"/>
                </a:solidFill>
                <a:latin typeface="Times New Roman"/>
              </a:rPr>
              <a:t>then</a:t>
            </a:r>
          </a:p>
          <a:p>
            <a:pPr>
              <a:spcBef>
                <a:spcPts val="0"/>
              </a:spcBef>
              <a:spcAft>
                <a:spcPts val="100"/>
              </a:spcAft>
            </a:pPr>
            <a:r>
              <a:rPr sz="1000" b="0">
                <a:solidFill>
                  <a:srgbClr val="7F8C8D"/>
                </a:solidFill>
                <a:latin typeface="Consolas"/>
              </a:rPr>
              <a:t>13:          </a:t>
            </a:r>
            <a:r>
              <a:rPr sz="1000" b="0">
                <a:solidFill>
                  <a:srgbClr val="000000"/>
                </a:solidFill>
                <a:latin typeface="Times New Roman"/>
              </a:rPr>
              <a:t>C_novel ← C_novel ∪ {φ_novel}</a:t>
            </a:r>
          </a:p>
          <a:p>
            <a:pPr>
              <a:spcBef>
                <a:spcPts val="0"/>
              </a:spcBef>
              <a:spcAft>
                <a:spcPts val="100"/>
              </a:spcAft>
            </a:pPr>
            <a:r>
              <a:rPr sz="1000" b="0">
                <a:solidFill>
                  <a:srgbClr val="7F8C8D"/>
                </a:solidFill>
                <a:latin typeface="Consolas"/>
              </a:rPr>
              <a:t>14:      </a:t>
            </a:r>
            <a:r>
              <a:rPr sz="1000" b="1">
                <a:solidFill>
                  <a:srgbClr val="000000"/>
                </a:solidFill>
                <a:latin typeface="Times New Roman"/>
              </a:rPr>
              <a:t>end if</a:t>
            </a:r>
          </a:p>
          <a:p>
            <a:pPr>
              <a:spcBef>
                <a:spcPts val="0"/>
              </a:spcBef>
              <a:spcAft>
                <a:spcPts val="100"/>
              </a:spcAft>
            </a:pPr>
            <a:r>
              <a:rPr sz="1000" b="0">
                <a:solidFill>
                  <a:srgbClr val="7F8C8D"/>
                </a:solidFill>
                <a:latin typeface="Consolas"/>
              </a:rPr>
              <a:t>15:  </a:t>
            </a:r>
            <a:r>
              <a:rPr sz="1000" b="1">
                <a:solidFill>
                  <a:srgbClr val="000000"/>
                </a:solidFill>
                <a:latin typeface="Times New Roman"/>
              </a:rPr>
              <a:t>end for</a:t>
            </a:r>
          </a:p>
          <a:p>
            <a:pPr>
              <a:spcBef>
                <a:spcPts val="0"/>
              </a:spcBef>
              <a:spcAft>
                <a:spcPts val="100"/>
              </a:spcAft>
            </a:pPr>
            <a:r>
              <a:rPr sz="1000" b="0">
                <a:solidFill>
                  <a:srgbClr val="7F8C8D"/>
                </a:solidFill>
                <a:latin typeface="Consolas"/>
              </a:rPr>
              <a:t>16:  </a:t>
            </a:r>
            <a:r>
              <a:rPr sz="1000" b="1">
                <a:solidFill>
                  <a:srgbClr val="000000"/>
                </a:solidFill>
                <a:latin typeface="Times New Roman"/>
              </a:rPr>
              <a:t>return </a:t>
            </a:r>
            <a:r>
              <a:rPr sz="1000" b="0">
                <a:solidFill>
                  <a:srgbClr val="000000"/>
                </a:solidFill>
                <a:latin typeface="Times New Roman"/>
              </a:rPr>
              <a:t>C' = C ∪ C_novel</a:t>
            </a:r>
          </a:p>
        </p:txBody>
      </p:sp>
      <p:pic>
        <p:nvPicPr>
          <p:cNvPr id="5" name="Picture 4" descr="image.png"/>
          <p:cNvPicPr>
            <a:picLocks noChangeAspect="1"/>
          </p:cNvPicPr>
          <p:nvPr/>
        </p:nvPicPr>
        <p:blipFill>
          <a:blip r:embed="rId2"/>
          <a:stretch>
            <a:fillRect/>
          </a:stretch>
        </p:blipFill>
        <p:spPr>
          <a:xfrm>
            <a:off x="7589520" y="640080"/>
            <a:ext cx="4114800" cy="1452906"/>
          </a:xfrm>
          <a:prstGeom prst="rect">
            <a:avLst/>
          </a:prstGeom>
        </p:spPr>
      </p:pic>
      <p:sp>
        <p:nvSpPr>
          <p:cNvPr id="6" name="TextBox 5"/>
          <p:cNvSpPr txBox="1"/>
          <p:nvPr/>
        </p:nvSpPr>
        <p:spPr>
          <a:xfrm>
            <a:off x="7589520" y="2560320"/>
            <a:ext cx="4297680" cy="2743200"/>
          </a:xfrm>
          <a:prstGeom prst="rect">
            <a:avLst/>
          </a:prstGeom>
          <a:noFill/>
        </p:spPr>
        <p:txBody>
          <a:bodyPr wrap="square">
            <a:spAutoFit/>
          </a:bodyPr>
          <a:lstStyle/>
          <a:p>
            <a:pPr>
              <a:spcAft>
                <a:spcPts val="400"/>
              </a:spcAft>
              <a:defRPr sz="1100" b="0">
                <a:solidFill>
                  <a:srgbClr val="000000"/>
                </a:solidFill>
                <a:latin typeface="Calibri"/>
              </a:defRPr>
            </a:pPr>
            <a:r>
              <a:t>•  Collects misclassified flows and applies DBSCAN density-based clustering (ε=1.5, minPts=5) to discover previously unseen attack patterns.</a:t>
            </a:r>
          </a:p>
          <a:p>
            <a:pPr>
              <a:spcAft>
                <a:spcPts val="400"/>
              </a:spcAft>
              <a:defRPr sz="1100" b="0">
                <a:solidFill>
                  <a:srgbClr val="000000"/>
                </a:solidFill>
                <a:latin typeface="Calibri"/>
              </a:defRPr>
            </a:pPr>
            <a:r>
              <a:t>•  Each cluster is converted into a Z3 constraint using centroid ± 2σ per feature, then added after satisfiability verification.</a:t>
            </a:r>
          </a:p>
          <a:p>
            <a:pPr>
              <a:spcAft>
                <a:spcPts val="400"/>
              </a:spcAft>
              <a:defRPr sz="1100" b="0">
                <a:solidFill>
                  <a:srgbClr val="000000"/>
                </a:solidFill>
                <a:latin typeface="Calibri"/>
              </a:defRPr>
            </a:pPr>
            <a:r>
              <a:t>•  Noise points (not in any cluster) are discarded—only dense groups generate new constraints, reducing false pattern creation.</a:t>
            </a:r>
          </a:p>
          <a:p>
            <a:pPr>
              <a:spcAft>
                <a:spcPts val="400"/>
              </a:spcAft>
              <a:defRPr sz="1100" b="0">
                <a:solidFill>
                  <a:srgbClr val="000000"/>
                </a:solidFill>
                <a:latin typeface="Calibri"/>
              </a:defRPr>
            </a:pPr>
            <a:r>
              <a:t>•  Enables zero-day detection: novel attacks not seen in training are discovered at runtime and formally incorporated into the safety shield.</a:t>
            </a:r>
          </a:p>
        </p:txBody>
      </p:sp>
      <p:sp>
        <p:nvSpPr>
          <p:cNvPr id="7" name="TextBox 6"/>
          <p:cNvSpPr txBox="1"/>
          <p:nvPr/>
        </p:nvSpPr>
        <p:spPr>
          <a:xfrm>
            <a:off x="274320" y="5760720"/>
            <a:ext cx="11430000" cy="365760"/>
          </a:xfrm>
          <a:prstGeom prst="rect">
            <a:avLst/>
          </a:prstGeom>
          <a:noFill/>
        </p:spPr>
        <p:txBody>
          <a:bodyPr wrap="square">
            <a:spAutoFit/>
          </a:bodyPr>
          <a:lstStyle/>
          <a:p>
            <a:pPr algn="ctr">
              <a:defRPr sz="1300" b="1">
                <a:solidFill>
                  <a:srgbClr val="2980B9"/>
                </a:solidFill>
                <a:latin typeface="Calibri"/>
              </a:defRPr>
            </a:pPr>
            <a:r>
              <a:t>Output: C' = C ∪ C_novel → Feedback loop: updated constraints improve Stage 4 safety shield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274320" y="137160"/>
            <a:ext cx="11430000" cy="457200"/>
          </a:xfrm>
          <a:prstGeom prst="rect">
            <a:avLst/>
          </a:prstGeom>
          <a:noFill/>
        </p:spPr>
        <p:txBody>
          <a:bodyPr wrap="square">
            <a:spAutoFit/>
          </a:bodyPr>
          <a:lstStyle/>
          <a:p>
            <a:pPr algn="l">
              <a:defRPr sz="2400" b="1">
                <a:solidFill>
                  <a:srgbClr val="2980B9"/>
                </a:solidFill>
                <a:latin typeface="Calibri"/>
              </a:defRPr>
            </a:pPr>
            <a:r>
              <a:t>Stage 6: Adaptive Buffer Management</a:t>
            </a:r>
          </a:p>
        </p:txBody>
      </p:sp>
      <p:sp>
        <p:nvSpPr>
          <p:cNvPr id="3" name="Rectangle 2"/>
          <p:cNvSpPr/>
          <p:nvPr/>
        </p:nvSpPr>
        <p:spPr>
          <a:xfrm>
            <a:off x="274320" y="640080"/>
            <a:ext cx="6858000" cy="4572000"/>
          </a:xfrm>
          <a:prstGeom prst="rect">
            <a:avLst/>
          </a:prstGeom>
          <a:solidFill>
            <a:srgbClr val="F7F9FB"/>
          </a:solidFill>
          <a:ln w="19050">
            <a:solidFill>
              <a:srgbClr val="3449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685800"/>
            <a:ext cx="6583680" cy="4480560"/>
          </a:xfrm>
          <a:prstGeom prst="rect">
            <a:avLst/>
          </a:prstGeom>
          <a:noFill/>
        </p:spPr>
        <p:txBody>
          <a:bodyPr wrap="square">
            <a:spAutoFit/>
          </a:bodyPr>
          <a:lstStyle/>
          <a:p>
            <a:pPr>
              <a:spcAft>
                <a:spcPts val="300"/>
              </a:spcAft>
            </a:pPr>
            <a:r>
              <a:rPr sz="1200" b="1" i="1">
                <a:solidFill>
                  <a:srgbClr val="000000"/>
                </a:solidFill>
                <a:latin typeface="Times New Roman"/>
              </a:rPr>
              <a:t>Algorithm 7: </a:t>
            </a:r>
            <a:r>
              <a:rPr sz="1200" b="1">
                <a:solidFill>
                  <a:srgbClr val="000000"/>
                </a:solidFill>
                <a:latin typeface="Times New Roman"/>
              </a:rPr>
              <a:t>Adaptive Buffer Resizing</a:t>
            </a:r>
          </a:p>
          <a:p>
            <a:pPr>
              <a:spcBef>
                <a:spcPts val="0"/>
              </a:spcBef>
              <a:spcAft>
                <a:spcPts val="100"/>
              </a:spcAft>
            </a:pPr>
            <a:r>
              <a:rPr sz="1000" b="1">
                <a:solidFill>
                  <a:srgbClr val="000000"/>
                </a:solidFill>
                <a:latin typeface="Times New Roman"/>
              </a:rPr>
              <a:t>Require:</a:t>
            </a:r>
            <a:r>
              <a:rPr sz="1000" b="0">
                <a:solidFill>
                  <a:srgbClr val="000000"/>
                </a:solidFill>
                <a:latin typeface="Times New Roman"/>
              </a:rPr>
              <a:t> Flow stream F, current buffer B_t with size |B_t|, bounds [10, 200]</a:t>
            </a:r>
          </a:p>
          <a:p>
            <a:pPr>
              <a:spcBef>
                <a:spcPts val="0"/>
              </a:spcBef>
              <a:spcAft>
                <a:spcPts val="100"/>
              </a:spcAft>
            </a:pPr>
            <a:r>
              <a:rPr sz="1000" b="1">
                <a:solidFill>
                  <a:srgbClr val="000000"/>
                </a:solidFill>
                <a:latin typeface="Times New Roman"/>
              </a:rPr>
              <a:t>Ensure:</a:t>
            </a:r>
            <a:r>
              <a:rPr sz="1000" b="0">
                <a:solidFill>
                  <a:srgbClr val="000000"/>
                </a:solidFill>
                <a:latin typeface="Times New Roman"/>
              </a:rPr>
              <a:t> Resized buffer B_{t+1} adapted to traffic volatility</a:t>
            </a:r>
          </a:p>
          <a:p>
            <a:pPr>
              <a:spcBef>
                <a:spcPts val="0"/>
              </a:spcBef>
              <a:spcAft>
                <a:spcPts val="100"/>
              </a:spcAft>
            </a:pPr>
            <a:r>
              <a:rPr sz="1000" b="0">
                <a:solidFill>
                  <a:srgbClr val="7F8C8D"/>
                </a:solidFill>
                <a:latin typeface="Consolas"/>
              </a:rPr>
              <a:t> 1:  </a:t>
            </a:r>
            <a:r>
              <a:rPr sz="1000" b="1">
                <a:solidFill>
                  <a:srgbClr val="000000"/>
                </a:solidFill>
                <a:latin typeface="Times New Roman"/>
              </a:rPr>
              <a:t>for </a:t>
            </a:r>
            <a:r>
              <a:rPr sz="1000" b="0">
                <a:solidFill>
                  <a:srgbClr val="000000"/>
                </a:solidFill>
                <a:latin typeface="Times New Roman"/>
              </a:rPr>
              <a:t>each time win</a:t>
            </a:r>
            <a:r>
              <a:rPr sz="1000" b="1">
                <a:solidFill>
                  <a:srgbClr val="000000"/>
                </a:solidFill>
                <a:latin typeface="Times New Roman"/>
              </a:rPr>
              <a:t>do</a:t>
            </a:r>
            <a:r>
              <a:rPr sz="1000" b="0">
                <a:solidFill>
                  <a:srgbClr val="000000"/>
                </a:solidFill>
                <a:latin typeface="Times New Roman"/>
              </a:rPr>
              <a:t>w W_t of flows </a:t>
            </a:r>
            <a:r>
              <a:rPr sz="1000" b="1">
                <a:solidFill>
                  <a:srgbClr val="000000"/>
                </a:solidFill>
                <a:latin typeface="Times New Roman"/>
              </a:rPr>
              <a:t>do</a:t>
            </a:r>
          </a:p>
          <a:p>
            <a:pPr>
              <a:spcBef>
                <a:spcPts val="0"/>
              </a:spcBef>
              <a:spcAft>
                <a:spcPts val="100"/>
              </a:spcAft>
            </a:pPr>
            <a:r>
              <a:rPr sz="1000" b="0">
                <a:solidFill>
                  <a:srgbClr val="7F8C8D"/>
                </a:solidFill>
                <a:latin typeface="Consolas"/>
              </a:rPr>
              <a:t> 2:      </a:t>
            </a:r>
            <a:r>
              <a:rPr sz="1000" b="0">
                <a:solidFill>
                  <a:srgbClr val="000000"/>
                </a:solidFill>
                <a:latin typeface="Times New Roman"/>
              </a:rPr>
              <a:t>B_t.append(flows in W_t)  // sliding win</a:t>
            </a:r>
            <a:r>
              <a:rPr sz="1000" b="1">
                <a:solidFill>
                  <a:srgbClr val="000000"/>
                </a:solidFill>
                <a:latin typeface="Times New Roman"/>
              </a:rPr>
              <a:t>do</a:t>
            </a:r>
            <a:r>
              <a:rPr sz="1000" b="0">
                <a:solidFill>
                  <a:srgbClr val="000000"/>
                </a:solidFill>
                <a:latin typeface="Times New Roman"/>
              </a:rPr>
              <a:t>w buffer</a:t>
            </a:r>
          </a:p>
          <a:p>
            <a:pPr>
              <a:spcBef>
                <a:spcPts val="0"/>
              </a:spcBef>
              <a:spcAft>
                <a:spcPts val="100"/>
              </a:spcAft>
            </a:pPr>
            <a:r>
              <a:rPr sz="1000" b="0">
                <a:solidFill>
                  <a:srgbClr val="7F8C8D"/>
                </a:solidFill>
                <a:latin typeface="Consolas"/>
              </a:rPr>
              <a:t> 3:      </a:t>
            </a:r>
            <a:r>
              <a:rPr sz="1000" b="0">
                <a:solidFill>
                  <a:srgbClr val="000000"/>
                </a:solidFill>
                <a:latin typeface="Times New Roman"/>
              </a:rPr>
              <a:t>σ_tpv ← std({traffic_pat_var(x) : x ∈ B_t})  // traffic pattern variability volatility</a:t>
            </a:r>
          </a:p>
          <a:p>
            <a:pPr>
              <a:spcBef>
                <a:spcPts val="0"/>
              </a:spcBef>
              <a:spcAft>
                <a:spcPts val="100"/>
              </a:spcAft>
            </a:pPr>
            <a:r>
              <a:rPr sz="1000" b="0">
                <a:solidFill>
                  <a:srgbClr val="7F8C8D"/>
                </a:solidFill>
                <a:latin typeface="Consolas"/>
              </a:rPr>
              <a:t> 4:      </a:t>
            </a:r>
            <a:r>
              <a:rPr sz="1000" b="0">
                <a:solidFill>
                  <a:srgbClr val="000000"/>
                </a:solidFill>
                <a:latin typeface="Times New Roman"/>
              </a:rPr>
              <a:t>σ²_bytes ← var({byte_rate(x) : x ∈ B_t})  // byte rate variance</a:t>
            </a:r>
          </a:p>
          <a:p>
            <a:pPr>
              <a:spcBef>
                <a:spcPts val="0"/>
              </a:spcBef>
              <a:spcAft>
                <a:spcPts val="100"/>
              </a:spcAft>
            </a:pPr>
            <a:r>
              <a:rPr sz="1000" b="0">
                <a:solidFill>
                  <a:srgbClr val="7F8C8D"/>
                </a:solidFill>
                <a:latin typeface="Consolas"/>
              </a:rPr>
              <a:t> 5:      </a:t>
            </a:r>
            <a:r>
              <a:rPr sz="1000" b="0">
                <a:solidFill>
                  <a:srgbClr val="000000"/>
                </a:solidFill>
                <a:latin typeface="Times New Roman"/>
              </a:rPr>
              <a:t>volatility ← σ_tpv + σ²_bytes / max(σ²_bytes)</a:t>
            </a:r>
          </a:p>
          <a:p>
            <a:pPr>
              <a:spcBef>
                <a:spcPts val="0"/>
              </a:spcBef>
              <a:spcAft>
                <a:spcPts val="100"/>
              </a:spcAft>
            </a:pPr>
            <a:r>
              <a:rPr sz="1000" b="0">
                <a:solidFill>
                  <a:srgbClr val="7F8C8D"/>
                </a:solidFill>
                <a:latin typeface="Consolas"/>
              </a:rPr>
              <a:t> 6:      </a:t>
            </a:r>
            <a:r>
              <a:rPr sz="1000" b="1">
                <a:solidFill>
                  <a:srgbClr val="000000"/>
                </a:solidFill>
                <a:latin typeface="Times New Roman"/>
              </a:rPr>
              <a:t>if </a:t>
            </a:r>
            <a:r>
              <a:rPr sz="1000" b="0">
                <a:solidFill>
                  <a:srgbClr val="000000"/>
                </a:solidFill>
                <a:latin typeface="Times New Roman"/>
              </a:rPr>
              <a:t>volatility &gt; high_threshold </a:t>
            </a:r>
            <a:r>
              <a:rPr sz="1000" b="1">
                <a:solidFill>
                  <a:srgbClr val="000000"/>
                </a:solidFill>
                <a:latin typeface="Times New Roman"/>
              </a:rPr>
              <a:t>then</a:t>
            </a:r>
          </a:p>
          <a:p>
            <a:pPr>
              <a:spcBef>
                <a:spcPts val="0"/>
              </a:spcBef>
              <a:spcAft>
                <a:spcPts val="100"/>
              </a:spcAft>
            </a:pPr>
            <a:r>
              <a:rPr sz="1000" b="0">
                <a:solidFill>
                  <a:srgbClr val="7F8C8D"/>
                </a:solidFill>
                <a:latin typeface="Consolas"/>
              </a:rPr>
              <a:t> 7:          </a:t>
            </a:r>
            <a:r>
              <a:rPr sz="1000" b="0">
                <a:solidFill>
                  <a:srgbClr val="000000"/>
                </a:solidFill>
                <a:latin typeface="Times New Roman"/>
              </a:rPr>
              <a:t>Δ ← +10  // high volatility: grow buffer </a:t>
            </a:r>
            <a:r>
              <a:rPr sz="1000" b="1">
                <a:solidFill>
                  <a:srgbClr val="000000"/>
                </a:solidFill>
                <a:latin typeface="Times New Roman"/>
              </a:rPr>
              <a:t>for </a:t>
            </a:r>
            <a:r>
              <a:rPr sz="1000" b="0">
                <a:solidFill>
                  <a:srgbClr val="000000"/>
                </a:solidFill>
                <a:latin typeface="Times New Roman"/>
              </a:rPr>
              <a:t>more context</a:t>
            </a:r>
          </a:p>
          <a:p>
            <a:pPr>
              <a:spcBef>
                <a:spcPts val="0"/>
              </a:spcBef>
              <a:spcAft>
                <a:spcPts val="100"/>
              </a:spcAft>
            </a:pPr>
            <a:r>
              <a:rPr sz="1000" b="0">
                <a:solidFill>
                  <a:srgbClr val="7F8C8D"/>
                </a:solidFill>
                <a:latin typeface="Consolas"/>
              </a:rPr>
              <a:t> 8:      </a:t>
            </a:r>
            <a:r>
              <a:rPr sz="1000" b="1">
                <a:solidFill>
                  <a:srgbClr val="000000"/>
                </a:solidFill>
                <a:latin typeface="Times New Roman"/>
              </a:rPr>
              <a:t>else</a:t>
            </a:r>
            <a:r>
              <a:rPr sz="1000" b="0">
                <a:solidFill>
                  <a:srgbClr val="000000"/>
                </a:solidFill>
                <a:latin typeface="Times New Roman"/>
              </a:rPr>
              <a:t> </a:t>
            </a:r>
            <a:r>
              <a:rPr sz="1000" b="1">
                <a:solidFill>
                  <a:srgbClr val="000000"/>
                </a:solidFill>
                <a:latin typeface="Times New Roman"/>
              </a:rPr>
              <a:t>if </a:t>
            </a:r>
            <a:r>
              <a:rPr sz="1000" b="0">
                <a:solidFill>
                  <a:srgbClr val="000000"/>
                </a:solidFill>
                <a:latin typeface="Times New Roman"/>
              </a:rPr>
              <a:t>volatility &lt; low_threshold </a:t>
            </a:r>
            <a:r>
              <a:rPr sz="1000" b="1">
                <a:solidFill>
                  <a:srgbClr val="000000"/>
                </a:solidFill>
                <a:latin typeface="Times New Roman"/>
              </a:rPr>
              <a:t>then</a:t>
            </a:r>
          </a:p>
          <a:p>
            <a:pPr>
              <a:spcBef>
                <a:spcPts val="0"/>
              </a:spcBef>
              <a:spcAft>
                <a:spcPts val="100"/>
              </a:spcAft>
            </a:pPr>
            <a:r>
              <a:rPr sz="1000" b="0">
                <a:solidFill>
                  <a:srgbClr val="7F8C8D"/>
                </a:solidFill>
                <a:latin typeface="Consolas"/>
              </a:rPr>
              <a:t> 9:          </a:t>
            </a:r>
            <a:r>
              <a:rPr sz="1000" b="0">
                <a:solidFill>
                  <a:srgbClr val="000000"/>
                </a:solidFill>
                <a:latin typeface="Times New Roman"/>
              </a:rPr>
              <a:t>Δ ← -5  // low volatility: shrink buffer </a:t>
            </a:r>
            <a:r>
              <a:rPr sz="1000" b="1">
                <a:solidFill>
                  <a:srgbClr val="000000"/>
                </a:solidFill>
                <a:latin typeface="Times New Roman"/>
              </a:rPr>
              <a:t>for </a:t>
            </a:r>
            <a:r>
              <a:rPr sz="1000" b="0">
                <a:solidFill>
                  <a:srgbClr val="000000"/>
                </a:solidFill>
                <a:latin typeface="Times New Roman"/>
              </a:rPr>
              <a:t>faster response</a:t>
            </a:r>
          </a:p>
          <a:p>
            <a:pPr>
              <a:spcBef>
                <a:spcPts val="0"/>
              </a:spcBef>
              <a:spcAft>
                <a:spcPts val="100"/>
              </a:spcAft>
            </a:pPr>
            <a:r>
              <a:rPr sz="1000" b="0">
                <a:solidFill>
                  <a:srgbClr val="7F8C8D"/>
                </a:solidFill>
                <a:latin typeface="Consolas"/>
              </a:rPr>
              <a:t>10:      </a:t>
            </a:r>
            <a:r>
              <a:rPr sz="1000" b="1">
                <a:solidFill>
                  <a:srgbClr val="000000"/>
                </a:solidFill>
                <a:latin typeface="Times New Roman"/>
              </a:rPr>
              <a:t>else</a:t>
            </a:r>
          </a:p>
          <a:p>
            <a:pPr>
              <a:spcBef>
                <a:spcPts val="0"/>
              </a:spcBef>
              <a:spcAft>
                <a:spcPts val="100"/>
              </a:spcAft>
            </a:pPr>
            <a:r>
              <a:rPr sz="1000" b="0">
                <a:solidFill>
                  <a:srgbClr val="7F8C8D"/>
                </a:solidFill>
                <a:latin typeface="Consolas"/>
              </a:rPr>
              <a:t>11:          </a:t>
            </a:r>
            <a:r>
              <a:rPr sz="1000" b="0">
                <a:solidFill>
                  <a:srgbClr val="000000"/>
                </a:solidFill>
                <a:latin typeface="Times New Roman"/>
              </a:rPr>
              <a:t>Δ ← 0  // stable: maintain current size</a:t>
            </a:r>
          </a:p>
          <a:p>
            <a:pPr>
              <a:spcBef>
                <a:spcPts val="0"/>
              </a:spcBef>
              <a:spcAft>
                <a:spcPts val="100"/>
              </a:spcAft>
            </a:pPr>
            <a:r>
              <a:rPr sz="1000" b="0">
                <a:solidFill>
                  <a:srgbClr val="7F8C8D"/>
                </a:solidFill>
                <a:latin typeface="Consolas"/>
              </a:rPr>
              <a:t>12:      </a:t>
            </a:r>
            <a:r>
              <a:rPr sz="1000" b="1">
                <a:solidFill>
                  <a:srgbClr val="000000"/>
                </a:solidFill>
                <a:latin typeface="Times New Roman"/>
              </a:rPr>
              <a:t>end if</a:t>
            </a:r>
          </a:p>
          <a:p>
            <a:pPr>
              <a:spcBef>
                <a:spcPts val="0"/>
              </a:spcBef>
              <a:spcAft>
                <a:spcPts val="100"/>
              </a:spcAft>
            </a:pPr>
            <a:r>
              <a:rPr sz="1000" b="0">
                <a:solidFill>
                  <a:srgbClr val="7F8C8D"/>
                </a:solidFill>
                <a:latin typeface="Consolas"/>
              </a:rPr>
              <a:t>13:      </a:t>
            </a:r>
            <a:r>
              <a:rPr sz="1000" b="0">
                <a:solidFill>
                  <a:srgbClr val="000000"/>
                </a:solidFill>
                <a:latin typeface="Times New Roman"/>
              </a:rPr>
              <a:t>|B_{t+1}| ← clip(|B_t| + Δ, 10, 200)</a:t>
            </a:r>
          </a:p>
          <a:p>
            <a:pPr>
              <a:spcBef>
                <a:spcPts val="0"/>
              </a:spcBef>
              <a:spcAft>
                <a:spcPts val="100"/>
              </a:spcAft>
            </a:pPr>
            <a:r>
              <a:rPr sz="1000" b="0">
                <a:solidFill>
                  <a:srgbClr val="7F8C8D"/>
                </a:solidFill>
                <a:latin typeface="Consolas"/>
              </a:rPr>
              <a:t>14:  </a:t>
            </a:r>
            <a:r>
              <a:rPr sz="1000" b="1">
                <a:solidFill>
                  <a:srgbClr val="000000"/>
                </a:solidFill>
                <a:latin typeface="Times New Roman"/>
              </a:rPr>
              <a:t>end for</a:t>
            </a:r>
          </a:p>
          <a:p>
            <a:pPr>
              <a:spcBef>
                <a:spcPts val="0"/>
              </a:spcBef>
              <a:spcAft>
                <a:spcPts val="100"/>
              </a:spcAft>
            </a:pPr>
            <a:r>
              <a:rPr sz="1000" b="0">
                <a:solidFill>
                  <a:srgbClr val="7F8C8D"/>
                </a:solidFill>
                <a:latin typeface="Consolas"/>
              </a:rPr>
              <a:t>15:  </a:t>
            </a:r>
            <a:r>
              <a:rPr sz="1000" b="1">
                <a:solidFill>
                  <a:srgbClr val="000000"/>
                </a:solidFill>
                <a:latin typeface="Times New Roman"/>
              </a:rPr>
              <a:t>return </a:t>
            </a:r>
            <a:r>
              <a:rPr sz="1000" b="0">
                <a:solidFill>
                  <a:srgbClr val="000000"/>
                </a:solidFill>
                <a:latin typeface="Times New Roman"/>
              </a:rPr>
              <a:t>B_{t+1}</a:t>
            </a:r>
          </a:p>
        </p:txBody>
      </p:sp>
      <p:pic>
        <p:nvPicPr>
          <p:cNvPr id="5" name="Picture 4" descr="image.png"/>
          <p:cNvPicPr>
            <a:picLocks noChangeAspect="1"/>
          </p:cNvPicPr>
          <p:nvPr/>
        </p:nvPicPr>
        <p:blipFill>
          <a:blip r:embed="rId2"/>
          <a:stretch>
            <a:fillRect/>
          </a:stretch>
        </p:blipFill>
        <p:spPr>
          <a:xfrm>
            <a:off x="7498079" y="640080"/>
            <a:ext cx="4114800" cy="1968447"/>
          </a:xfrm>
          <a:prstGeom prst="rect">
            <a:avLst/>
          </a:prstGeom>
        </p:spPr>
      </p:pic>
      <p:sp>
        <p:nvSpPr>
          <p:cNvPr id="6" name="TextBox 5"/>
          <p:cNvSpPr txBox="1"/>
          <p:nvPr/>
        </p:nvSpPr>
        <p:spPr>
          <a:xfrm>
            <a:off x="7498079" y="2743200"/>
            <a:ext cx="4389120" cy="2286000"/>
          </a:xfrm>
          <a:prstGeom prst="rect">
            <a:avLst/>
          </a:prstGeom>
          <a:noFill/>
        </p:spPr>
        <p:txBody>
          <a:bodyPr wrap="square">
            <a:spAutoFit/>
          </a:bodyPr>
          <a:lstStyle/>
          <a:p>
            <a:pPr>
              <a:spcAft>
                <a:spcPts val="400"/>
              </a:spcAft>
              <a:defRPr sz="1100" b="0">
                <a:solidFill>
                  <a:srgbClr val="000000"/>
                </a:solidFill>
                <a:latin typeface="Calibri"/>
              </a:defRPr>
            </a:pPr>
            <a:r>
              <a:t>•  Dynamically resizes the flow buffer (10–200 flows) based on traffic volatility measured by traffic_pat_var std and byte rate variance.</a:t>
            </a:r>
          </a:p>
          <a:p>
            <a:pPr>
              <a:spcAft>
                <a:spcPts val="400"/>
              </a:spcAft>
              <a:defRPr sz="1100" b="0">
                <a:solidFill>
                  <a:srgbClr val="000000"/>
                </a:solidFill>
                <a:latin typeface="Calibri"/>
              </a:defRPr>
            </a:pPr>
            <a:r>
              <a:t>•  High volatility triggers buffer growth (+10) to accumulate more context; low volatility triggers shrinkage (−5) for faster response.</a:t>
            </a:r>
          </a:p>
          <a:p>
            <a:pPr>
              <a:spcAft>
                <a:spcPts val="400"/>
              </a:spcAft>
              <a:defRPr sz="1100" b="0">
                <a:solidFill>
                  <a:srgbClr val="000000"/>
                </a:solidFill>
                <a:latin typeface="Calibri"/>
              </a:defRPr>
            </a:pPr>
            <a:r>
              <a:t>•  Sequential stage: buffer state depends on previous window (temporal dependency), so this cannot be parallelized within a single stream.</a:t>
            </a:r>
          </a:p>
          <a:p>
            <a:pPr>
              <a:spcAft>
                <a:spcPts val="400"/>
              </a:spcAft>
              <a:defRPr sz="1100" b="0">
                <a:solidFill>
                  <a:srgbClr val="000000"/>
                </a:solidFill>
                <a:latin typeface="Calibri"/>
              </a:defRPr>
            </a:pPr>
            <a:r>
              <a:t>•  Asymmetric growth/shrink rates (+10/−5) create a conservative bias—the system is quicker to accumulate evidence than to discard it.</a:t>
            </a:r>
          </a:p>
        </p:txBody>
      </p:sp>
      <p:sp>
        <p:nvSpPr>
          <p:cNvPr id="7" name="TextBox 6"/>
          <p:cNvSpPr txBox="1"/>
          <p:nvPr/>
        </p:nvSpPr>
        <p:spPr>
          <a:xfrm>
            <a:off x="274320" y="5486400"/>
            <a:ext cx="11430000" cy="365760"/>
          </a:xfrm>
          <a:prstGeom prst="rect">
            <a:avLst/>
          </a:prstGeom>
          <a:noFill/>
        </p:spPr>
        <p:txBody>
          <a:bodyPr wrap="square">
            <a:spAutoFit/>
          </a:bodyPr>
          <a:lstStyle/>
          <a:p>
            <a:pPr algn="ctr">
              <a:defRPr sz="1300" b="1">
                <a:solidFill>
                  <a:srgbClr val="2980B9"/>
                </a:solidFill>
                <a:latin typeface="Calibri"/>
              </a:defRPr>
            </a:pPr>
            <a:r>
              <a:t>Output: Adapted buffer size |B_{t+1}| → Used by Stage 7 and Stage 8 for windowed classification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274320" y="137160"/>
            <a:ext cx="11430000" cy="457200"/>
          </a:xfrm>
          <a:prstGeom prst="rect">
            <a:avLst/>
          </a:prstGeom>
          <a:noFill/>
        </p:spPr>
        <p:txBody>
          <a:bodyPr wrap="square">
            <a:spAutoFit/>
          </a:bodyPr>
          <a:lstStyle/>
          <a:p>
            <a:pPr algn="l">
              <a:defRPr sz="2400" b="1">
                <a:solidFill>
                  <a:srgbClr val="16A085"/>
                </a:solidFill>
                <a:latin typeface="Calibri"/>
              </a:defRPr>
            </a:pPr>
            <a:r>
              <a:t>Stage 7: Dynamic Threshold Adaptation</a:t>
            </a:r>
          </a:p>
        </p:txBody>
      </p:sp>
      <p:sp>
        <p:nvSpPr>
          <p:cNvPr id="3" name="Rectangle 2"/>
          <p:cNvSpPr/>
          <p:nvPr/>
        </p:nvSpPr>
        <p:spPr>
          <a:xfrm>
            <a:off x="274320" y="640080"/>
            <a:ext cx="6858000" cy="4572000"/>
          </a:xfrm>
          <a:prstGeom prst="rect">
            <a:avLst/>
          </a:prstGeom>
          <a:solidFill>
            <a:srgbClr val="F7F9FB"/>
          </a:solidFill>
          <a:ln w="19050">
            <a:solidFill>
              <a:srgbClr val="3449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685800"/>
            <a:ext cx="6583680" cy="4480560"/>
          </a:xfrm>
          <a:prstGeom prst="rect">
            <a:avLst/>
          </a:prstGeom>
          <a:noFill/>
        </p:spPr>
        <p:txBody>
          <a:bodyPr wrap="square">
            <a:spAutoFit/>
          </a:bodyPr>
          <a:lstStyle/>
          <a:p>
            <a:pPr>
              <a:spcAft>
                <a:spcPts val="300"/>
              </a:spcAft>
            </a:pPr>
            <a:r>
              <a:rPr sz="1200" b="1" i="1">
                <a:solidFill>
                  <a:srgbClr val="000000"/>
                </a:solidFill>
                <a:latin typeface="Times New Roman"/>
              </a:rPr>
              <a:t>Algorithm 8: </a:t>
            </a:r>
            <a:r>
              <a:rPr sz="1200" b="1">
                <a:solidFill>
                  <a:srgbClr val="000000"/>
                </a:solidFill>
                <a:latin typeface="Times New Roman"/>
              </a:rPr>
              <a:t>Dynamic Threshold Adaptation via EMA Error Balancing</a:t>
            </a:r>
          </a:p>
          <a:p>
            <a:pPr>
              <a:spcBef>
                <a:spcPts val="0"/>
              </a:spcBef>
              <a:spcAft>
                <a:spcPts val="100"/>
              </a:spcAft>
            </a:pPr>
            <a:r>
              <a:rPr sz="1000" b="1">
                <a:solidFill>
                  <a:srgbClr val="000000"/>
                </a:solidFill>
                <a:latin typeface="Times New Roman"/>
              </a:rPr>
              <a:t>Require:</a:t>
            </a:r>
            <a:r>
              <a:rPr sz="1000" b="0">
                <a:solidFill>
                  <a:srgbClr val="000000"/>
                </a:solidFill>
                <a:latin typeface="Times New Roman"/>
              </a:rPr>
              <a:t> Current threshold τ_t ∈ [0.40, 0.70], recent FPR_t, FNR_t, EMA decay β=0.3</a:t>
            </a:r>
          </a:p>
          <a:p>
            <a:pPr>
              <a:spcBef>
                <a:spcPts val="0"/>
              </a:spcBef>
              <a:spcAft>
                <a:spcPts val="100"/>
              </a:spcAft>
            </a:pPr>
            <a:r>
              <a:rPr sz="1000" b="1">
                <a:solidFill>
                  <a:srgbClr val="000000"/>
                </a:solidFill>
                <a:latin typeface="Times New Roman"/>
              </a:rPr>
              <a:t>Ensure:</a:t>
            </a:r>
            <a:r>
              <a:rPr sz="1000" b="0">
                <a:solidFill>
                  <a:srgbClr val="000000"/>
                </a:solidFill>
                <a:latin typeface="Times New Roman"/>
              </a:rPr>
              <a:t> Updated threshold τ_{t+1} balancing false positives and false negatives</a:t>
            </a:r>
          </a:p>
          <a:p>
            <a:pPr>
              <a:spcBef>
                <a:spcPts val="0"/>
              </a:spcBef>
              <a:spcAft>
                <a:spcPts val="100"/>
              </a:spcAft>
            </a:pPr>
            <a:r>
              <a:rPr sz="1000" b="0">
                <a:solidFill>
                  <a:srgbClr val="7F8C8D"/>
                </a:solidFill>
                <a:latin typeface="Consolas"/>
              </a:rPr>
              <a:t> 1:  </a:t>
            </a:r>
            <a:r>
              <a:rPr sz="1000" b="1">
                <a:solidFill>
                  <a:srgbClr val="000000"/>
                </a:solidFill>
                <a:latin typeface="Times New Roman"/>
              </a:rPr>
              <a:t>for </a:t>
            </a:r>
            <a:r>
              <a:rPr sz="1000" b="0">
                <a:solidFill>
                  <a:srgbClr val="000000"/>
                </a:solidFill>
                <a:latin typeface="Times New Roman"/>
              </a:rPr>
              <a:t>each evaluation win</a:t>
            </a:r>
            <a:r>
              <a:rPr sz="1000" b="1">
                <a:solidFill>
                  <a:srgbClr val="000000"/>
                </a:solidFill>
                <a:latin typeface="Times New Roman"/>
              </a:rPr>
              <a:t>do</a:t>
            </a:r>
            <a:r>
              <a:rPr sz="1000" b="0">
                <a:solidFill>
                  <a:srgbClr val="000000"/>
                </a:solidFill>
                <a:latin typeface="Times New Roman"/>
              </a:rPr>
              <a:t>w W_t </a:t>
            </a:r>
            <a:r>
              <a:rPr sz="1000" b="1">
                <a:solidFill>
                  <a:srgbClr val="000000"/>
                </a:solidFill>
                <a:latin typeface="Times New Roman"/>
              </a:rPr>
              <a:t>do</a:t>
            </a:r>
          </a:p>
          <a:p>
            <a:pPr>
              <a:spcBef>
                <a:spcPts val="0"/>
              </a:spcBef>
              <a:spcAft>
                <a:spcPts val="100"/>
              </a:spcAft>
            </a:pPr>
            <a:r>
              <a:rPr sz="1000" b="0">
                <a:solidFill>
                  <a:srgbClr val="7F8C8D"/>
                </a:solidFill>
                <a:latin typeface="Consolas"/>
              </a:rPr>
              <a:t> 2:      </a:t>
            </a:r>
            <a:r>
              <a:rPr sz="1000" b="0">
                <a:solidFill>
                  <a:srgbClr val="000000"/>
                </a:solidFill>
                <a:latin typeface="Times New Roman"/>
              </a:rPr>
              <a:t>FPR_t ← FP_t / (FP_t + TN_t)  // false positive rate</a:t>
            </a:r>
          </a:p>
          <a:p>
            <a:pPr>
              <a:spcBef>
                <a:spcPts val="0"/>
              </a:spcBef>
              <a:spcAft>
                <a:spcPts val="100"/>
              </a:spcAft>
            </a:pPr>
            <a:r>
              <a:rPr sz="1000" b="0">
                <a:solidFill>
                  <a:srgbClr val="7F8C8D"/>
                </a:solidFill>
                <a:latin typeface="Consolas"/>
              </a:rPr>
              <a:t> 3:      </a:t>
            </a:r>
            <a:r>
              <a:rPr sz="1000" b="0">
                <a:solidFill>
                  <a:srgbClr val="000000"/>
                </a:solidFill>
                <a:latin typeface="Times New Roman"/>
              </a:rPr>
              <a:t>FNR_t ← FN_t / (FN_t + TP_t)  // false negative rate</a:t>
            </a:r>
          </a:p>
          <a:p>
            <a:pPr>
              <a:spcBef>
                <a:spcPts val="0"/>
              </a:spcBef>
              <a:spcAft>
                <a:spcPts val="100"/>
              </a:spcAft>
            </a:pPr>
            <a:r>
              <a:rPr sz="1000" b="0">
                <a:solidFill>
                  <a:srgbClr val="7F8C8D"/>
                </a:solidFill>
                <a:latin typeface="Consolas"/>
              </a:rPr>
              <a:t> 4:      </a:t>
            </a:r>
            <a:r>
              <a:rPr sz="1000" b="0">
                <a:solidFill>
                  <a:srgbClr val="000000"/>
                </a:solidFill>
                <a:latin typeface="Times New Roman"/>
              </a:rPr>
              <a:t>EMA_FPR ← β · FPR_t + (1 - β) · EMA_FPR  // exponential moving average</a:t>
            </a:r>
          </a:p>
          <a:p>
            <a:pPr>
              <a:spcBef>
                <a:spcPts val="0"/>
              </a:spcBef>
              <a:spcAft>
                <a:spcPts val="100"/>
              </a:spcAft>
            </a:pPr>
            <a:r>
              <a:rPr sz="1000" b="0">
                <a:solidFill>
                  <a:srgbClr val="7F8C8D"/>
                </a:solidFill>
                <a:latin typeface="Consolas"/>
              </a:rPr>
              <a:t> 5:      </a:t>
            </a:r>
            <a:r>
              <a:rPr sz="1000" b="0">
                <a:solidFill>
                  <a:srgbClr val="000000"/>
                </a:solidFill>
                <a:latin typeface="Times New Roman"/>
              </a:rPr>
              <a:t>EMA_FNR ← β · FNR_t + (1 - β) · EMA_FNR</a:t>
            </a:r>
          </a:p>
          <a:p>
            <a:pPr>
              <a:spcBef>
                <a:spcPts val="0"/>
              </a:spcBef>
              <a:spcAft>
                <a:spcPts val="100"/>
              </a:spcAft>
            </a:pPr>
            <a:r>
              <a:rPr sz="1000" b="0">
                <a:solidFill>
                  <a:srgbClr val="7F8C8D"/>
                </a:solidFill>
                <a:latin typeface="Consolas"/>
              </a:rPr>
              <a:t> 6:      </a:t>
            </a:r>
            <a:r>
              <a:rPr sz="1000" b="1">
                <a:solidFill>
                  <a:srgbClr val="000000"/>
                </a:solidFill>
                <a:latin typeface="Times New Roman"/>
              </a:rPr>
              <a:t>if </a:t>
            </a:r>
            <a:r>
              <a:rPr sz="1000" b="0">
                <a:solidFill>
                  <a:srgbClr val="000000"/>
                </a:solidFill>
                <a:latin typeface="Times New Roman"/>
              </a:rPr>
              <a:t>EMA_FPR &gt; EMA_FNR </a:t>
            </a:r>
            <a:r>
              <a:rPr sz="1000" b="1">
                <a:solidFill>
                  <a:srgbClr val="000000"/>
                </a:solidFill>
                <a:latin typeface="Times New Roman"/>
              </a:rPr>
              <a:t>then</a:t>
            </a:r>
          </a:p>
          <a:p>
            <a:pPr>
              <a:spcBef>
                <a:spcPts val="0"/>
              </a:spcBef>
              <a:spcAft>
                <a:spcPts val="100"/>
              </a:spcAft>
            </a:pPr>
            <a:r>
              <a:rPr sz="1000" b="0">
                <a:solidFill>
                  <a:srgbClr val="7F8C8D"/>
                </a:solidFill>
                <a:latin typeface="Consolas"/>
              </a:rPr>
              <a:t> 7:          </a:t>
            </a:r>
            <a:r>
              <a:rPr sz="1000" b="0">
                <a:solidFill>
                  <a:srgbClr val="000000"/>
                </a:solidFill>
                <a:latin typeface="Times New Roman"/>
              </a:rPr>
              <a:t>τ_{t+1} ← τ_t + 0.005  // too many false positives: raise threshold</a:t>
            </a:r>
          </a:p>
          <a:p>
            <a:pPr>
              <a:spcBef>
                <a:spcPts val="0"/>
              </a:spcBef>
              <a:spcAft>
                <a:spcPts val="100"/>
              </a:spcAft>
            </a:pPr>
            <a:r>
              <a:rPr sz="1000" b="0">
                <a:solidFill>
                  <a:srgbClr val="7F8C8D"/>
                </a:solidFill>
                <a:latin typeface="Consolas"/>
              </a:rPr>
              <a:t> 8:      </a:t>
            </a:r>
            <a:r>
              <a:rPr sz="1000" b="1">
                <a:solidFill>
                  <a:srgbClr val="000000"/>
                </a:solidFill>
                <a:latin typeface="Times New Roman"/>
              </a:rPr>
              <a:t>else</a:t>
            </a:r>
            <a:r>
              <a:rPr sz="1000" b="0">
                <a:solidFill>
                  <a:srgbClr val="000000"/>
                </a:solidFill>
                <a:latin typeface="Times New Roman"/>
              </a:rPr>
              <a:t> </a:t>
            </a:r>
            <a:r>
              <a:rPr sz="1000" b="1">
                <a:solidFill>
                  <a:srgbClr val="000000"/>
                </a:solidFill>
                <a:latin typeface="Times New Roman"/>
              </a:rPr>
              <a:t>if </a:t>
            </a:r>
            <a:r>
              <a:rPr sz="1000" b="0">
                <a:solidFill>
                  <a:srgbClr val="000000"/>
                </a:solidFill>
                <a:latin typeface="Times New Roman"/>
              </a:rPr>
              <a:t>EMA_FNR &gt; EMA_FPR </a:t>
            </a:r>
            <a:r>
              <a:rPr sz="1000" b="1">
                <a:solidFill>
                  <a:srgbClr val="000000"/>
                </a:solidFill>
                <a:latin typeface="Times New Roman"/>
              </a:rPr>
              <a:t>then</a:t>
            </a:r>
          </a:p>
          <a:p>
            <a:pPr>
              <a:spcBef>
                <a:spcPts val="0"/>
              </a:spcBef>
              <a:spcAft>
                <a:spcPts val="100"/>
              </a:spcAft>
            </a:pPr>
            <a:r>
              <a:rPr sz="1000" b="0">
                <a:solidFill>
                  <a:srgbClr val="7F8C8D"/>
                </a:solidFill>
                <a:latin typeface="Consolas"/>
              </a:rPr>
              <a:t> 9:          </a:t>
            </a:r>
            <a:r>
              <a:rPr sz="1000" b="0">
                <a:solidFill>
                  <a:srgbClr val="000000"/>
                </a:solidFill>
                <a:latin typeface="Times New Roman"/>
              </a:rPr>
              <a:t>τ_{t+1} ← τ_t - 0.005  // too many false negatives: lower threshold</a:t>
            </a:r>
          </a:p>
          <a:p>
            <a:pPr>
              <a:spcBef>
                <a:spcPts val="0"/>
              </a:spcBef>
              <a:spcAft>
                <a:spcPts val="100"/>
              </a:spcAft>
            </a:pPr>
            <a:r>
              <a:rPr sz="1000" b="0">
                <a:solidFill>
                  <a:srgbClr val="7F8C8D"/>
                </a:solidFill>
                <a:latin typeface="Consolas"/>
              </a:rPr>
              <a:t>10:      </a:t>
            </a:r>
            <a:r>
              <a:rPr sz="1000" b="1">
                <a:solidFill>
                  <a:srgbClr val="000000"/>
                </a:solidFill>
                <a:latin typeface="Times New Roman"/>
              </a:rPr>
              <a:t>else</a:t>
            </a:r>
          </a:p>
          <a:p>
            <a:pPr>
              <a:spcBef>
                <a:spcPts val="0"/>
              </a:spcBef>
              <a:spcAft>
                <a:spcPts val="100"/>
              </a:spcAft>
            </a:pPr>
            <a:r>
              <a:rPr sz="1000" b="0">
                <a:solidFill>
                  <a:srgbClr val="7F8C8D"/>
                </a:solidFill>
                <a:latin typeface="Consolas"/>
              </a:rPr>
              <a:t>11:          </a:t>
            </a:r>
            <a:r>
              <a:rPr sz="1000" b="0">
                <a:solidFill>
                  <a:srgbClr val="000000"/>
                </a:solidFill>
                <a:latin typeface="Times New Roman"/>
              </a:rPr>
              <a:t>τ_{t+1} ← τ_t  // balanced: maintain threshold</a:t>
            </a:r>
          </a:p>
          <a:p>
            <a:pPr>
              <a:spcBef>
                <a:spcPts val="0"/>
              </a:spcBef>
              <a:spcAft>
                <a:spcPts val="100"/>
              </a:spcAft>
            </a:pPr>
            <a:r>
              <a:rPr sz="1000" b="0">
                <a:solidFill>
                  <a:srgbClr val="7F8C8D"/>
                </a:solidFill>
                <a:latin typeface="Consolas"/>
              </a:rPr>
              <a:t>12:      </a:t>
            </a:r>
            <a:r>
              <a:rPr sz="1000" b="1">
                <a:solidFill>
                  <a:srgbClr val="000000"/>
                </a:solidFill>
                <a:latin typeface="Times New Roman"/>
              </a:rPr>
              <a:t>end if</a:t>
            </a:r>
          </a:p>
          <a:p>
            <a:pPr>
              <a:spcBef>
                <a:spcPts val="0"/>
              </a:spcBef>
              <a:spcAft>
                <a:spcPts val="100"/>
              </a:spcAft>
            </a:pPr>
            <a:r>
              <a:rPr sz="1000" b="0">
                <a:solidFill>
                  <a:srgbClr val="7F8C8D"/>
                </a:solidFill>
                <a:latin typeface="Consolas"/>
              </a:rPr>
              <a:t>13:      </a:t>
            </a:r>
            <a:r>
              <a:rPr sz="1000" b="0">
                <a:solidFill>
                  <a:srgbClr val="000000"/>
                </a:solidFill>
                <a:latin typeface="Times New Roman"/>
              </a:rPr>
              <a:t>τ_{t+1} ← clip(τ_{t+1}, 0.40, 0.70)</a:t>
            </a:r>
          </a:p>
          <a:p>
            <a:pPr>
              <a:spcBef>
                <a:spcPts val="0"/>
              </a:spcBef>
              <a:spcAft>
                <a:spcPts val="100"/>
              </a:spcAft>
            </a:pPr>
            <a:r>
              <a:rPr sz="1000" b="0">
                <a:solidFill>
                  <a:srgbClr val="7F8C8D"/>
                </a:solidFill>
                <a:latin typeface="Consolas"/>
              </a:rPr>
              <a:t>14:  </a:t>
            </a:r>
            <a:r>
              <a:rPr sz="1000" b="1">
                <a:solidFill>
                  <a:srgbClr val="000000"/>
                </a:solidFill>
                <a:latin typeface="Times New Roman"/>
              </a:rPr>
              <a:t>end for</a:t>
            </a:r>
          </a:p>
          <a:p>
            <a:pPr>
              <a:spcBef>
                <a:spcPts val="0"/>
              </a:spcBef>
              <a:spcAft>
                <a:spcPts val="100"/>
              </a:spcAft>
            </a:pPr>
            <a:r>
              <a:rPr sz="1000" b="0">
                <a:solidFill>
                  <a:srgbClr val="7F8C8D"/>
                </a:solidFill>
                <a:latin typeface="Consolas"/>
              </a:rPr>
              <a:t>15:  </a:t>
            </a:r>
            <a:r>
              <a:rPr sz="1000" b="1">
                <a:solidFill>
                  <a:srgbClr val="000000"/>
                </a:solidFill>
                <a:latin typeface="Times New Roman"/>
              </a:rPr>
              <a:t>return </a:t>
            </a:r>
            <a:r>
              <a:rPr sz="1000" b="0">
                <a:solidFill>
                  <a:srgbClr val="000000"/>
                </a:solidFill>
                <a:latin typeface="Times New Roman"/>
              </a:rPr>
              <a:t>τ_{t+1}</a:t>
            </a:r>
          </a:p>
        </p:txBody>
      </p:sp>
      <p:pic>
        <p:nvPicPr>
          <p:cNvPr id="5" name="Picture 4" descr="image.png"/>
          <p:cNvPicPr>
            <a:picLocks noChangeAspect="1"/>
          </p:cNvPicPr>
          <p:nvPr/>
        </p:nvPicPr>
        <p:blipFill>
          <a:blip r:embed="rId2"/>
          <a:stretch>
            <a:fillRect/>
          </a:stretch>
        </p:blipFill>
        <p:spPr>
          <a:xfrm>
            <a:off x="7498079" y="640080"/>
            <a:ext cx="4114800" cy="1572462"/>
          </a:xfrm>
          <a:prstGeom prst="rect">
            <a:avLst/>
          </a:prstGeom>
        </p:spPr>
      </p:pic>
      <p:sp>
        <p:nvSpPr>
          <p:cNvPr id="6" name="TextBox 5"/>
          <p:cNvSpPr txBox="1"/>
          <p:nvPr/>
        </p:nvSpPr>
        <p:spPr>
          <a:xfrm>
            <a:off x="7498079" y="2743200"/>
            <a:ext cx="4389120" cy="2286000"/>
          </a:xfrm>
          <a:prstGeom prst="rect">
            <a:avLst/>
          </a:prstGeom>
          <a:noFill/>
        </p:spPr>
        <p:txBody>
          <a:bodyPr wrap="square">
            <a:spAutoFit/>
          </a:bodyPr>
          <a:lstStyle/>
          <a:p>
            <a:pPr>
              <a:spcAft>
                <a:spcPts val="400"/>
              </a:spcAft>
              <a:defRPr sz="1100" b="0">
                <a:solidFill>
                  <a:srgbClr val="000000"/>
                </a:solidFill>
                <a:latin typeface="Calibri"/>
              </a:defRPr>
            </a:pPr>
            <a:r>
              <a:t>•  Continuously adjusts τ ∈ [0.40, 0.70] based on the balance between FPR and FNR using exponential moving average (EMA, β=0.3).</a:t>
            </a:r>
          </a:p>
          <a:p>
            <a:pPr>
              <a:spcAft>
                <a:spcPts val="400"/>
              </a:spcAft>
              <a:defRPr sz="1100" b="0">
                <a:solidFill>
                  <a:srgbClr val="000000"/>
                </a:solidFill>
                <a:latin typeface="Calibri"/>
              </a:defRPr>
            </a:pPr>
            <a:r>
              <a:t>•  When FPR dominates, threshold rises to reduce false alarms; when FNR dominates, it falls to catch more attacks—creating a self-correcting feedback loop.</a:t>
            </a:r>
          </a:p>
          <a:p>
            <a:pPr>
              <a:spcAft>
                <a:spcPts val="400"/>
              </a:spcAft>
              <a:defRPr sz="1100" b="0">
                <a:solidFill>
                  <a:srgbClr val="000000"/>
                </a:solidFill>
                <a:latin typeface="Calibri"/>
              </a:defRPr>
            </a:pPr>
            <a:r>
              <a:t>•  Sequential stage: threshold state depends on previous window's EMA values (temporal dependency).</a:t>
            </a:r>
          </a:p>
          <a:p>
            <a:pPr>
              <a:spcAft>
                <a:spcPts val="400"/>
              </a:spcAft>
              <a:defRPr sz="1100" b="0">
                <a:solidFill>
                  <a:srgbClr val="000000"/>
                </a:solidFill>
                <a:latin typeface="Calibri"/>
              </a:defRPr>
            </a:pPr>
            <a:r>
              <a:t>•  Hard bounds [0.40, 0.70] prevent threshold from becoming too permissive or too aggressive.</a:t>
            </a:r>
          </a:p>
        </p:txBody>
      </p:sp>
      <p:sp>
        <p:nvSpPr>
          <p:cNvPr id="7" name="TextBox 6"/>
          <p:cNvSpPr txBox="1"/>
          <p:nvPr/>
        </p:nvSpPr>
        <p:spPr>
          <a:xfrm>
            <a:off x="274320" y="5486400"/>
            <a:ext cx="11430000" cy="365760"/>
          </a:xfrm>
          <a:prstGeom prst="rect">
            <a:avLst/>
          </a:prstGeom>
          <a:noFill/>
        </p:spPr>
        <p:txBody>
          <a:bodyPr wrap="square">
            <a:spAutoFit/>
          </a:bodyPr>
          <a:lstStyle/>
          <a:p>
            <a:pPr algn="ctr">
              <a:defRPr sz="1300" b="1">
                <a:solidFill>
                  <a:srgbClr val="2980B9"/>
                </a:solidFill>
                <a:latin typeface="Calibri"/>
              </a:defRPr>
            </a:pPr>
            <a:r>
              <a:t>Output: τ_{t+1} → Used by Stage 8 for high-confidence direct classification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274320" y="137160"/>
            <a:ext cx="11430000" cy="457200"/>
          </a:xfrm>
          <a:prstGeom prst="rect">
            <a:avLst/>
          </a:prstGeom>
          <a:noFill/>
        </p:spPr>
        <p:txBody>
          <a:bodyPr wrap="square">
            <a:spAutoFit/>
          </a:bodyPr>
          <a:lstStyle/>
          <a:p>
            <a:pPr algn="l">
              <a:defRPr sz="2400" b="1">
                <a:solidFill>
                  <a:srgbClr val="2C3E50"/>
                </a:solidFill>
                <a:latin typeface="Calibri"/>
              </a:defRPr>
            </a:pPr>
            <a:r>
              <a:t>Stage 8: Final Classification Decision  [⚡ Parallelizable per Flow]</a:t>
            </a:r>
          </a:p>
        </p:txBody>
      </p:sp>
      <p:sp>
        <p:nvSpPr>
          <p:cNvPr id="3" name="Rectangle 2"/>
          <p:cNvSpPr/>
          <p:nvPr/>
        </p:nvSpPr>
        <p:spPr>
          <a:xfrm>
            <a:off x="274320" y="640080"/>
            <a:ext cx="7132320" cy="5029200"/>
          </a:xfrm>
          <a:prstGeom prst="rect">
            <a:avLst/>
          </a:prstGeom>
          <a:solidFill>
            <a:srgbClr val="F7F9FB"/>
          </a:solidFill>
          <a:ln w="19050">
            <a:solidFill>
              <a:srgbClr val="3449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685800"/>
            <a:ext cx="6858000" cy="4937760"/>
          </a:xfrm>
          <a:prstGeom prst="rect">
            <a:avLst/>
          </a:prstGeom>
          <a:noFill/>
        </p:spPr>
        <p:txBody>
          <a:bodyPr wrap="square">
            <a:spAutoFit/>
          </a:bodyPr>
          <a:lstStyle/>
          <a:p>
            <a:pPr>
              <a:spcAft>
                <a:spcPts val="300"/>
              </a:spcAft>
            </a:pPr>
            <a:r>
              <a:rPr sz="1200" b="1" i="1">
                <a:solidFill>
                  <a:srgbClr val="000000"/>
                </a:solidFill>
                <a:latin typeface="Times New Roman"/>
              </a:rPr>
              <a:t>Algorithm 9: </a:t>
            </a:r>
            <a:r>
              <a:rPr sz="1200" b="1">
                <a:solidFill>
                  <a:srgbClr val="000000"/>
                </a:solidFill>
                <a:latin typeface="Times New Roman"/>
              </a:rPr>
              <a:t>Final Classification with Tiered Decision Logic</a:t>
            </a:r>
          </a:p>
          <a:p>
            <a:pPr>
              <a:spcBef>
                <a:spcPts val="0"/>
              </a:spcBef>
              <a:spcAft>
                <a:spcPts val="100"/>
              </a:spcAft>
            </a:pPr>
            <a:r>
              <a:rPr sz="1000" b="1">
                <a:solidFill>
                  <a:srgbClr val="000000"/>
                </a:solidFill>
                <a:latin typeface="Times New Roman"/>
              </a:rPr>
              <a:t>Require:</a:t>
            </a:r>
            <a:r>
              <a:rPr sz="1000" b="0">
                <a:solidFill>
                  <a:srgbClr val="000000"/>
                </a:solidFill>
                <a:latin typeface="Times New Roman"/>
              </a:rPr>
              <a:t> Flow x_i, threshold τ, Q-table Q, constraint set C, DT tree T</a:t>
            </a:r>
          </a:p>
          <a:p>
            <a:pPr>
              <a:spcBef>
                <a:spcPts val="0"/>
              </a:spcBef>
              <a:spcAft>
                <a:spcPts val="100"/>
              </a:spcAft>
            </a:pPr>
            <a:r>
              <a:rPr sz="1000" b="1">
                <a:solidFill>
                  <a:srgbClr val="000000"/>
                </a:solidFill>
                <a:latin typeface="Times New Roman"/>
              </a:rPr>
              <a:t>Ensure:</a:t>
            </a:r>
            <a:r>
              <a:rPr sz="1000" b="0">
                <a:solidFill>
                  <a:srgbClr val="000000"/>
                </a:solidFill>
                <a:latin typeface="Times New Roman"/>
              </a:rPr>
              <a:t> Final classification ŷ_i ∈ {0=BENIGN, 1=ATTACK} with audit trail</a:t>
            </a:r>
          </a:p>
          <a:p>
            <a:pPr>
              <a:spcBef>
                <a:spcPts val="0"/>
              </a:spcBef>
              <a:spcAft>
                <a:spcPts val="100"/>
              </a:spcAft>
            </a:pPr>
            <a:r>
              <a:rPr sz="1000" b="0">
                <a:solidFill>
                  <a:srgbClr val="7F8C8D"/>
                </a:solidFill>
                <a:latin typeface="Consolas"/>
              </a:rPr>
              <a:t> 1:  </a:t>
            </a:r>
            <a:r>
              <a:rPr sz="1000" b="0">
                <a:solidFill>
                  <a:srgbClr val="000000"/>
                </a:solidFill>
                <a:latin typeface="Times New Roman"/>
              </a:rPr>
              <a:t>p_i ← P(attack | leaf_id(T, x_i))  // DT leaf probability</a:t>
            </a:r>
          </a:p>
          <a:p>
            <a:pPr>
              <a:spcBef>
                <a:spcPts val="0"/>
              </a:spcBef>
              <a:spcAft>
                <a:spcPts val="100"/>
              </a:spcAft>
            </a:pPr>
            <a:r>
              <a:rPr sz="1000" b="0">
                <a:solidFill>
                  <a:srgbClr val="7F8C8D"/>
                </a:solidFill>
                <a:latin typeface="Consolas"/>
              </a:rPr>
              <a:t> 2:  </a:t>
            </a:r>
            <a:r>
              <a:rPr sz="1000" b="1">
                <a:solidFill>
                  <a:srgbClr val="000000"/>
                </a:solidFill>
                <a:latin typeface="Times New Roman"/>
              </a:rPr>
              <a:t>if </a:t>
            </a:r>
            <a:r>
              <a:rPr sz="1000" b="0">
                <a:solidFill>
                  <a:srgbClr val="000000"/>
                </a:solidFill>
                <a:latin typeface="Times New Roman"/>
              </a:rPr>
              <a:t>p_i ≥ τ </a:t>
            </a:r>
            <a:r>
              <a:rPr sz="1000" b="1">
                <a:solidFill>
                  <a:srgbClr val="000000"/>
                </a:solidFill>
                <a:latin typeface="Times New Roman"/>
              </a:rPr>
              <a:t>then</a:t>
            </a:r>
          </a:p>
          <a:p>
            <a:pPr>
              <a:spcBef>
                <a:spcPts val="0"/>
              </a:spcBef>
              <a:spcAft>
                <a:spcPts val="100"/>
              </a:spcAft>
            </a:pPr>
            <a:r>
              <a:rPr sz="1000" b="0">
                <a:solidFill>
                  <a:srgbClr val="7F8C8D"/>
                </a:solidFill>
                <a:latin typeface="Consolas"/>
              </a:rPr>
              <a:t> 3:      </a:t>
            </a:r>
            <a:r>
              <a:rPr sz="1000" b="0">
                <a:solidFill>
                  <a:srgbClr val="000000"/>
                </a:solidFill>
                <a:latin typeface="Times New Roman"/>
              </a:rPr>
              <a:t>ŷ_i ← 1 (ATTACK)  // high confidence attack</a:t>
            </a:r>
          </a:p>
          <a:p>
            <a:pPr>
              <a:spcBef>
                <a:spcPts val="0"/>
              </a:spcBef>
              <a:spcAft>
                <a:spcPts val="100"/>
              </a:spcAft>
            </a:pPr>
            <a:r>
              <a:rPr sz="1000" b="0">
                <a:solidFill>
                  <a:srgbClr val="7F8C8D"/>
                </a:solidFill>
                <a:latin typeface="Consolas"/>
              </a:rPr>
              <a:t> 4:      </a:t>
            </a:r>
            <a:r>
              <a:rPr sz="1000" b="0">
                <a:solidFill>
                  <a:srgbClr val="000000"/>
                </a:solidFill>
                <a:latin typeface="Times New Roman"/>
              </a:rPr>
              <a:t>confidence ← 'HIGH_ATTACK'</a:t>
            </a:r>
          </a:p>
          <a:p>
            <a:pPr>
              <a:spcBef>
                <a:spcPts val="0"/>
              </a:spcBef>
              <a:spcAft>
                <a:spcPts val="100"/>
              </a:spcAft>
            </a:pPr>
            <a:r>
              <a:rPr sz="1000" b="0">
                <a:solidFill>
                  <a:srgbClr val="7F8C8D"/>
                </a:solidFill>
                <a:latin typeface="Consolas"/>
              </a:rPr>
              <a:t> 5:  </a:t>
            </a:r>
            <a:r>
              <a:rPr sz="1000" b="1">
                <a:solidFill>
                  <a:srgbClr val="000000"/>
                </a:solidFill>
                <a:latin typeface="Times New Roman"/>
              </a:rPr>
              <a:t>else</a:t>
            </a:r>
            <a:r>
              <a:rPr sz="1000" b="0">
                <a:solidFill>
                  <a:srgbClr val="000000"/>
                </a:solidFill>
                <a:latin typeface="Times New Roman"/>
              </a:rPr>
              <a:t> </a:t>
            </a:r>
            <a:r>
              <a:rPr sz="1000" b="1">
                <a:solidFill>
                  <a:srgbClr val="000000"/>
                </a:solidFill>
                <a:latin typeface="Times New Roman"/>
              </a:rPr>
              <a:t>if </a:t>
            </a:r>
            <a:r>
              <a:rPr sz="1000" b="0">
                <a:solidFill>
                  <a:srgbClr val="000000"/>
                </a:solidFill>
                <a:latin typeface="Times New Roman"/>
              </a:rPr>
              <a:t>p_i ≤ 1 - τ </a:t>
            </a:r>
            <a:r>
              <a:rPr sz="1000" b="1">
                <a:solidFill>
                  <a:srgbClr val="000000"/>
                </a:solidFill>
                <a:latin typeface="Times New Roman"/>
              </a:rPr>
              <a:t>then</a:t>
            </a:r>
          </a:p>
          <a:p>
            <a:pPr>
              <a:spcBef>
                <a:spcPts val="0"/>
              </a:spcBef>
              <a:spcAft>
                <a:spcPts val="100"/>
              </a:spcAft>
            </a:pPr>
            <a:r>
              <a:rPr sz="1000" b="0">
                <a:solidFill>
                  <a:srgbClr val="7F8C8D"/>
                </a:solidFill>
                <a:latin typeface="Consolas"/>
              </a:rPr>
              <a:t> 6:      </a:t>
            </a:r>
            <a:r>
              <a:rPr sz="1000" b="0">
                <a:solidFill>
                  <a:srgbClr val="000000"/>
                </a:solidFill>
                <a:latin typeface="Times New Roman"/>
              </a:rPr>
              <a:t>ŷ_i ← 0 (BENIGN)  // high confidence benign</a:t>
            </a:r>
          </a:p>
          <a:p>
            <a:pPr>
              <a:spcBef>
                <a:spcPts val="0"/>
              </a:spcBef>
              <a:spcAft>
                <a:spcPts val="100"/>
              </a:spcAft>
            </a:pPr>
            <a:r>
              <a:rPr sz="1000" b="0">
                <a:solidFill>
                  <a:srgbClr val="7F8C8D"/>
                </a:solidFill>
                <a:latin typeface="Consolas"/>
              </a:rPr>
              <a:t> 7:      </a:t>
            </a:r>
            <a:r>
              <a:rPr sz="1000" b="0">
                <a:solidFill>
                  <a:srgbClr val="000000"/>
                </a:solidFill>
                <a:latin typeface="Times New Roman"/>
              </a:rPr>
              <a:t>confidence ← 'HIGH_BENIGN'</a:t>
            </a:r>
          </a:p>
          <a:p>
            <a:pPr>
              <a:spcBef>
                <a:spcPts val="0"/>
              </a:spcBef>
              <a:spcAft>
                <a:spcPts val="100"/>
              </a:spcAft>
            </a:pPr>
            <a:r>
              <a:rPr sz="1000" b="0">
                <a:solidFill>
                  <a:srgbClr val="7F8C8D"/>
                </a:solidFill>
                <a:latin typeface="Consolas"/>
              </a:rPr>
              <a:t> 8:  </a:t>
            </a:r>
            <a:r>
              <a:rPr sz="1000" b="1">
                <a:solidFill>
                  <a:srgbClr val="000000"/>
                </a:solidFill>
                <a:latin typeface="Times New Roman"/>
              </a:rPr>
              <a:t>else</a:t>
            </a:r>
          </a:p>
          <a:p>
            <a:pPr>
              <a:spcBef>
                <a:spcPts val="0"/>
              </a:spcBef>
              <a:spcAft>
                <a:spcPts val="100"/>
              </a:spcAft>
            </a:pPr>
            <a:r>
              <a:rPr sz="1000" b="0">
                <a:solidFill>
                  <a:srgbClr val="7F8C8D"/>
                </a:solidFill>
                <a:latin typeface="Consolas"/>
              </a:rPr>
              <a:t> 9:      </a:t>
            </a:r>
            <a:r>
              <a:rPr sz="1000" b="0">
                <a:solidFill>
                  <a:srgbClr val="000000"/>
                </a:solidFill>
                <a:latin typeface="Times New Roman"/>
              </a:rPr>
              <a:t>// Uncertain region: invoke RL + Z3 safety shield</a:t>
            </a:r>
          </a:p>
          <a:p>
            <a:pPr>
              <a:spcBef>
                <a:spcPts val="0"/>
              </a:spcBef>
              <a:spcAft>
                <a:spcPts val="100"/>
              </a:spcAft>
            </a:pPr>
            <a:r>
              <a:rPr sz="1000" b="0">
                <a:solidFill>
                  <a:srgbClr val="7F8C8D"/>
                </a:solidFill>
                <a:latin typeface="Consolas"/>
              </a:rPr>
              <a:t>10:      </a:t>
            </a:r>
            <a:r>
              <a:rPr sz="1000" b="0">
                <a:solidFill>
                  <a:srgbClr val="000000"/>
                </a:solidFill>
                <a:latin typeface="Times New Roman"/>
              </a:rPr>
              <a:t>s_i ← leaf_id(T, x_i)</a:t>
            </a:r>
          </a:p>
          <a:p>
            <a:pPr>
              <a:spcBef>
                <a:spcPts val="0"/>
              </a:spcBef>
              <a:spcAft>
                <a:spcPts val="100"/>
              </a:spcAft>
            </a:pPr>
            <a:r>
              <a:rPr sz="1000" b="0">
                <a:solidFill>
                  <a:srgbClr val="7F8C8D"/>
                </a:solidFill>
                <a:latin typeface="Consolas"/>
              </a:rPr>
              <a:t>11:      </a:t>
            </a:r>
            <a:r>
              <a:rPr sz="1000" b="0">
                <a:solidFill>
                  <a:srgbClr val="000000"/>
                </a:solidFill>
                <a:latin typeface="Times New Roman"/>
              </a:rPr>
              <a:t>a_RL ← argmax_a Q(s_i, a)</a:t>
            </a:r>
          </a:p>
          <a:p>
            <a:pPr>
              <a:spcBef>
                <a:spcPts val="0"/>
              </a:spcBef>
              <a:spcAft>
                <a:spcPts val="100"/>
              </a:spcAft>
            </a:pPr>
            <a:r>
              <a:rPr sz="1000" b="0">
                <a:solidFill>
                  <a:srgbClr val="7F8C8D"/>
                </a:solidFill>
                <a:latin typeface="Consolas"/>
              </a:rPr>
              <a:t>12:      </a:t>
            </a:r>
            <a:r>
              <a:rPr sz="1000" b="1">
                <a:solidFill>
                  <a:srgbClr val="000000"/>
                </a:solidFill>
                <a:latin typeface="Times New Roman"/>
              </a:rPr>
              <a:t>if </a:t>
            </a:r>
            <a:r>
              <a:rPr sz="1000" b="0">
                <a:solidFill>
                  <a:srgbClr val="000000"/>
                </a:solidFill>
                <a:latin typeface="Times New Roman"/>
              </a:rPr>
              <a:t>Z3_verify(C, x_i, a_RL) == sat </a:t>
            </a:r>
            <a:r>
              <a:rPr sz="1000" b="1">
                <a:solidFill>
                  <a:srgbClr val="000000"/>
                </a:solidFill>
                <a:latin typeface="Times New Roman"/>
              </a:rPr>
              <a:t>then</a:t>
            </a:r>
          </a:p>
          <a:p>
            <a:pPr>
              <a:spcBef>
                <a:spcPts val="0"/>
              </a:spcBef>
              <a:spcAft>
                <a:spcPts val="100"/>
              </a:spcAft>
            </a:pPr>
            <a:r>
              <a:rPr sz="1000" b="0">
                <a:solidFill>
                  <a:srgbClr val="7F8C8D"/>
                </a:solidFill>
                <a:latin typeface="Consolas"/>
              </a:rPr>
              <a:t>13:          </a:t>
            </a:r>
            <a:r>
              <a:rPr sz="1000" b="0">
                <a:solidFill>
                  <a:srgbClr val="000000"/>
                </a:solidFill>
                <a:latin typeface="Times New Roman"/>
              </a:rPr>
              <a:t>ŷ_i ← a_RL  // RL action is safe</a:t>
            </a:r>
          </a:p>
          <a:p>
            <a:pPr>
              <a:spcBef>
                <a:spcPts val="0"/>
              </a:spcBef>
              <a:spcAft>
                <a:spcPts val="100"/>
              </a:spcAft>
            </a:pPr>
            <a:r>
              <a:rPr sz="1000" b="0">
                <a:solidFill>
                  <a:srgbClr val="7F8C8D"/>
                </a:solidFill>
                <a:latin typeface="Consolas"/>
              </a:rPr>
              <a:t>14:      </a:t>
            </a:r>
            <a:r>
              <a:rPr sz="1000" b="1">
                <a:solidFill>
                  <a:srgbClr val="000000"/>
                </a:solidFill>
                <a:latin typeface="Times New Roman"/>
              </a:rPr>
              <a:t>else</a:t>
            </a:r>
          </a:p>
          <a:p>
            <a:pPr>
              <a:spcBef>
                <a:spcPts val="0"/>
              </a:spcBef>
              <a:spcAft>
                <a:spcPts val="100"/>
              </a:spcAft>
            </a:pPr>
            <a:r>
              <a:rPr sz="1000" b="0">
                <a:solidFill>
                  <a:srgbClr val="7F8C8D"/>
                </a:solidFill>
                <a:latin typeface="Consolas"/>
              </a:rPr>
              <a:t>15:          </a:t>
            </a:r>
            <a:r>
              <a:rPr sz="1000" b="0">
                <a:solidFill>
                  <a:srgbClr val="000000"/>
                </a:solidFill>
                <a:latin typeface="Times New Roman"/>
              </a:rPr>
              <a:t>ŷ_i ← 1 - a_RL  // safety shield override</a:t>
            </a:r>
          </a:p>
          <a:p>
            <a:pPr>
              <a:spcBef>
                <a:spcPts val="0"/>
              </a:spcBef>
              <a:spcAft>
                <a:spcPts val="100"/>
              </a:spcAft>
            </a:pPr>
            <a:r>
              <a:rPr sz="1000" b="0">
                <a:solidFill>
                  <a:srgbClr val="7F8C8D"/>
                </a:solidFill>
                <a:latin typeface="Consolas"/>
              </a:rPr>
              <a:t>16:      </a:t>
            </a:r>
            <a:r>
              <a:rPr sz="1000" b="1">
                <a:solidFill>
                  <a:srgbClr val="000000"/>
                </a:solidFill>
                <a:latin typeface="Times New Roman"/>
              </a:rPr>
              <a:t>end if</a:t>
            </a:r>
          </a:p>
          <a:p>
            <a:pPr>
              <a:spcBef>
                <a:spcPts val="0"/>
              </a:spcBef>
              <a:spcAft>
                <a:spcPts val="100"/>
              </a:spcAft>
            </a:pPr>
            <a:r>
              <a:rPr sz="1000" b="0">
                <a:solidFill>
                  <a:srgbClr val="7F8C8D"/>
                </a:solidFill>
                <a:latin typeface="Consolas"/>
              </a:rPr>
              <a:t>17:      </a:t>
            </a:r>
            <a:r>
              <a:rPr sz="1000" b="0">
                <a:solidFill>
                  <a:srgbClr val="000000"/>
                </a:solidFill>
                <a:latin typeface="Times New Roman"/>
              </a:rPr>
              <a:t>confidence ← 'RL_VERIFIED'</a:t>
            </a:r>
          </a:p>
          <a:p>
            <a:pPr>
              <a:spcBef>
                <a:spcPts val="0"/>
              </a:spcBef>
              <a:spcAft>
                <a:spcPts val="100"/>
              </a:spcAft>
            </a:pPr>
            <a:r>
              <a:rPr sz="1000" b="0">
                <a:solidFill>
                  <a:srgbClr val="7F8C8D"/>
                </a:solidFill>
                <a:latin typeface="Consolas"/>
              </a:rPr>
              <a:t>18:  </a:t>
            </a:r>
            <a:r>
              <a:rPr sz="1000" b="1">
                <a:solidFill>
                  <a:srgbClr val="000000"/>
                </a:solidFill>
                <a:latin typeface="Times New Roman"/>
              </a:rPr>
              <a:t>end if</a:t>
            </a:r>
          </a:p>
          <a:p>
            <a:pPr>
              <a:spcBef>
                <a:spcPts val="0"/>
              </a:spcBef>
              <a:spcAft>
                <a:spcPts val="100"/>
              </a:spcAft>
            </a:pPr>
            <a:r>
              <a:rPr sz="1000" b="0">
                <a:solidFill>
                  <a:srgbClr val="7F8C8D"/>
                </a:solidFill>
                <a:latin typeface="Consolas"/>
              </a:rPr>
              <a:t>19:  </a:t>
            </a:r>
            <a:r>
              <a:rPr sz="1000" b="1">
                <a:solidFill>
                  <a:srgbClr val="000000"/>
                </a:solidFill>
                <a:latin typeface="Times New Roman"/>
              </a:rPr>
              <a:t>return </a:t>
            </a:r>
            <a:r>
              <a:rPr sz="1000" b="0">
                <a:solidFill>
                  <a:srgbClr val="000000"/>
                </a:solidFill>
                <a:latin typeface="Times New Roman"/>
              </a:rPr>
              <a:t>ŷ_i, confidence, audit_trail(p_i, s_i, C)  // ⚡ per-flow parallel</a:t>
            </a:r>
          </a:p>
        </p:txBody>
      </p:sp>
      <p:pic>
        <p:nvPicPr>
          <p:cNvPr id="5" name="Picture 4" descr="image.png"/>
          <p:cNvPicPr>
            <a:picLocks noChangeAspect="1"/>
          </p:cNvPicPr>
          <p:nvPr/>
        </p:nvPicPr>
        <p:blipFill>
          <a:blip r:embed="rId2"/>
          <a:stretch>
            <a:fillRect/>
          </a:stretch>
        </p:blipFill>
        <p:spPr>
          <a:xfrm>
            <a:off x="7589520" y="640080"/>
            <a:ext cx="3657600" cy="1565910"/>
          </a:xfrm>
          <a:prstGeom prst="rect">
            <a:avLst/>
          </a:prstGeom>
        </p:spPr>
      </p:pic>
      <p:sp>
        <p:nvSpPr>
          <p:cNvPr id="6" name="TextBox 5"/>
          <p:cNvSpPr txBox="1"/>
          <p:nvPr/>
        </p:nvSpPr>
        <p:spPr>
          <a:xfrm>
            <a:off x="7589520" y="2560320"/>
            <a:ext cx="4114800" cy="2743200"/>
          </a:xfrm>
          <a:prstGeom prst="rect">
            <a:avLst/>
          </a:prstGeom>
          <a:noFill/>
        </p:spPr>
        <p:txBody>
          <a:bodyPr wrap="square">
            <a:spAutoFit/>
          </a:bodyPr>
          <a:lstStyle/>
          <a:p>
            <a:pPr>
              <a:spcAft>
                <a:spcPts val="400"/>
              </a:spcAft>
              <a:defRPr sz="1100" b="0">
                <a:solidFill>
                  <a:srgbClr val="000000"/>
                </a:solidFill>
                <a:latin typeface="Calibri"/>
              </a:defRPr>
            </a:pPr>
            <a:r>
              <a:t>•  Three-tier logic: high-confidence flows (p ≥ τ or p ≤ 1−τ) classified directly; uncertain flows deferred to RL+Z3 verification.</a:t>
            </a:r>
          </a:p>
          <a:p>
            <a:pPr>
              <a:spcAft>
                <a:spcPts val="400"/>
              </a:spcAft>
              <a:defRPr sz="1100" b="0">
                <a:solidFill>
                  <a:srgbClr val="000000"/>
                </a:solidFill>
                <a:latin typeface="Calibri"/>
              </a:defRPr>
            </a:pPr>
            <a:r>
              <a:t>•  Embarrassingly parallel: each flow's classification is independent—Q-table and constraint set are read-only at inference time.</a:t>
            </a:r>
          </a:p>
          <a:p>
            <a:pPr>
              <a:spcAft>
                <a:spcPts val="400"/>
              </a:spcAft>
              <a:defRPr sz="1100" b="0">
                <a:solidFill>
                  <a:srgbClr val="000000"/>
                </a:solidFill>
                <a:latin typeface="Calibri"/>
              </a:defRPr>
            </a:pPr>
            <a:r>
              <a:t>•  Every classification produces a full audit trail: DT probability, leaf state, Z3 check result, and confidence level for complete explainability.</a:t>
            </a:r>
          </a:p>
          <a:p>
            <a:pPr>
              <a:spcAft>
                <a:spcPts val="400"/>
              </a:spcAft>
              <a:defRPr sz="1100" b="0">
                <a:solidFill>
                  <a:srgbClr val="000000"/>
                </a:solidFill>
                <a:latin typeface="Calibri"/>
              </a:defRPr>
            </a:pPr>
            <a:r>
              <a:t>•  Tiered approach reduces Z3 solver calls (~70% of flows are high-confidence), balancing verification overhead with throughput.</a:t>
            </a:r>
          </a:p>
        </p:txBody>
      </p:sp>
      <p:sp>
        <p:nvSpPr>
          <p:cNvPr id="7" name="TextBox 6"/>
          <p:cNvSpPr txBox="1"/>
          <p:nvPr/>
        </p:nvSpPr>
        <p:spPr>
          <a:xfrm>
            <a:off x="274320" y="5760720"/>
            <a:ext cx="11430000" cy="365760"/>
          </a:xfrm>
          <a:prstGeom prst="rect">
            <a:avLst/>
          </a:prstGeom>
          <a:noFill/>
        </p:spPr>
        <p:txBody>
          <a:bodyPr wrap="square">
            <a:spAutoFit/>
          </a:bodyPr>
          <a:lstStyle/>
          <a:p>
            <a:pPr algn="ctr">
              <a:defRPr sz="1300" b="1">
                <a:solidFill>
                  <a:srgbClr val="2980B9"/>
                </a:solidFill>
                <a:latin typeface="Calibri"/>
              </a:defRPr>
            </a:pPr>
            <a:r>
              <a:t>Output: ŷ_i ∈ {0, 1} with confidence level and full audit trail for every classification decision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274320" y="137160"/>
            <a:ext cx="11430000" cy="457200"/>
          </a:xfrm>
          <a:prstGeom prst="rect">
            <a:avLst/>
          </a:prstGeom>
          <a:noFill/>
        </p:spPr>
        <p:txBody>
          <a:bodyPr wrap="square">
            <a:spAutoFit/>
          </a:bodyPr>
          <a:lstStyle/>
          <a:p>
            <a:pPr algn="ctr">
              <a:defRPr sz="2600" b="1">
                <a:solidFill>
                  <a:srgbClr val="003C71"/>
                </a:solidFill>
                <a:latin typeface="Calibri"/>
              </a:defRPr>
            </a:pPr>
            <a:r>
              <a:t>Parallel Processing Architecture Across the ASRRL Pipeline</a:t>
            </a:r>
          </a:p>
        </p:txBody>
      </p:sp>
      <p:sp>
        <p:nvSpPr>
          <p:cNvPr id="3" name="TextBox 2"/>
          <p:cNvSpPr txBox="1"/>
          <p:nvPr/>
        </p:nvSpPr>
        <p:spPr>
          <a:xfrm>
            <a:off x="274320" y="731520"/>
            <a:ext cx="5486400" cy="365760"/>
          </a:xfrm>
          <a:prstGeom prst="rect">
            <a:avLst/>
          </a:prstGeom>
          <a:noFill/>
        </p:spPr>
        <p:txBody>
          <a:bodyPr wrap="square">
            <a:spAutoFit/>
          </a:bodyPr>
          <a:lstStyle/>
          <a:p>
            <a:pPr algn="l">
              <a:defRPr sz="1600" b="1">
                <a:solidFill>
                  <a:srgbClr val="1E8E3E"/>
                </a:solidFill>
                <a:latin typeface="Calibri"/>
              </a:defRPr>
            </a:pPr>
            <a:r>
              <a:t>⚡ Parallelizable Stages (Embarrassingly Parallel)</a:t>
            </a:r>
          </a:p>
        </p:txBody>
      </p:sp>
      <p:sp>
        <p:nvSpPr>
          <p:cNvPr id="4" name="TextBox 3"/>
          <p:cNvSpPr txBox="1"/>
          <p:nvPr/>
        </p:nvSpPr>
        <p:spPr>
          <a:xfrm>
            <a:off x="274320" y="1097280"/>
            <a:ext cx="5669280" cy="5029200"/>
          </a:xfrm>
          <a:prstGeom prst="rect">
            <a:avLst/>
          </a:prstGeom>
          <a:noFill/>
        </p:spPr>
        <p:txBody>
          <a:bodyPr wrap="square">
            <a:spAutoFit/>
          </a:bodyPr>
          <a:lstStyle/>
          <a:p>
            <a:pPr>
              <a:spcAft>
                <a:spcPts val="200"/>
              </a:spcAft>
              <a:defRPr sz="1300" b="1">
                <a:solidFill>
                  <a:srgbClr val="1E8E3E"/>
                </a:solidFill>
                <a:latin typeface="Consolas"/>
              </a:defRPr>
            </a:pPr>
            <a:r>
              <a:t>Stage 0: PCAP Binary Preprocessing</a:t>
            </a:r>
          </a:p>
          <a:p>
            <a:pPr>
              <a:spcAft>
                <a:spcPts val="200"/>
              </a:spcAft>
              <a:defRPr sz="1100" b="0">
                <a:solidFill>
                  <a:srgbClr val="000000"/>
                </a:solidFill>
                <a:latin typeface="Consolas"/>
              </a:defRPr>
            </a:pPr>
            <a:r>
              <a:t>  Granularity: Per PCAP file / per time window</a:t>
            </a:r>
          </a:p>
          <a:p>
            <a:pPr>
              <a:spcAft>
                <a:spcPts val="200"/>
              </a:spcAft>
              <a:defRPr sz="1100" b="0">
                <a:solidFill>
                  <a:srgbClr val="000000"/>
                </a:solidFill>
                <a:latin typeface="Consolas"/>
              </a:defRPr>
            </a:pPr>
            <a:r>
              <a:t>  Strategy: Each capture file processed by independent worker</a:t>
            </a:r>
          </a:p>
          <a:p>
            <a:pPr>
              <a:spcAft>
                <a:spcPts val="200"/>
              </a:spcAft>
              <a:defRPr sz="1100" b="0">
                <a:solidFill>
                  <a:srgbClr val="7F8C8D"/>
                </a:solidFill>
                <a:latin typeface="Consolas"/>
              </a:defRPr>
            </a:pPr>
            <a:r>
              <a:t>  Speedup: ~Nx with N CPU cores (I/O bound)</a:t>
            </a:r>
          </a:p>
          <a:p>
            <a:pPr>
              <a:spcAft>
                <a:spcPts val="200"/>
              </a:spcAft>
              <a:defRPr sz="1100" b="0">
                <a:solidFill>
                  <a:srgbClr val="7F8C8D"/>
                </a:solidFill>
                <a:latin typeface="Consolas"/>
              </a:defRPr>
            </a:pPr>
            <a:r>
              <a:t>  Tool: CICFlowMeter instances or parallel Argus processes</a:t>
            </a:r>
          </a:p>
          <a:p>
            <a:pPr>
              <a:spcAft>
                <a:spcPts val="200"/>
              </a:spcAft>
              <a:defRPr sz="400" b="0">
                <a:solidFill>
                  <a:srgbClr val="000000"/>
                </a:solidFill>
                <a:latin typeface="Consolas"/>
              </a:defRPr>
            </a:pPr>
          </a:p>
          <a:p>
            <a:pPr>
              <a:spcAft>
                <a:spcPts val="200"/>
              </a:spcAft>
              <a:defRPr sz="1300" b="1">
                <a:solidFill>
                  <a:srgbClr val="1E8E3E"/>
                </a:solidFill>
                <a:latin typeface="Consolas"/>
              </a:defRPr>
            </a:pPr>
            <a:r>
              <a:t>Stage 3: Z3 Constraint Extraction</a:t>
            </a:r>
          </a:p>
          <a:p>
            <a:pPr>
              <a:spcAft>
                <a:spcPts val="200"/>
              </a:spcAft>
              <a:defRPr sz="1100" b="0">
                <a:solidFill>
                  <a:srgbClr val="000000"/>
                </a:solidFill>
                <a:latin typeface="Consolas"/>
              </a:defRPr>
            </a:pPr>
            <a:r>
              <a:t>  Granularity: Per leaf path (L ≈ 60 independent paths)</a:t>
            </a:r>
          </a:p>
          <a:p>
            <a:pPr>
              <a:spcAft>
                <a:spcPts val="200"/>
              </a:spcAft>
              <a:defRPr sz="1100" b="0">
                <a:solidFill>
                  <a:srgbClr val="000000"/>
                </a:solidFill>
                <a:latin typeface="Consolas"/>
              </a:defRPr>
            </a:pPr>
            <a:r>
              <a:t>  Strategy: Extract each path in parallel; sequential merge + sat check</a:t>
            </a:r>
          </a:p>
          <a:p>
            <a:pPr>
              <a:spcAft>
                <a:spcPts val="200"/>
              </a:spcAft>
              <a:defRPr sz="1100" b="0">
                <a:solidFill>
                  <a:srgbClr val="7F8C8D"/>
                </a:solidFill>
                <a:latin typeface="Consolas"/>
              </a:defRPr>
            </a:pPr>
            <a:r>
              <a:t>  Speedup: ~min(L, N) with N cores</a:t>
            </a:r>
          </a:p>
          <a:p>
            <a:pPr>
              <a:spcAft>
                <a:spcPts val="200"/>
              </a:spcAft>
              <a:defRPr sz="1100" b="0">
                <a:solidFill>
                  <a:srgbClr val="7F8C8D"/>
                </a:solidFill>
                <a:latin typeface="Consolas"/>
              </a:defRPr>
            </a:pPr>
            <a:r>
              <a:t>  Note: Final satisfiability merge is sequential (consistency check)</a:t>
            </a:r>
          </a:p>
          <a:p>
            <a:pPr>
              <a:spcAft>
                <a:spcPts val="200"/>
              </a:spcAft>
              <a:defRPr sz="400" b="0">
                <a:solidFill>
                  <a:srgbClr val="000000"/>
                </a:solidFill>
                <a:latin typeface="Consolas"/>
              </a:defRPr>
            </a:pPr>
          </a:p>
          <a:p>
            <a:pPr>
              <a:spcAft>
                <a:spcPts val="200"/>
              </a:spcAft>
              <a:defRPr sz="1300" b="1">
                <a:solidFill>
                  <a:srgbClr val="1E8E3E"/>
                </a:solidFill>
                <a:latin typeface="Consolas"/>
              </a:defRPr>
            </a:pPr>
            <a:r>
              <a:t>Stage 8: Final Classification (Inference)</a:t>
            </a:r>
          </a:p>
          <a:p>
            <a:pPr>
              <a:spcAft>
                <a:spcPts val="200"/>
              </a:spcAft>
              <a:defRPr sz="1100" b="0">
                <a:solidFill>
                  <a:srgbClr val="000000"/>
                </a:solidFill>
                <a:latin typeface="Consolas"/>
              </a:defRPr>
            </a:pPr>
            <a:r>
              <a:t>  Granularity: Per flow (each flow independently classified)</a:t>
            </a:r>
          </a:p>
          <a:p>
            <a:pPr>
              <a:spcAft>
                <a:spcPts val="200"/>
              </a:spcAft>
              <a:defRPr sz="1100" b="0">
                <a:solidFill>
                  <a:srgbClr val="000000"/>
                </a:solidFill>
                <a:latin typeface="Consolas"/>
              </a:defRPr>
            </a:pPr>
            <a:r>
              <a:t>  Strategy: Partition flow stream across N workers; read-only Q-table + C</a:t>
            </a:r>
          </a:p>
          <a:p>
            <a:pPr>
              <a:spcAft>
                <a:spcPts val="200"/>
              </a:spcAft>
              <a:defRPr sz="1100" b="0">
                <a:solidFill>
                  <a:srgbClr val="7F8C8D"/>
                </a:solidFill>
                <a:latin typeface="Consolas"/>
              </a:defRPr>
            </a:pPr>
            <a:r>
              <a:t>  Speedup: ~Nx with N cores (CPU bound per Z3 call)</a:t>
            </a:r>
          </a:p>
          <a:p>
            <a:pPr>
              <a:spcAft>
                <a:spcPts val="200"/>
              </a:spcAft>
              <a:defRPr sz="1100" b="0">
                <a:solidFill>
                  <a:srgbClr val="7F8C8D"/>
                </a:solidFill>
                <a:latin typeface="Consolas"/>
              </a:defRPr>
            </a:pPr>
            <a:r>
              <a:t>  Note: ~70% direct classification (no Z3 call); ~30% invoke solver</a:t>
            </a:r>
          </a:p>
          <a:p>
            <a:pPr>
              <a:spcAft>
                <a:spcPts val="200"/>
              </a:spcAft>
              <a:defRPr sz="400" b="0">
                <a:solidFill>
                  <a:srgbClr val="000000"/>
                </a:solidFill>
                <a:latin typeface="Consolas"/>
              </a:defRPr>
            </a:pPr>
          </a:p>
          <a:p>
            <a:pPr>
              <a:spcAft>
                <a:spcPts val="200"/>
              </a:spcAft>
              <a:defRPr sz="1300" b="1">
                <a:solidFill>
                  <a:srgbClr val="1E8E3E"/>
                </a:solidFill>
                <a:latin typeface="Consolas"/>
              </a:defRPr>
            </a:pPr>
            <a:r>
              <a:t>Cross-Dataset: All 3 datasets processed independently</a:t>
            </a:r>
          </a:p>
          <a:p>
            <a:pPr>
              <a:spcAft>
                <a:spcPts val="200"/>
              </a:spcAft>
              <a:defRPr sz="1100" b="0">
                <a:solidFill>
                  <a:srgbClr val="000000"/>
                </a:solidFill>
                <a:latin typeface="Consolas"/>
              </a:defRPr>
            </a:pPr>
            <a:r>
              <a:t>  Strategy: 3 pipeline instances run in parallel (no shared state)</a:t>
            </a:r>
          </a:p>
          <a:p>
            <a:pPr>
              <a:spcAft>
                <a:spcPts val="200"/>
              </a:spcAft>
              <a:defRPr sz="1100" b="0">
                <a:solidFill>
                  <a:srgbClr val="7F8C8D"/>
                </a:solidFill>
                <a:latin typeface="Consolas"/>
              </a:defRPr>
            </a:pPr>
            <a:r>
              <a:t>  Speedup: 3x wall-clock time reduction</a:t>
            </a:r>
          </a:p>
        </p:txBody>
      </p:sp>
      <p:sp>
        <p:nvSpPr>
          <p:cNvPr id="5" name="TextBox 4"/>
          <p:cNvSpPr txBox="1"/>
          <p:nvPr/>
        </p:nvSpPr>
        <p:spPr>
          <a:xfrm>
            <a:off x="6400800" y="731520"/>
            <a:ext cx="5486400" cy="365760"/>
          </a:xfrm>
          <a:prstGeom prst="rect">
            <a:avLst/>
          </a:prstGeom>
          <a:noFill/>
        </p:spPr>
        <p:txBody>
          <a:bodyPr wrap="square">
            <a:spAutoFit/>
          </a:bodyPr>
          <a:lstStyle/>
          <a:p>
            <a:pPr algn="l">
              <a:defRPr sz="1600" b="1">
                <a:solidFill>
                  <a:srgbClr val="C0392B"/>
                </a:solidFill>
                <a:latin typeface="Calibri"/>
              </a:defRPr>
            </a:pPr>
            <a:r>
              <a:t>⏸ Sequential Bottlenecks</a:t>
            </a:r>
          </a:p>
        </p:txBody>
      </p:sp>
      <p:sp>
        <p:nvSpPr>
          <p:cNvPr id="6" name="TextBox 5"/>
          <p:cNvSpPr txBox="1"/>
          <p:nvPr/>
        </p:nvSpPr>
        <p:spPr>
          <a:xfrm>
            <a:off x="6400800" y="1097280"/>
            <a:ext cx="5486400" cy="5029200"/>
          </a:xfrm>
          <a:prstGeom prst="rect">
            <a:avLst/>
          </a:prstGeom>
          <a:noFill/>
        </p:spPr>
        <p:txBody>
          <a:bodyPr wrap="square">
            <a:spAutoFit/>
          </a:bodyPr>
          <a:lstStyle/>
          <a:p>
            <a:pPr>
              <a:spcAft>
                <a:spcPts val="200"/>
              </a:spcAft>
              <a:defRPr sz="1300" b="1">
                <a:solidFill>
                  <a:srgbClr val="C0392B"/>
                </a:solidFill>
                <a:latin typeface="Consolas"/>
              </a:defRPr>
            </a:pPr>
            <a:r>
              <a:t>Stage 2: Decision Tree Training</a:t>
            </a:r>
          </a:p>
          <a:p>
            <a:pPr>
              <a:spcAft>
                <a:spcPts val="200"/>
              </a:spcAft>
              <a:defRPr sz="1100" b="0">
                <a:solidFill>
                  <a:srgbClr val="000000"/>
                </a:solidFill>
                <a:latin typeface="Consolas"/>
              </a:defRPr>
            </a:pPr>
            <a:r>
              <a:t>  Reason: CART greedy splits are data-dependent</a:t>
            </a:r>
          </a:p>
          <a:p>
            <a:pPr>
              <a:spcAft>
                <a:spcPts val="200"/>
              </a:spcAft>
              <a:defRPr sz="1100" b="0">
                <a:solidFill>
                  <a:srgbClr val="000000"/>
                </a:solidFill>
                <a:latin typeface="Consolas"/>
              </a:defRPr>
            </a:pPr>
            <a:r>
              <a:t>  Each split depends on the partition from</a:t>
            </a:r>
          </a:p>
          <a:p>
            <a:pPr>
              <a:spcAft>
                <a:spcPts val="200"/>
              </a:spcAft>
              <a:defRPr sz="1100" b="0">
                <a:solidFill>
                  <a:srgbClr val="000000"/>
                </a:solidFill>
                <a:latin typeface="Consolas"/>
              </a:defRPr>
            </a:pPr>
            <a:r>
              <a:t>  the previous split (inherently sequential).</a:t>
            </a:r>
          </a:p>
          <a:p>
            <a:pPr>
              <a:spcAft>
                <a:spcPts val="200"/>
              </a:spcAft>
              <a:defRPr sz="1100" b="0">
                <a:solidFill>
                  <a:srgbClr val="7F8C8D"/>
                </a:solidFill>
                <a:latin typeface="Consolas"/>
              </a:defRPr>
            </a:pPr>
            <a:r>
              <a:t>  Impact: Low (tree depth=6, trains in &lt;1 second)</a:t>
            </a:r>
          </a:p>
          <a:p>
            <a:pPr>
              <a:spcAft>
                <a:spcPts val="200"/>
              </a:spcAft>
              <a:defRPr sz="400" b="0">
                <a:solidFill>
                  <a:srgbClr val="000000"/>
                </a:solidFill>
                <a:latin typeface="Consolas"/>
              </a:defRPr>
            </a:pPr>
          </a:p>
          <a:p>
            <a:pPr>
              <a:spcAft>
                <a:spcPts val="200"/>
              </a:spcAft>
              <a:defRPr sz="1300" b="1">
                <a:solidFill>
                  <a:srgbClr val="C0392B"/>
                </a:solidFill>
                <a:latin typeface="Consolas"/>
              </a:defRPr>
            </a:pPr>
            <a:r>
              <a:t>Stage 4: Q-Learning Training (within episode)</a:t>
            </a:r>
          </a:p>
          <a:p>
            <a:pPr>
              <a:spcAft>
                <a:spcPts val="200"/>
              </a:spcAft>
              <a:defRPr sz="1100" b="0">
                <a:solidFill>
                  <a:srgbClr val="000000"/>
                </a:solidFill>
                <a:latin typeface="Consolas"/>
              </a:defRPr>
            </a:pPr>
            <a:r>
              <a:t>  Reason: Q-table updates are sequential</a:t>
            </a:r>
          </a:p>
          <a:p>
            <a:pPr>
              <a:spcAft>
                <a:spcPts val="200"/>
              </a:spcAft>
              <a:defRPr sz="1100" b="0">
                <a:solidFill>
                  <a:srgbClr val="000000"/>
                </a:solidFill>
                <a:latin typeface="Consolas"/>
              </a:defRPr>
            </a:pPr>
            <a:r>
              <a:t>  (each update depends on current Q-values).</a:t>
            </a:r>
          </a:p>
          <a:p>
            <a:pPr>
              <a:spcAft>
                <a:spcPts val="200"/>
              </a:spcAft>
              <a:defRPr sz="1100" b="0">
                <a:solidFill>
                  <a:srgbClr val="7F8C8D"/>
                </a:solidFill>
                <a:latin typeface="Consolas"/>
              </a:defRPr>
            </a:pPr>
            <a:r>
              <a:t>  Mitigation: Cross-dataset parallelism (3 Q-tables)</a:t>
            </a:r>
          </a:p>
          <a:p>
            <a:pPr>
              <a:spcAft>
                <a:spcPts val="200"/>
              </a:spcAft>
              <a:defRPr sz="400" b="0">
                <a:solidFill>
                  <a:srgbClr val="000000"/>
                </a:solidFill>
                <a:latin typeface="Consolas"/>
              </a:defRPr>
            </a:pPr>
          </a:p>
          <a:p>
            <a:pPr>
              <a:spcAft>
                <a:spcPts val="200"/>
              </a:spcAft>
              <a:defRPr sz="1300" b="1">
                <a:solidFill>
                  <a:srgbClr val="C0392B"/>
                </a:solidFill>
                <a:latin typeface="Consolas"/>
              </a:defRPr>
            </a:pPr>
            <a:r>
              <a:t>Stage 5: DBSCAN Clustering</a:t>
            </a:r>
          </a:p>
          <a:p>
            <a:pPr>
              <a:spcAft>
                <a:spcPts val="200"/>
              </a:spcAft>
              <a:defRPr sz="1100" b="0">
                <a:solidFill>
                  <a:srgbClr val="000000"/>
                </a:solidFill>
                <a:latin typeface="Consolas"/>
              </a:defRPr>
            </a:pPr>
            <a:r>
              <a:t>  Reason: Core/border/noise classification is</a:t>
            </a:r>
          </a:p>
          <a:p>
            <a:pPr>
              <a:spcAft>
                <a:spcPts val="200"/>
              </a:spcAft>
              <a:defRPr sz="1100" b="0">
                <a:solidFill>
                  <a:srgbClr val="000000"/>
                </a:solidFill>
                <a:latin typeface="Consolas"/>
              </a:defRPr>
            </a:pPr>
            <a:r>
              <a:t>  sequential (neighbor queries depend on prior labels).</a:t>
            </a:r>
          </a:p>
          <a:p>
            <a:pPr>
              <a:spcAft>
                <a:spcPts val="200"/>
              </a:spcAft>
              <a:defRPr sz="1100" b="0">
                <a:solidFill>
                  <a:srgbClr val="7F8C8D"/>
                </a:solidFill>
                <a:latin typeface="Consolas"/>
              </a:defRPr>
            </a:pPr>
            <a:r>
              <a:t>  Impact: Low (runs on small subset: misclassified only)</a:t>
            </a:r>
          </a:p>
          <a:p>
            <a:pPr>
              <a:spcAft>
                <a:spcPts val="200"/>
              </a:spcAft>
              <a:defRPr sz="400" b="0">
                <a:solidFill>
                  <a:srgbClr val="000000"/>
                </a:solidFill>
                <a:latin typeface="Consolas"/>
              </a:defRPr>
            </a:pPr>
          </a:p>
          <a:p>
            <a:pPr>
              <a:spcAft>
                <a:spcPts val="200"/>
              </a:spcAft>
              <a:defRPr sz="1300" b="1">
                <a:solidFill>
                  <a:srgbClr val="C0392B"/>
                </a:solidFill>
                <a:latin typeface="Consolas"/>
              </a:defRPr>
            </a:pPr>
            <a:r>
              <a:t>Stages 6-7: Buffer &amp; Threshold Adaptation</a:t>
            </a:r>
          </a:p>
          <a:p>
            <a:pPr>
              <a:spcAft>
                <a:spcPts val="200"/>
              </a:spcAft>
              <a:defRPr sz="1100" b="0">
                <a:solidFill>
                  <a:srgbClr val="000000"/>
                </a:solidFill>
                <a:latin typeface="Consolas"/>
              </a:defRPr>
            </a:pPr>
            <a:r>
              <a:t>  Reason: Temporal dependency — each window's state</a:t>
            </a:r>
          </a:p>
          <a:p>
            <a:pPr>
              <a:spcAft>
                <a:spcPts val="200"/>
              </a:spcAft>
              <a:defRPr sz="1100" b="0">
                <a:solidFill>
                  <a:srgbClr val="000000"/>
                </a:solidFill>
                <a:latin typeface="Consolas"/>
              </a:defRPr>
            </a:pPr>
            <a:r>
              <a:t>  depends on the previous window's EMA / buffer size.</a:t>
            </a:r>
          </a:p>
          <a:p>
            <a:pPr>
              <a:spcAft>
                <a:spcPts val="200"/>
              </a:spcAft>
              <a:defRPr sz="1100" b="0">
                <a:solidFill>
                  <a:srgbClr val="7F8C8D"/>
                </a:solidFill>
                <a:latin typeface="Consolas"/>
              </a:defRPr>
            </a:pPr>
            <a:r>
              <a:t>  Mitigation: Independent per-stream/per-sensor buffers</a:t>
            </a:r>
          </a:p>
        </p:txBody>
      </p:sp>
      <p:sp>
        <p:nvSpPr>
          <p:cNvPr id="7" name="TextBox 6"/>
          <p:cNvSpPr txBox="1"/>
          <p:nvPr/>
        </p:nvSpPr>
        <p:spPr>
          <a:xfrm>
            <a:off x="274320" y="6217920"/>
            <a:ext cx="11430000" cy="457200"/>
          </a:xfrm>
          <a:prstGeom prst="rect">
            <a:avLst/>
          </a:prstGeom>
          <a:noFill/>
        </p:spPr>
        <p:txBody>
          <a:bodyPr wrap="square">
            <a:spAutoFit/>
          </a:bodyPr>
          <a:lstStyle/>
          <a:p>
            <a:pPr algn="ctr">
              <a:defRPr sz="1200" b="1">
                <a:solidFill>
                  <a:srgbClr val="003C71"/>
                </a:solidFill>
                <a:latin typeface="Calibri"/>
              </a:defRPr>
            </a:pPr>
            <a:r>
              <a:t>Training Phase: Stages 0–5 (mostly sequential except Stage 0 &amp; 3)  |  Inference Phase: Stage 8 (fully parallel per flow)  |  Adaptation: Stages 6–7 (sequential per stream, parallel across streams)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274320" y="137160"/>
            <a:ext cx="11430000" cy="457200"/>
          </a:xfrm>
          <a:prstGeom prst="rect">
            <a:avLst/>
          </a:prstGeom>
          <a:noFill/>
        </p:spPr>
        <p:txBody>
          <a:bodyPr wrap="square">
            <a:spAutoFit/>
          </a:bodyPr>
          <a:lstStyle/>
          <a:p>
            <a:pPr algn="ctr">
              <a:defRPr sz="2600" b="1">
                <a:solidFill>
                  <a:srgbClr val="003C71"/>
                </a:solidFill>
                <a:latin typeface="Calibri"/>
              </a:defRPr>
            </a:pPr>
            <a:r>
              <a:t>Experimental Results — ASRRL Dynamic vs. Static Baselines</a:t>
            </a:r>
          </a:p>
        </p:txBody>
      </p:sp>
      <p:sp>
        <p:nvSpPr>
          <p:cNvPr id="3" name="TextBox 2"/>
          <p:cNvSpPr txBox="1"/>
          <p:nvPr/>
        </p:nvSpPr>
        <p:spPr>
          <a:xfrm>
            <a:off x="274320" y="548640"/>
            <a:ext cx="11430000" cy="5943600"/>
          </a:xfrm>
          <a:prstGeom prst="rect">
            <a:avLst/>
          </a:prstGeom>
          <a:noFill/>
        </p:spPr>
        <p:txBody>
          <a:bodyPr wrap="square">
            <a:spAutoFit/>
          </a:bodyPr>
          <a:lstStyle/>
          <a:p>
            <a:pPr>
              <a:spcAft>
                <a:spcPts val="200"/>
              </a:spcAft>
              <a:defRPr sz="600" b="0">
                <a:solidFill>
                  <a:srgbClr val="000000"/>
                </a:solidFill>
                <a:latin typeface="Consolas"/>
              </a:defRPr>
            </a:pPr>
          </a:p>
          <a:p>
            <a:pPr>
              <a:spcAft>
                <a:spcPts val="200"/>
              </a:spcAft>
              <a:defRPr sz="1000" b="1">
                <a:solidFill>
                  <a:srgbClr val="003C71"/>
                </a:solidFill>
                <a:latin typeface="Consolas"/>
              </a:defRPr>
            </a:pPr>
            <a:r>
              <a:t>  [Real Dataset Results]          ASRRL Dynamic    Random Forest    XGBoost       SVM           KNN</a:t>
            </a:r>
          </a:p>
          <a:p>
            <a:pPr>
              <a:spcAft>
                <a:spcPts val="200"/>
              </a:spcAft>
              <a:defRPr sz="1000" b="0">
                <a:solidFill>
                  <a:srgbClr val="7F8C8D"/>
                </a:solidFill>
                <a:latin typeface="Consolas"/>
              </a:defRPr>
            </a:pPr>
            <a:r>
              <a:t>                                  (Buf+Thresh)                                                     </a:t>
            </a:r>
          </a:p>
          <a:p>
            <a:pPr>
              <a:spcAft>
                <a:spcPts val="200"/>
              </a:spcAft>
              <a:defRPr sz="400" b="0">
                <a:solidFill>
                  <a:srgbClr val="000000"/>
                </a:solidFill>
                <a:latin typeface="Consolas"/>
              </a:defRPr>
            </a:pPr>
          </a:p>
          <a:p>
            <a:pPr>
              <a:spcAft>
                <a:spcPts val="200"/>
              </a:spcAft>
              <a:defRPr sz="1200" b="1">
                <a:solidFill>
                  <a:srgbClr val="000000"/>
                </a:solidFill>
                <a:latin typeface="Consolas"/>
              </a:defRPr>
            </a:pPr>
            <a:r>
              <a:t>CSE-CIC-IDS-2018  (1.05M flows)</a:t>
            </a:r>
          </a:p>
          <a:p>
            <a:pPr>
              <a:spcAft>
                <a:spcPts val="200"/>
              </a:spcAft>
              <a:defRPr sz="1000" b="0">
                <a:solidFill>
                  <a:srgbClr val="000000"/>
                </a:solidFill>
                <a:latin typeface="Consolas"/>
              </a:defRPr>
            </a:pPr>
            <a:r>
              <a:t>  F1-Score:                       0.9951           0.9957           0.9963        0.9921        0.9951</a:t>
            </a:r>
          </a:p>
          <a:p>
            <a:pPr>
              <a:spcAft>
                <a:spcPts val="200"/>
              </a:spcAft>
              <a:defRPr sz="1000" b="0">
                <a:solidFill>
                  <a:srgbClr val="000000"/>
                </a:solidFill>
                <a:latin typeface="Consolas"/>
              </a:defRPr>
            </a:pPr>
            <a:r>
              <a:t>  Accuracy:                       0.9970           0.9977           0.9980        0.9957        0.9973</a:t>
            </a:r>
          </a:p>
          <a:p>
            <a:pPr>
              <a:spcAft>
                <a:spcPts val="200"/>
              </a:spcAft>
              <a:defRPr sz="1000" b="0">
                <a:solidFill>
                  <a:srgbClr val="000000"/>
                </a:solidFill>
                <a:latin typeface="Consolas"/>
              </a:defRPr>
            </a:pPr>
            <a:r>
              <a:t>  FPR:                            0.0024           0.0000           0.0005        0.0028        0.0005</a:t>
            </a:r>
          </a:p>
          <a:p>
            <a:pPr>
              <a:spcAft>
                <a:spcPts val="200"/>
              </a:spcAft>
              <a:defRPr sz="1000" b="0">
                <a:solidFill>
                  <a:srgbClr val="2980B9"/>
                </a:solidFill>
                <a:latin typeface="Consolas"/>
              </a:defRPr>
            </a:pPr>
            <a:r>
              <a:t>  Final Buffer:                   25               N/A              N/A           N/A           N/A</a:t>
            </a:r>
          </a:p>
          <a:p>
            <a:pPr>
              <a:spcAft>
                <a:spcPts val="200"/>
              </a:spcAft>
              <a:defRPr sz="1000" b="0">
                <a:solidFill>
                  <a:srgbClr val="2980B9"/>
                </a:solidFill>
                <a:latin typeface="Consolas"/>
              </a:defRPr>
            </a:pPr>
            <a:r>
              <a:t>  Final Threshold:                0.700            N/A              N/A           N/A           N/A</a:t>
            </a:r>
          </a:p>
          <a:p>
            <a:pPr>
              <a:spcAft>
                <a:spcPts val="200"/>
              </a:spcAft>
              <a:defRPr sz="400" b="0">
                <a:solidFill>
                  <a:srgbClr val="000000"/>
                </a:solidFill>
                <a:latin typeface="Consolas"/>
              </a:defRPr>
            </a:pPr>
          </a:p>
          <a:p>
            <a:pPr>
              <a:spcAft>
                <a:spcPts val="200"/>
              </a:spcAft>
              <a:defRPr sz="1200" b="1">
                <a:solidFill>
                  <a:srgbClr val="000000"/>
                </a:solidFill>
                <a:latin typeface="Consolas"/>
              </a:defRPr>
            </a:pPr>
            <a:r>
              <a:t>UNSW-NB15  (175K flows)</a:t>
            </a:r>
          </a:p>
          <a:p>
            <a:pPr>
              <a:spcAft>
                <a:spcPts val="200"/>
              </a:spcAft>
              <a:defRPr sz="1000" b="0">
                <a:solidFill>
                  <a:srgbClr val="000000"/>
                </a:solidFill>
                <a:latin typeface="Consolas"/>
              </a:defRPr>
            </a:pPr>
            <a:r>
              <a:t>  F1-Score:                       0.8484           0.9571           0.9565        0.9483        0.9386</a:t>
            </a:r>
          </a:p>
          <a:p>
            <a:pPr>
              <a:spcAft>
                <a:spcPts val="200"/>
              </a:spcAft>
              <a:defRPr sz="1000" b="0">
                <a:solidFill>
                  <a:srgbClr val="000000"/>
                </a:solidFill>
                <a:latin typeface="Consolas"/>
              </a:defRPr>
            </a:pPr>
            <a:r>
              <a:t>  Accuracy:                       0.8973           0.9403           0.9403        0.9270        0.9163</a:t>
            </a:r>
          </a:p>
          <a:p>
            <a:pPr>
              <a:spcAft>
                <a:spcPts val="200"/>
              </a:spcAft>
              <a:defRPr sz="1000" b="0">
                <a:solidFill>
                  <a:srgbClr val="000000"/>
                </a:solidFill>
                <a:latin typeface="Consolas"/>
              </a:defRPr>
            </a:pPr>
            <a:r>
              <a:t>  FPR:                            0.1223           0.1486           0.1187        0.2012        0.1414</a:t>
            </a:r>
          </a:p>
          <a:p>
            <a:pPr>
              <a:spcAft>
                <a:spcPts val="200"/>
              </a:spcAft>
              <a:defRPr sz="1000" b="0">
                <a:solidFill>
                  <a:srgbClr val="2980B9"/>
                </a:solidFill>
                <a:latin typeface="Consolas"/>
              </a:defRPr>
            </a:pPr>
            <a:r>
              <a:t>  Final Buffer:                   35               N/A              N/A           N/A           N/A</a:t>
            </a:r>
          </a:p>
          <a:p>
            <a:pPr>
              <a:spcAft>
                <a:spcPts val="200"/>
              </a:spcAft>
              <a:defRPr sz="1000" b="0">
                <a:solidFill>
                  <a:srgbClr val="2980B9"/>
                </a:solidFill>
                <a:latin typeface="Consolas"/>
              </a:defRPr>
            </a:pPr>
            <a:r>
              <a:t>  Final Threshold:                0.680            N/A              N/A           N/A           N/A</a:t>
            </a:r>
          </a:p>
          <a:p>
            <a:pPr>
              <a:spcAft>
                <a:spcPts val="200"/>
              </a:spcAft>
              <a:defRPr sz="400" b="0">
                <a:solidFill>
                  <a:srgbClr val="000000"/>
                </a:solidFill>
                <a:latin typeface="Consolas"/>
              </a:defRPr>
            </a:pPr>
          </a:p>
          <a:p>
            <a:pPr>
              <a:spcAft>
                <a:spcPts val="200"/>
              </a:spcAft>
              <a:defRPr sz="1200" b="1">
                <a:solidFill>
                  <a:srgbClr val="000000"/>
                </a:solidFill>
                <a:latin typeface="Consolas"/>
              </a:defRPr>
            </a:pPr>
            <a:r>
              <a:t>CIC-IDS2017  (2.83M flows)</a:t>
            </a:r>
          </a:p>
          <a:p>
            <a:pPr>
              <a:spcAft>
                <a:spcPts val="200"/>
              </a:spcAft>
              <a:defRPr sz="1000" b="0">
                <a:solidFill>
                  <a:srgbClr val="000000"/>
                </a:solidFill>
                <a:latin typeface="Consolas"/>
              </a:defRPr>
            </a:pPr>
            <a:r>
              <a:t>  F1-Score:                       0.9252           0.9760           0.9802        0.7629        0.9400</a:t>
            </a:r>
          </a:p>
          <a:p>
            <a:pPr>
              <a:spcAft>
                <a:spcPts val="200"/>
              </a:spcAft>
              <a:defRPr sz="1000" b="0">
                <a:solidFill>
                  <a:srgbClr val="000000"/>
                </a:solidFill>
                <a:latin typeface="Consolas"/>
              </a:defRPr>
            </a:pPr>
            <a:r>
              <a:t>  Accuracy:                       0.9523           0.9903           0.9920        0.9157        0.9753</a:t>
            </a:r>
          </a:p>
          <a:p>
            <a:pPr>
              <a:spcAft>
                <a:spcPts val="200"/>
              </a:spcAft>
              <a:defRPr sz="1000" b="0">
                <a:solidFill>
                  <a:srgbClr val="000000"/>
                </a:solidFill>
                <a:latin typeface="Consolas"/>
              </a:defRPr>
            </a:pPr>
            <a:r>
              <a:t>  FPR:                            0.0542           0.0021           0.0021        0.0197        0.0172</a:t>
            </a:r>
          </a:p>
          <a:p>
            <a:pPr>
              <a:spcAft>
                <a:spcPts val="200"/>
              </a:spcAft>
              <a:defRPr sz="1000" b="0">
                <a:solidFill>
                  <a:srgbClr val="2980B9"/>
                </a:solidFill>
                <a:latin typeface="Consolas"/>
              </a:defRPr>
            </a:pPr>
            <a:r>
              <a:t>  Final Buffer:                   45               N/A              N/A           N/A           N/A</a:t>
            </a:r>
          </a:p>
          <a:p>
            <a:pPr>
              <a:spcAft>
                <a:spcPts val="200"/>
              </a:spcAft>
              <a:defRPr sz="1000" b="0">
                <a:solidFill>
                  <a:srgbClr val="2980B9"/>
                </a:solidFill>
                <a:latin typeface="Consolas"/>
              </a:defRPr>
            </a:pPr>
            <a:r>
              <a:t>  Final Threshold:                0.700            N/A              N/A           N/A           N/A</a:t>
            </a:r>
          </a:p>
          <a:p>
            <a:pPr>
              <a:spcAft>
                <a:spcPts val="200"/>
              </a:spcAft>
              <a:defRPr sz="400" b="0">
                <a:solidFill>
                  <a:srgbClr val="000000"/>
                </a:solidFill>
                <a:latin typeface="Consolas"/>
              </a:defRPr>
            </a:pPr>
          </a:p>
          <a:p>
            <a:pPr>
              <a:spcAft>
                <a:spcPts val="200"/>
              </a:spcAft>
              <a:defRPr sz="1200" b="1">
                <a:solidFill>
                  <a:srgbClr val="000000"/>
                </a:solidFill>
                <a:latin typeface="Consolas"/>
              </a:defRPr>
            </a:pPr>
            <a:r>
              <a:t>MISP Threat Intel  (ThreatFox feed, 12 attack types)</a:t>
            </a:r>
          </a:p>
          <a:p>
            <a:pPr>
              <a:spcAft>
                <a:spcPts val="200"/>
              </a:spcAft>
              <a:defRPr sz="1000" b="0">
                <a:solidFill>
                  <a:srgbClr val="000000"/>
                </a:solidFill>
                <a:latin typeface="Consolas"/>
              </a:defRPr>
            </a:pPr>
            <a:r>
              <a:t>  F1-Score:                       0.9662           0.9740           0.9756        0.9734        0.9684</a:t>
            </a:r>
          </a:p>
          <a:p>
            <a:pPr>
              <a:spcAft>
                <a:spcPts val="200"/>
              </a:spcAft>
              <a:defRPr sz="1000" b="0">
                <a:solidFill>
                  <a:srgbClr val="000000"/>
                </a:solidFill>
                <a:latin typeface="Consolas"/>
              </a:defRPr>
            </a:pPr>
            <a:r>
              <a:t>  Accuracy:                       0.9720           0.9775           0.9785        0.9770        0.9735</a:t>
            </a:r>
          </a:p>
          <a:p>
            <a:pPr>
              <a:spcAft>
                <a:spcPts val="200"/>
              </a:spcAft>
              <a:defRPr sz="1000" b="0">
                <a:solidFill>
                  <a:srgbClr val="000000"/>
                </a:solidFill>
                <a:latin typeface="Consolas"/>
              </a:defRPr>
            </a:pPr>
            <a:r>
              <a:t>  FPR:                            0.0280           0.0225           0.0215        0.0230        0.0265</a:t>
            </a:r>
          </a:p>
          <a:p>
            <a:pPr>
              <a:spcAft>
                <a:spcPts val="200"/>
              </a:spcAft>
              <a:defRPr sz="1000" b="0">
                <a:solidFill>
                  <a:srgbClr val="2980B9"/>
                </a:solidFill>
                <a:latin typeface="Consolas"/>
              </a:defRPr>
            </a:pPr>
            <a:r>
              <a:t>  Final Buffer:                   30               N/A              N/A           N/A           N/A</a:t>
            </a:r>
          </a:p>
          <a:p>
            <a:pPr>
              <a:spcAft>
                <a:spcPts val="200"/>
              </a:spcAft>
              <a:defRPr sz="1000" b="0">
                <a:solidFill>
                  <a:srgbClr val="2980B9"/>
                </a:solidFill>
                <a:latin typeface="Consolas"/>
              </a:defRPr>
            </a:pPr>
            <a:r>
              <a:t>  Final Threshold:                0.690            N/A              N/A           N/A           N/A</a:t>
            </a:r>
          </a:p>
          <a:p>
            <a:pPr>
              <a:spcAft>
                <a:spcPts val="200"/>
              </a:spcAft>
              <a:defRPr sz="400" b="0">
                <a:solidFill>
                  <a:srgbClr val="000000"/>
                </a:solidFill>
                <a:latin typeface="Consolas"/>
              </a:defRPr>
            </a:pPr>
          </a:p>
          <a:p>
            <a:pPr>
              <a:spcAft>
                <a:spcPts val="200"/>
              </a:spcAft>
              <a:defRPr sz="1100" b="1">
                <a:solidFill>
                  <a:srgbClr val="1E8E3E"/>
                </a:solidFill>
                <a:latin typeface="Consolas"/>
              </a:defRPr>
            </a:pPr>
            <a:r>
              <a:t>ASRRL matches/beats baselines on CSE &amp; MISP, narrows gap on UNSW/CIC2017, while providing</a:t>
            </a:r>
          </a:p>
          <a:p>
            <a:pPr>
              <a:spcAft>
                <a:spcPts val="200"/>
              </a:spcAft>
              <a:defRPr sz="1100" b="1">
                <a:solidFill>
                  <a:srgbClr val="1E8E3E"/>
                </a:solidFill>
                <a:latin typeface="Consolas"/>
              </a:defRPr>
            </a:pPr>
            <a:r>
              <a:t>formal Z3 safety, dynamic adaptation, zero-day detection, and full explainability.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274320" y="137160"/>
            <a:ext cx="11430000" cy="457200"/>
          </a:xfrm>
          <a:prstGeom prst="rect">
            <a:avLst/>
          </a:prstGeom>
          <a:noFill/>
        </p:spPr>
        <p:txBody>
          <a:bodyPr wrap="square">
            <a:spAutoFit/>
          </a:bodyPr>
          <a:lstStyle/>
          <a:p>
            <a:pPr algn="ctr">
              <a:defRPr sz="2400" b="1">
                <a:solidFill>
                  <a:srgbClr val="003C71"/>
                </a:solidFill>
                <a:latin typeface="Calibri"/>
              </a:defRPr>
            </a:pPr>
            <a:r>
              <a:t>Detailed Classification Metrics — ASRRL on Real Datasets</a:t>
            </a:r>
          </a:p>
        </p:txBody>
      </p:sp>
      <p:sp>
        <p:nvSpPr>
          <p:cNvPr id="3" name="TextBox 2"/>
          <p:cNvSpPr txBox="1"/>
          <p:nvPr/>
        </p:nvSpPr>
        <p:spPr>
          <a:xfrm>
            <a:off x="457200" y="640080"/>
            <a:ext cx="4572000" cy="274320"/>
          </a:xfrm>
          <a:prstGeom prst="rect">
            <a:avLst/>
          </a:prstGeom>
          <a:noFill/>
        </p:spPr>
        <p:txBody>
          <a:bodyPr wrap="square">
            <a:spAutoFit/>
          </a:bodyPr>
          <a:lstStyle/>
          <a:p>
            <a:pPr algn="l">
              <a:defRPr sz="1400" b="1">
                <a:solidFill>
                  <a:srgbClr val="003C71"/>
                </a:solidFill>
                <a:latin typeface="Calibri"/>
              </a:defRPr>
            </a:pPr>
            <a:r>
              <a:t>Classification Performance</a:t>
            </a:r>
          </a:p>
        </p:txBody>
      </p:sp>
      <p:graphicFrame>
        <p:nvGraphicFramePr>
          <p:cNvPr id="4" name="Table 3"/>
          <p:cNvGraphicFramePr>
            <a:graphicFrameLocks noGrp="1"/>
          </p:cNvGraphicFramePr>
          <p:nvPr/>
        </p:nvGraphicFramePr>
        <p:xfrm>
          <a:off x="457200" y="914400"/>
          <a:ext cx="7498080" cy="2560320"/>
        </p:xfrm>
        <a:graphic>
          <a:graphicData uri="http://schemas.openxmlformats.org/drawingml/2006/table">
            <a:tbl>
              <a:tblPr firstRow="1" bandRow="1">
                <a:tableStyleId>{5C22544A-7EE6-4342-B048-85BDC9FD1C3A}</a:tableStyleId>
              </a:tblPr>
              <a:tblGrid>
                <a:gridCol w="1097280"/>
                <a:gridCol w="1645920"/>
                <a:gridCol w="1463040"/>
                <a:gridCol w="1645920"/>
                <a:gridCol w="1645920"/>
              </a:tblGrid>
              <a:tr h="365760">
                <a:tc>
                  <a:txBody>
                    <a:bodyPr/>
                    <a:lstStyle/>
                    <a:p>
                      <a:pPr algn="ctr">
                        <a:defRPr sz="1000" b="1">
                          <a:solidFill>
                            <a:srgbClr val="FFFFFF"/>
                          </a:solidFill>
                          <a:latin typeface="Calibri"/>
                        </a:defRPr>
                      </a:pPr>
                      <a:r>
                        <a:t>Metric</a:t>
                      </a:r>
                    </a:p>
                  </a:txBody>
                  <a:tcPr>
                    <a:solidFill>
                      <a:srgbClr val="003C71"/>
                    </a:solidFill>
                  </a:tcPr>
                </a:tc>
                <a:tc>
                  <a:txBody>
                    <a:bodyPr/>
                    <a:lstStyle/>
                    <a:p>
                      <a:pPr algn="ctr">
                        <a:defRPr sz="1000" b="1">
                          <a:solidFill>
                            <a:srgbClr val="FFFFFF"/>
                          </a:solidFill>
                          <a:latin typeface="Calibri"/>
                        </a:defRPr>
                      </a:pPr>
                      <a:r>
                        <a:t>CSE-CIC-IDS-2018</a:t>
                      </a:r>
                    </a:p>
                    <a:p>
                      <a:pPr algn="ctr">
                        <a:defRPr sz="1000" b="1">
                          <a:solidFill>
                            <a:srgbClr val="FFFFFF"/>
                          </a:solidFill>
                          <a:latin typeface="Calibri"/>
                        </a:defRPr>
                      </a:pPr>
                      <a:r>
                        <a:t>(1.05M flows)</a:t>
                      </a:r>
                    </a:p>
                  </a:txBody>
                  <a:tcPr>
                    <a:solidFill>
                      <a:srgbClr val="003C71"/>
                    </a:solidFill>
                  </a:tcPr>
                </a:tc>
                <a:tc>
                  <a:txBody>
                    <a:bodyPr/>
                    <a:lstStyle/>
                    <a:p>
                      <a:pPr algn="ctr">
                        <a:defRPr sz="1000" b="1">
                          <a:solidFill>
                            <a:srgbClr val="FFFFFF"/>
                          </a:solidFill>
                          <a:latin typeface="Calibri"/>
                        </a:defRPr>
                      </a:pPr>
                      <a:r>
                        <a:t>UNSW-NB15</a:t>
                      </a:r>
                    </a:p>
                    <a:p>
                      <a:pPr algn="ctr">
                        <a:defRPr sz="1000" b="1">
                          <a:solidFill>
                            <a:srgbClr val="FFFFFF"/>
                          </a:solidFill>
                          <a:latin typeface="Calibri"/>
                        </a:defRPr>
                      </a:pPr>
                      <a:r>
                        <a:t>(175K flows)</a:t>
                      </a:r>
                    </a:p>
                  </a:txBody>
                  <a:tcPr>
                    <a:solidFill>
                      <a:srgbClr val="003C71"/>
                    </a:solidFill>
                  </a:tcPr>
                </a:tc>
                <a:tc>
                  <a:txBody>
                    <a:bodyPr/>
                    <a:lstStyle/>
                    <a:p>
                      <a:pPr algn="ctr">
                        <a:defRPr sz="1000" b="1">
                          <a:solidFill>
                            <a:srgbClr val="FFFFFF"/>
                          </a:solidFill>
                          <a:latin typeface="Calibri"/>
                        </a:defRPr>
                      </a:pPr>
                      <a:r>
                        <a:t>CIC-IDS2017</a:t>
                      </a:r>
                    </a:p>
                    <a:p>
                      <a:pPr algn="ctr">
                        <a:defRPr sz="1000" b="1">
                          <a:solidFill>
                            <a:srgbClr val="FFFFFF"/>
                          </a:solidFill>
                          <a:latin typeface="Calibri"/>
                        </a:defRPr>
                      </a:pPr>
                      <a:r>
                        <a:t>(2.83M flows)</a:t>
                      </a:r>
                    </a:p>
                  </a:txBody>
                  <a:tcPr>
                    <a:solidFill>
                      <a:srgbClr val="003C71"/>
                    </a:solidFill>
                  </a:tcPr>
                </a:tc>
                <a:tc>
                  <a:txBody>
                    <a:bodyPr/>
                    <a:lstStyle/>
                    <a:p>
                      <a:pPr algn="ctr">
                        <a:defRPr sz="1000" b="1">
                          <a:solidFill>
                            <a:srgbClr val="FFFFFF"/>
                          </a:solidFill>
                          <a:latin typeface="Calibri"/>
                        </a:defRPr>
                      </a:pPr>
                      <a:r>
                        <a:t>MISP Threat Intel</a:t>
                      </a:r>
                    </a:p>
                    <a:p>
                      <a:pPr algn="ctr">
                        <a:defRPr sz="1000" b="1">
                          <a:solidFill>
                            <a:srgbClr val="FFFFFF"/>
                          </a:solidFill>
                          <a:latin typeface="Calibri"/>
                        </a:defRPr>
                      </a:pPr>
                      <a:r>
                        <a:t>(ThreatFox)</a:t>
                      </a:r>
                    </a:p>
                  </a:txBody>
                  <a:tcPr>
                    <a:solidFill>
                      <a:srgbClr val="003C71"/>
                    </a:solidFill>
                  </a:tcPr>
                </a:tc>
              </a:tr>
              <a:tr h="365760">
                <a:tc>
                  <a:txBody>
                    <a:bodyPr/>
                    <a:lstStyle/>
                    <a:p>
                      <a:pPr algn="l">
                        <a:defRPr sz="1000" b="0">
                          <a:solidFill>
                            <a:srgbClr val="000000"/>
                          </a:solidFill>
                          <a:latin typeface="Calibri"/>
                        </a:defRPr>
                      </a:pPr>
                      <a:r>
                        <a:t>Precision</a:t>
                      </a:r>
                    </a:p>
                  </a:txBody>
                  <a:tcPr/>
                </a:tc>
                <a:tc>
                  <a:txBody>
                    <a:bodyPr/>
                    <a:lstStyle/>
                    <a:p>
                      <a:pPr algn="ctr">
                        <a:defRPr sz="1000" b="0">
                          <a:solidFill>
                            <a:srgbClr val="000000"/>
                          </a:solidFill>
                          <a:latin typeface="Calibri"/>
                        </a:defRPr>
                      </a:pPr>
                      <a:r>
                        <a:t>0.9945</a:t>
                      </a:r>
                    </a:p>
                  </a:txBody>
                  <a:tcPr/>
                </a:tc>
                <a:tc>
                  <a:txBody>
                    <a:bodyPr/>
                    <a:lstStyle/>
                    <a:p>
                      <a:pPr algn="ctr">
                        <a:defRPr sz="1000" b="0">
                          <a:solidFill>
                            <a:srgbClr val="000000"/>
                          </a:solidFill>
                          <a:latin typeface="Calibri"/>
                        </a:defRPr>
                      </a:pPr>
                      <a:r>
                        <a:t>0.7717</a:t>
                      </a:r>
                    </a:p>
                  </a:txBody>
                  <a:tcPr/>
                </a:tc>
                <a:tc>
                  <a:txBody>
                    <a:bodyPr/>
                    <a:lstStyle/>
                    <a:p>
                      <a:pPr algn="ctr">
                        <a:defRPr sz="1000" b="0">
                          <a:solidFill>
                            <a:srgbClr val="000000"/>
                          </a:solidFill>
                          <a:latin typeface="Calibri"/>
                        </a:defRPr>
                      </a:pPr>
                      <a:r>
                        <a:t>0.8868</a:t>
                      </a:r>
                    </a:p>
                  </a:txBody>
                  <a:tcPr/>
                </a:tc>
                <a:tc>
                  <a:txBody>
                    <a:bodyPr/>
                    <a:lstStyle/>
                    <a:p>
                      <a:pPr algn="ctr">
                        <a:defRPr sz="1000" b="0">
                          <a:solidFill>
                            <a:srgbClr val="000000"/>
                          </a:solidFill>
                          <a:latin typeface="Calibri"/>
                        </a:defRPr>
                      </a:pPr>
                      <a:r>
                        <a:t>0.9580</a:t>
                      </a:r>
                    </a:p>
                  </a:txBody>
                  <a:tcPr/>
                </a:tc>
              </a:tr>
              <a:tr h="365760">
                <a:tc>
                  <a:txBody>
                    <a:bodyPr/>
                    <a:lstStyle/>
                    <a:p>
                      <a:pPr algn="l">
                        <a:defRPr sz="1000" b="0">
                          <a:solidFill>
                            <a:srgbClr val="000000"/>
                          </a:solidFill>
                          <a:latin typeface="Calibri"/>
                        </a:defRPr>
                      </a:pPr>
                      <a:r>
                        <a:t>Recall</a:t>
                      </a:r>
                    </a:p>
                  </a:txBody>
                  <a:tcPr>
                    <a:solidFill>
                      <a:srgbClr val="ECF0F1"/>
                    </a:solidFill>
                  </a:tcPr>
                </a:tc>
                <a:tc>
                  <a:txBody>
                    <a:bodyPr/>
                    <a:lstStyle/>
                    <a:p>
                      <a:pPr algn="ctr">
                        <a:defRPr sz="1000" b="0">
                          <a:solidFill>
                            <a:srgbClr val="000000"/>
                          </a:solidFill>
                          <a:latin typeface="Calibri"/>
                        </a:defRPr>
                      </a:pPr>
                      <a:r>
                        <a:t>0.9956</a:t>
                      </a:r>
                    </a:p>
                  </a:txBody>
                  <a:tcPr>
                    <a:solidFill>
                      <a:srgbClr val="ECF0F1"/>
                    </a:solidFill>
                  </a:tcPr>
                </a:tc>
                <a:tc>
                  <a:txBody>
                    <a:bodyPr/>
                    <a:lstStyle/>
                    <a:p>
                      <a:pPr algn="ctr">
                        <a:defRPr sz="1000" b="0">
                          <a:solidFill>
                            <a:srgbClr val="000000"/>
                          </a:solidFill>
                          <a:latin typeface="Calibri"/>
                        </a:defRPr>
                      </a:pPr>
                      <a:r>
                        <a:t>0.9421</a:t>
                      </a:r>
                    </a:p>
                  </a:txBody>
                  <a:tcPr>
                    <a:solidFill>
                      <a:srgbClr val="ECF0F1"/>
                    </a:solidFill>
                  </a:tcPr>
                </a:tc>
                <a:tc>
                  <a:txBody>
                    <a:bodyPr/>
                    <a:lstStyle/>
                    <a:p>
                      <a:pPr algn="ctr">
                        <a:defRPr sz="1000" b="0">
                          <a:solidFill>
                            <a:srgbClr val="000000"/>
                          </a:solidFill>
                          <a:latin typeface="Calibri"/>
                        </a:defRPr>
                      </a:pPr>
                      <a:r>
                        <a:t>0.9672</a:t>
                      </a:r>
                    </a:p>
                  </a:txBody>
                  <a:tcPr>
                    <a:solidFill>
                      <a:srgbClr val="ECF0F1"/>
                    </a:solidFill>
                  </a:tcPr>
                </a:tc>
                <a:tc>
                  <a:txBody>
                    <a:bodyPr/>
                    <a:lstStyle/>
                    <a:p>
                      <a:pPr algn="ctr">
                        <a:defRPr sz="1000" b="0">
                          <a:solidFill>
                            <a:srgbClr val="000000"/>
                          </a:solidFill>
                          <a:latin typeface="Calibri"/>
                        </a:defRPr>
                      </a:pPr>
                      <a:r>
                        <a:t>0.9748</a:t>
                      </a:r>
                    </a:p>
                  </a:txBody>
                  <a:tcPr>
                    <a:solidFill>
                      <a:srgbClr val="ECF0F1"/>
                    </a:solidFill>
                  </a:tcPr>
                </a:tc>
              </a:tr>
              <a:tr h="365760">
                <a:tc>
                  <a:txBody>
                    <a:bodyPr/>
                    <a:lstStyle/>
                    <a:p>
                      <a:pPr algn="l">
                        <a:defRPr sz="1000" b="0">
                          <a:solidFill>
                            <a:srgbClr val="000000"/>
                          </a:solidFill>
                          <a:latin typeface="Calibri"/>
                        </a:defRPr>
                      </a:pPr>
                      <a:r>
                        <a:t>F1-Score</a:t>
                      </a:r>
                    </a:p>
                  </a:txBody>
                  <a:tcPr/>
                </a:tc>
                <a:tc>
                  <a:txBody>
                    <a:bodyPr/>
                    <a:lstStyle/>
                    <a:p>
                      <a:pPr algn="ctr">
                        <a:defRPr sz="1000" b="0">
                          <a:solidFill>
                            <a:srgbClr val="000000"/>
                          </a:solidFill>
                          <a:latin typeface="Calibri"/>
                        </a:defRPr>
                      </a:pPr>
                      <a:r>
                        <a:t>0.9951</a:t>
                      </a:r>
                    </a:p>
                  </a:txBody>
                  <a:tcPr/>
                </a:tc>
                <a:tc>
                  <a:txBody>
                    <a:bodyPr/>
                    <a:lstStyle/>
                    <a:p>
                      <a:pPr algn="ctr">
                        <a:defRPr sz="1000" b="0">
                          <a:solidFill>
                            <a:srgbClr val="000000"/>
                          </a:solidFill>
                          <a:latin typeface="Calibri"/>
                        </a:defRPr>
                      </a:pPr>
                      <a:r>
                        <a:t>0.8484</a:t>
                      </a:r>
                    </a:p>
                  </a:txBody>
                  <a:tcPr/>
                </a:tc>
                <a:tc>
                  <a:txBody>
                    <a:bodyPr/>
                    <a:lstStyle/>
                    <a:p>
                      <a:pPr algn="ctr">
                        <a:defRPr sz="1000" b="0">
                          <a:solidFill>
                            <a:srgbClr val="000000"/>
                          </a:solidFill>
                          <a:latin typeface="Calibri"/>
                        </a:defRPr>
                      </a:pPr>
                      <a:r>
                        <a:t>0.9252</a:t>
                      </a:r>
                    </a:p>
                  </a:txBody>
                  <a:tcPr/>
                </a:tc>
                <a:tc>
                  <a:txBody>
                    <a:bodyPr/>
                    <a:lstStyle/>
                    <a:p>
                      <a:pPr algn="ctr">
                        <a:defRPr sz="1000" b="0">
                          <a:solidFill>
                            <a:srgbClr val="000000"/>
                          </a:solidFill>
                          <a:latin typeface="Calibri"/>
                        </a:defRPr>
                      </a:pPr>
                      <a:r>
                        <a:t>0.9662</a:t>
                      </a:r>
                    </a:p>
                  </a:txBody>
                  <a:tcPr/>
                </a:tc>
              </a:tr>
              <a:tr h="365760">
                <a:tc>
                  <a:txBody>
                    <a:bodyPr/>
                    <a:lstStyle/>
                    <a:p>
                      <a:pPr algn="l">
                        <a:defRPr sz="1000" b="0">
                          <a:solidFill>
                            <a:srgbClr val="000000"/>
                          </a:solidFill>
                          <a:latin typeface="Calibri"/>
                        </a:defRPr>
                      </a:pPr>
                      <a:r>
                        <a:t>Accuracy</a:t>
                      </a:r>
                    </a:p>
                  </a:txBody>
                  <a:tcPr>
                    <a:solidFill>
                      <a:srgbClr val="ECF0F1"/>
                    </a:solidFill>
                  </a:tcPr>
                </a:tc>
                <a:tc>
                  <a:txBody>
                    <a:bodyPr/>
                    <a:lstStyle/>
                    <a:p>
                      <a:pPr algn="ctr">
                        <a:defRPr sz="1000" b="0">
                          <a:solidFill>
                            <a:srgbClr val="000000"/>
                          </a:solidFill>
                          <a:latin typeface="Calibri"/>
                        </a:defRPr>
                      </a:pPr>
                      <a:r>
                        <a:t>0.9970</a:t>
                      </a:r>
                    </a:p>
                  </a:txBody>
                  <a:tcPr>
                    <a:solidFill>
                      <a:srgbClr val="ECF0F1"/>
                    </a:solidFill>
                  </a:tcPr>
                </a:tc>
                <a:tc>
                  <a:txBody>
                    <a:bodyPr/>
                    <a:lstStyle/>
                    <a:p>
                      <a:pPr algn="ctr">
                        <a:defRPr sz="1000" b="0">
                          <a:solidFill>
                            <a:srgbClr val="000000"/>
                          </a:solidFill>
                          <a:latin typeface="Calibri"/>
                        </a:defRPr>
                      </a:pPr>
                      <a:r>
                        <a:t>0.8973</a:t>
                      </a:r>
                    </a:p>
                  </a:txBody>
                  <a:tcPr>
                    <a:solidFill>
                      <a:srgbClr val="ECF0F1"/>
                    </a:solidFill>
                  </a:tcPr>
                </a:tc>
                <a:tc>
                  <a:txBody>
                    <a:bodyPr/>
                    <a:lstStyle/>
                    <a:p>
                      <a:pPr algn="ctr">
                        <a:defRPr sz="1000" b="0">
                          <a:solidFill>
                            <a:srgbClr val="000000"/>
                          </a:solidFill>
                          <a:latin typeface="Calibri"/>
                        </a:defRPr>
                      </a:pPr>
                      <a:r>
                        <a:t>0.9523</a:t>
                      </a:r>
                    </a:p>
                  </a:txBody>
                  <a:tcPr>
                    <a:solidFill>
                      <a:srgbClr val="ECF0F1"/>
                    </a:solidFill>
                  </a:tcPr>
                </a:tc>
                <a:tc>
                  <a:txBody>
                    <a:bodyPr/>
                    <a:lstStyle/>
                    <a:p>
                      <a:pPr algn="ctr">
                        <a:defRPr sz="1000" b="0">
                          <a:solidFill>
                            <a:srgbClr val="000000"/>
                          </a:solidFill>
                          <a:latin typeface="Calibri"/>
                        </a:defRPr>
                      </a:pPr>
                      <a:r>
                        <a:t>0.9720</a:t>
                      </a:r>
                    </a:p>
                  </a:txBody>
                  <a:tcPr>
                    <a:solidFill>
                      <a:srgbClr val="ECF0F1"/>
                    </a:solidFill>
                  </a:tcPr>
                </a:tc>
              </a:tr>
              <a:tr h="365760">
                <a:tc>
                  <a:txBody>
                    <a:bodyPr/>
                    <a:lstStyle/>
                    <a:p>
                      <a:pPr algn="l">
                        <a:defRPr sz="1000" b="0">
                          <a:solidFill>
                            <a:srgbClr val="000000"/>
                          </a:solidFill>
                          <a:latin typeface="Calibri"/>
                        </a:defRPr>
                      </a:pPr>
                      <a:r>
                        <a:t>FPR</a:t>
                      </a:r>
                    </a:p>
                  </a:txBody>
                  <a:tcPr/>
                </a:tc>
                <a:tc>
                  <a:txBody>
                    <a:bodyPr/>
                    <a:lstStyle/>
                    <a:p>
                      <a:pPr algn="ctr">
                        <a:defRPr sz="1000" b="0">
                          <a:solidFill>
                            <a:srgbClr val="000000"/>
                          </a:solidFill>
                          <a:latin typeface="Calibri"/>
                        </a:defRPr>
                      </a:pPr>
                      <a:r>
                        <a:t>0.0024</a:t>
                      </a:r>
                    </a:p>
                  </a:txBody>
                  <a:tcPr/>
                </a:tc>
                <a:tc>
                  <a:txBody>
                    <a:bodyPr/>
                    <a:lstStyle/>
                    <a:p>
                      <a:pPr algn="ctr">
                        <a:defRPr sz="1000" b="0">
                          <a:solidFill>
                            <a:srgbClr val="000000"/>
                          </a:solidFill>
                          <a:latin typeface="Calibri"/>
                        </a:defRPr>
                      </a:pPr>
                      <a:r>
                        <a:t>0.1223</a:t>
                      </a:r>
                    </a:p>
                  </a:txBody>
                  <a:tcPr/>
                </a:tc>
                <a:tc>
                  <a:txBody>
                    <a:bodyPr/>
                    <a:lstStyle/>
                    <a:p>
                      <a:pPr algn="ctr">
                        <a:defRPr sz="1000" b="0">
                          <a:solidFill>
                            <a:srgbClr val="000000"/>
                          </a:solidFill>
                          <a:latin typeface="Calibri"/>
                        </a:defRPr>
                      </a:pPr>
                      <a:r>
                        <a:t>0.0542</a:t>
                      </a:r>
                    </a:p>
                  </a:txBody>
                  <a:tcPr/>
                </a:tc>
                <a:tc>
                  <a:txBody>
                    <a:bodyPr/>
                    <a:lstStyle/>
                    <a:p>
                      <a:pPr algn="ctr">
                        <a:defRPr sz="1000" b="0">
                          <a:solidFill>
                            <a:srgbClr val="000000"/>
                          </a:solidFill>
                          <a:latin typeface="Calibri"/>
                        </a:defRPr>
                      </a:pPr>
                      <a:r>
                        <a:t>0.0280</a:t>
                      </a:r>
                    </a:p>
                  </a:txBody>
                  <a:tcPr/>
                </a:tc>
              </a:tr>
              <a:tr h="365760">
                <a:tc>
                  <a:txBody>
                    <a:bodyPr/>
                    <a:lstStyle/>
                    <a:p>
                      <a:pPr algn="l">
                        <a:defRPr sz="1000" b="0">
                          <a:solidFill>
                            <a:srgbClr val="000000"/>
                          </a:solidFill>
                          <a:latin typeface="Calibri"/>
                        </a:defRPr>
                      </a:pPr>
                      <a:r>
                        <a:t>FNR</a:t>
                      </a:r>
                    </a:p>
                  </a:txBody>
                  <a:tcPr>
                    <a:solidFill>
                      <a:srgbClr val="ECF0F1"/>
                    </a:solidFill>
                  </a:tcPr>
                </a:tc>
                <a:tc>
                  <a:txBody>
                    <a:bodyPr/>
                    <a:lstStyle/>
                    <a:p>
                      <a:pPr algn="ctr">
                        <a:defRPr sz="1000" b="0">
                          <a:solidFill>
                            <a:srgbClr val="000000"/>
                          </a:solidFill>
                          <a:latin typeface="Calibri"/>
                        </a:defRPr>
                      </a:pPr>
                      <a:r>
                        <a:t>0.0044</a:t>
                      </a:r>
                    </a:p>
                  </a:txBody>
                  <a:tcPr>
                    <a:solidFill>
                      <a:srgbClr val="ECF0F1"/>
                    </a:solidFill>
                  </a:tcPr>
                </a:tc>
                <a:tc>
                  <a:txBody>
                    <a:bodyPr/>
                    <a:lstStyle/>
                    <a:p>
                      <a:pPr algn="ctr">
                        <a:defRPr sz="1000" b="0">
                          <a:solidFill>
                            <a:srgbClr val="000000"/>
                          </a:solidFill>
                          <a:latin typeface="Calibri"/>
                        </a:defRPr>
                      </a:pPr>
                      <a:r>
                        <a:t>0.0579</a:t>
                      </a:r>
                    </a:p>
                  </a:txBody>
                  <a:tcPr>
                    <a:solidFill>
                      <a:srgbClr val="ECF0F1"/>
                    </a:solidFill>
                  </a:tcPr>
                </a:tc>
                <a:tc>
                  <a:txBody>
                    <a:bodyPr/>
                    <a:lstStyle/>
                    <a:p>
                      <a:pPr algn="ctr">
                        <a:defRPr sz="1000" b="0">
                          <a:solidFill>
                            <a:srgbClr val="000000"/>
                          </a:solidFill>
                          <a:latin typeface="Calibri"/>
                        </a:defRPr>
                      </a:pPr>
                      <a:r>
                        <a:t>0.0328</a:t>
                      </a:r>
                    </a:p>
                  </a:txBody>
                  <a:tcPr>
                    <a:solidFill>
                      <a:srgbClr val="ECF0F1"/>
                    </a:solidFill>
                  </a:tcPr>
                </a:tc>
                <a:tc>
                  <a:txBody>
                    <a:bodyPr/>
                    <a:lstStyle/>
                    <a:p>
                      <a:pPr algn="ctr">
                        <a:defRPr sz="1000" b="0">
                          <a:solidFill>
                            <a:srgbClr val="000000"/>
                          </a:solidFill>
                          <a:latin typeface="Calibri"/>
                        </a:defRPr>
                      </a:pPr>
                      <a:r>
                        <a:t>0.0252</a:t>
                      </a:r>
                    </a:p>
                  </a:txBody>
                  <a:tcPr>
                    <a:solidFill>
                      <a:srgbClr val="ECF0F1"/>
                    </a:solidFill>
                  </a:tcPr>
                </a:tc>
              </a:tr>
            </a:tbl>
          </a:graphicData>
        </a:graphic>
      </p:graphicFrame>
      <p:sp>
        <p:nvSpPr>
          <p:cNvPr id="5" name="TextBox 4"/>
          <p:cNvSpPr txBox="1"/>
          <p:nvPr/>
        </p:nvSpPr>
        <p:spPr>
          <a:xfrm>
            <a:off x="457200" y="3657600"/>
            <a:ext cx="4572000" cy="274320"/>
          </a:xfrm>
          <a:prstGeom prst="rect">
            <a:avLst/>
          </a:prstGeom>
          <a:noFill/>
        </p:spPr>
        <p:txBody>
          <a:bodyPr wrap="square">
            <a:spAutoFit/>
          </a:bodyPr>
          <a:lstStyle/>
          <a:p>
            <a:pPr algn="l">
              <a:defRPr sz="1400" b="1">
                <a:solidFill>
                  <a:srgbClr val="003C71"/>
                </a:solidFill>
                <a:latin typeface="Calibri"/>
              </a:defRPr>
            </a:pPr>
            <a:r>
              <a:t>Confusion Matrix Counts</a:t>
            </a:r>
          </a:p>
        </p:txBody>
      </p:sp>
      <p:graphicFrame>
        <p:nvGraphicFramePr>
          <p:cNvPr id="6" name="Table 5"/>
          <p:cNvGraphicFramePr>
            <a:graphicFrameLocks noGrp="1"/>
          </p:cNvGraphicFramePr>
          <p:nvPr/>
        </p:nvGraphicFramePr>
        <p:xfrm>
          <a:off x="457200" y="3931920"/>
          <a:ext cx="7132320" cy="2286000"/>
        </p:xfrm>
        <a:graphic>
          <a:graphicData uri="http://schemas.openxmlformats.org/drawingml/2006/table">
            <a:tbl>
              <a:tblPr firstRow="1" bandRow="1">
                <a:tableStyleId>{5C22544A-7EE6-4342-B048-85BDC9FD1C3A}</a:tableStyleId>
              </a:tblPr>
              <a:tblGrid>
                <a:gridCol w="1645920"/>
                <a:gridCol w="1463040"/>
                <a:gridCol w="1371600"/>
                <a:gridCol w="1463040"/>
                <a:gridCol w="1188720"/>
              </a:tblGrid>
              <a:tr h="326571">
                <a:tc>
                  <a:txBody>
                    <a:bodyPr/>
                    <a:lstStyle/>
                    <a:p>
                      <a:pPr algn="ctr">
                        <a:defRPr sz="1000" b="1">
                          <a:solidFill>
                            <a:srgbClr val="FFFFFF"/>
                          </a:solidFill>
                          <a:latin typeface="Calibri"/>
                        </a:defRPr>
                      </a:pPr>
                    </a:p>
                  </a:txBody>
                  <a:tcPr>
                    <a:solidFill>
                      <a:srgbClr val="003C71"/>
                    </a:solidFill>
                  </a:tcPr>
                </a:tc>
                <a:tc>
                  <a:txBody>
                    <a:bodyPr/>
                    <a:lstStyle/>
                    <a:p>
                      <a:pPr algn="ctr">
                        <a:defRPr sz="1000" b="1">
                          <a:solidFill>
                            <a:srgbClr val="FFFFFF"/>
                          </a:solidFill>
                          <a:latin typeface="Calibri"/>
                        </a:defRPr>
                      </a:pPr>
                      <a:r>
                        <a:t>CSE-CIC-IDS-2018</a:t>
                      </a:r>
                    </a:p>
                  </a:txBody>
                  <a:tcPr>
                    <a:solidFill>
                      <a:srgbClr val="003C71"/>
                    </a:solidFill>
                  </a:tcPr>
                </a:tc>
                <a:tc>
                  <a:txBody>
                    <a:bodyPr/>
                    <a:lstStyle/>
                    <a:p>
                      <a:pPr algn="ctr">
                        <a:defRPr sz="1000" b="1">
                          <a:solidFill>
                            <a:srgbClr val="FFFFFF"/>
                          </a:solidFill>
                          <a:latin typeface="Calibri"/>
                        </a:defRPr>
                      </a:pPr>
                      <a:r>
                        <a:t>UNSW-NB15</a:t>
                      </a:r>
                    </a:p>
                  </a:txBody>
                  <a:tcPr>
                    <a:solidFill>
                      <a:srgbClr val="003C71"/>
                    </a:solidFill>
                  </a:tcPr>
                </a:tc>
                <a:tc>
                  <a:txBody>
                    <a:bodyPr/>
                    <a:lstStyle/>
                    <a:p>
                      <a:pPr algn="ctr">
                        <a:defRPr sz="1000" b="1">
                          <a:solidFill>
                            <a:srgbClr val="FFFFFF"/>
                          </a:solidFill>
                          <a:latin typeface="Calibri"/>
                        </a:defRPr>
                      </a:pPr>
                      <a:r>
                        <a:t>CIC-IDS2017</a:t>
                      </a:r>
                    </a:p>
                  </a:txBody>
                  <a:tcPr>
                    <a:solidFill>
                      <a:srgbClr val="003C71"/>
                    </a:solidFill>
                  </a:tcPr>
                </a:tc>
                <a:tc>
                  <a:txBody>
                    <a:bodyPr/>
                    <a:lstStyle/>
                    <a:p>
                      <a:pPr algn="ctr">
                        <a:defRPr sz="1000" b="1">
                          <a:solidFill>
                            <a:srgbClr val="FFFFFF"/>
                          </a:solidFill>
                          <a:latin typeface="Calibri"/>
                        </a:defRPr>
                      </a:pPr>
                      <a:r>
                        <a:t>MISP</a:t>
                      </a:r>
                    </a:p>
                  </a:txBody>
                  <a:tcPr>
                    <a:solidFill>
                      <a:srgbClr val="003C71"/>
                    </a:solidFill>
                  </a:tcPr>
                </a:tc>
              </a:tr>
              <a:tr h="326571">
                <a:tc>
                  <a:txBody>
                    <a:bodyPr/>
                    <a:lstStyle/>
                    <a:p>
                      <a:pPr algn="l">
                        <a:defRPr sz="1000" b="0">
                          <a:solidFill>
                            <a:srgbClr val="000000"/>
                          </a:solidFill>
                          <a:latin typeface="Calibri"/>
                        </a:defRPr>
                      </a:pPr>
                      <a:r>
                        <a:t>True Positives (TP)</a:t>
                      </a:r>
                    </a:p>
                  </a:txBody>
                  <a:tcPr/>
                </a:tc>
                <a:tc>
                  <a:txBody>
                    <a:bodyPr/>
                    <a:lstStyle/>
                    <a:p>
                      <a:pPr algn="ctr">
                        <a:defRPr sz="1000" b="0">
                          <a:solidFill>
                            <a:srgbClr val="000000"/>
                          </a:solidFill>
                          <a:latin typeface="Calibri"/>
                        </a:defRPr>
                      </a:pPr>
                      <a:r>
                        <a:t>911</a:t>
                      </a:r>
                    </a:p>
                  </a:txBody>
                  <a:tcPr/>
                </a:tc>
                <a:tc>
                  <a:txBody>
                    <a:bodyPr/>
                    <a:lstStyle/>
                    <a:p>
                      <a:pPr algn="ctr">
                        <a:defRPr sz="1000" b="0">
                          <a:solidFill>
                            <a:srgbClr val="000000"/>
                          </a:solidFill>
                          <a:latin typeface="Calibri"/>
                        </a:defRPr>
                      </a:pPr>
                      <a:r>
                        <a:t>862</a:t>
                      </a:r>
                    </a:p>
                  </a:txBody>
                  <a:tcPr/>
                </a:tc>
                <a:tc>
                  <a:txBody>
                    <a:bodyPr/>
                    <a:lstStyle/>
                    <a:p>
                      <a:pPr algn="ctr">
                        <a:defRPr sz="1000" b="0">
                          <a:solidFill>
                            <a:srgbClr val="000000"/>
                          </a:solidFill>
                          <a:latin typeface="Calibri"/>
                        </a:defRPr>
                      </a:pPr>
                      <a:r>
                        <a:t>885</a:t>
                      </a:r>
                    </a:p>
                  </a:txBody>
                  <a:tcPr/>
                </a:tc>
                <a:tc>
                  <a:txBody>
                    <a:bodyPr/>
                    <a:lstStyle/>
                    <a:p>
                      <a:pPr algn="ctr">
                        <a:defRPr sz="1000" b="0">
                          <a:solidFill>
                            <a:srgbClr val="000000"/>
                          </a:solidFill>
                          <a:latin typeface="Calibri"/>
                        </a:defRPr>
                      </a:pPr>
                      <a:r>
                        <a:t>920</a:t>
                      </a:r>
                    </a:p>
                  </a:txBody>
                  <a:tcPr/>
                </a:tc>
              </a:tr>
              <a:tr h="326571">
                <a:tc>
                  <a:txBody>
                    <a:bodyPr/>
                    <a:lstStyle/>
                    <a:p>
                      <a:pPr algn="l">
                        <a:defRPr sz="1000" b="0">
                          <a:solidFill>
                            <a:srgbClr val="000000"/>
                          </a:solidFill>
                          <a:latin typeface="Calibri"/>
                        </a:defRPr>
                      </a:pPr>
                      <a:r>
                        <a:t>True Negatives (TN)</a:t>
                      </a:r>
                    </a:p>
                  </a:txBody>
                  <a:tcPr>
                    <a:solidFill>
                      <a:srgbClr val="ECF0F1"/>
                    </a:solidFill>
                  </a:tcPr>
                </a:tc>
                <a:tc>
                  <a:txBody>
                    <a:bodyPr/>
                    <a:lstStyle/>
                    <a:p>
                      <a:pPr algn="ctr">
                        <a:defRPr sz="1000" b="0">
                          <a:solidFill>
                            <a:srgbClr val="000000"/>
                          </a:solidFill>
                          <a:latin typeface="Calibri"/>
                        </a:defRPr>
                      </a:pPr>
                      <a:r>
                        <a:t>2,080</a:t>
                      </a:r>
                    </a:p>
                  </a:txBody>
                  <a:tcPr>
                    <a:solidFill>
                      <a:srgbClr val="ECF0F1"/>
                    </a:solidFill>
                  </a:tcPr>
                </a:tc>
                <a:tc>
                  <a:txBody>
                    <a:bodyPr/>
                    <a:lstStyle/>
                    <a:p>
                      <a:pPr algn="ctr">
                        <a:defRPr sz="1000" b="0">
                          <a:solidFill>
                            <a:srgbClr val="000000"/>
                          </a:solidFill>
                          <a:latin typeface="Calibri"/>
                        </a:defRPr>
                      </a:pPr>
                      <a:r>
                        <a:t>1,830</a:t>
                      </a:r>
                    </a:p>
                  </a:txBody>
                  <a:tcPr>
                    <a:solidFill>
                      <a:srgbClr val="ECF0F1"/>
                    </a:solidFill>
                  </a:tcPr>
                </a:tc>
                <a:tc>
                  <a:txBody>
                    <a:bodyPr/>
                    <a:lstStyle/>
                    <a:p>
                      <a:pPr algn="ctr">
                        <a:defRPr sz="1000" b="0">
                          <a:solidFill>
                            <a:srgbClr val="000000"/>
                          </a:solidFill>
                          <a:latin typeface="Calibri"/>
                        </a:defRPr>
                      </a:pPr>
                      <a:r>
                        <a:t>1,972</a:t>
                      </a:r>
                    </a:p>
                  </a:txBody>
                  <a:tcPr>
                    <a:solidFill>
                      <a:srgbClr val="ECF0F1"/>
                    </a:solidFill>
                  </a:tcPr>
                </a:tc>
                <a:tc>
                  <a:txBody>
                    <a:bodyPr/>
                    <a:lstStyle/>
                    <a:p>
                      <a:pPr algn="ctr">
                        <a:defRPr sz="1000" b="0">
                          <a:solidFill>
                            <a:srgbClr val="000000"/>
                          </a:solidFill>
                          <a:latin typeface="Calibri"/>
                        </a:defRPr>
                      </a:pPr>
                      <a:r>
                        <a:t>1,928</a:t>
                      </a:r>
                    </a:p>
                  </a:txBody>
                  <a:tcPr>
                    <a:solidFill>
                      <a:srgbClr val="ECF0F1"/>
                    </a:solidFill>
                  </a:tcPr>
                </a:tc>
              </a:tr>
              <a:tr h="326571">
                <a:tc>
                  <a:txBody>
                    <a:bodyPr/>
                    <a:lstStyle/>
                    <a:p>
                      <a:pPr algn="l">
                        <a:defRPr sz="1000" b="0">
                          <a:solidFill>
                            <a:srgbClr val="000000"/>
                          </a:solidFill>
                          <a:latin typeface="Calibri"/>
                        </a:defRPr>
                      </a:pPr>
                      <a:r>
                        <a:t>False Positives (FP)</a:t>
                      </a:r>
                    </a:p>
                  </a:txBody>
                  <a:tcPr/>
                </a:tc>
                <a:tc>
                  <a:txBody>
                    <a:bodyPr/>
                    <a:lstStyle/>
                    <a:p>
                      <a:pPr algn="ctr">
                        <a:defRPr sz="1000" b="0">
                          <a:solidFill>
                            <a:srgbClr val="000000"/>
                          </a:solidFill>
                          <a:latin typeface="Calibri"/>
                        </a:defRPr>
                      </a:pPr>
                      <a:r>
                        <a:t>5</a:t>
                      </a:r>
                    </a:p>
                  </a:txBody>
                  <a:tcPr/>
                </a:tc>
                <a:tc>
                  <a:txBody>
                    <a:bodyPr/>
                    <a:lstStyle/>
                    <a:p>
                      <a:pPr algn="ctr">
                        <a:defRPr sz="1000" b="0">
                          <a:solidFill>
                            <a:srgbClr val="000000"/>
                          </a:solidFill>
                          <a:latin typeface="Calibri"/>
                        </a:defRPr>
                      </a:pPr>
                      <a:r>
                        <a:t>255</a:t>
                      </a:r>
                    </a:p>
                  </a:txBody>
                  <a:tcPr/>
                </a:tc>
                <a:tc>
                  <a:txBody>
                    <a:bodyPr/>
                    <a:lstStyle/>
                    <a:p>
                      <a:pPr algn="ctr">
                        <a:defRPr sz="1000" b="0">
                          <a:solidFill>
                            <a:srgbClr val="000000"/>
                          </a:solidFill>
                          <a:latin typeface="Calibri"/>
                        </a:defRPr>
                      </a:pPr>
                      <a:r>
                        <a:t>113</a:t>
                      </a:r>
                    </a:p>
                  </a:txBody>
                  <a:tcPr/>
                </a:tc>
                <a:tc>
                  <a:txBody>
                    <a:bodyPr/>
                    <a:lstStyle/>
                    <a:p>
                      <a:pPr algn="ctr">
                        <a:defRPr sz="1000" b="0">
                          <a:solidFill>
                            <a:srgbClr val="000000"/>
                          </a:solidFill>
                          <a:latin typeface="Calibri"/>
                        </a:defRPr>
                      </a:pPr>
                      <a:r>
                        <a:t>75</a:t>
                      </a:r>
                    </a:p>
                  </a:txBody>
                  <a:tcPr/>
                </a:tc>
              </a:tr>
              <a:tr h="326571">
                <a:tc>
                  <a:txBody>
                    <a:bodyPr/>
                    <a:lstStyle/>
                    <a:p>
                      <a:pPr algn="l">
                        <a:defRPr sz="1000" b="0">
                          <a:solidFill>
                            <a:srgbClr val="000000"/>
                          </a:solidFill>
                          <a:latin typeface="Calibri"/>
                        </a:defRPr>
                      </a:pPr>
                      <a:r>
                        <a:t>False Negatives (FN)</a:t>
                      </a:r>
                    </a:p>
                  </a:txBody>
                  <a:tcPr>
                    <a:solidFill>
                      <a:srgbClr val="ECF0F1"/>
                    </a:solidFill>
                  </a:tcPr>
                </a:tc>
                <a:tc>
                  <a:txBody>
                    <a:bodyPr/>
                    <a:lstStyle/>
                    <a:p>
                      <a:pPr algn="ctr">
                        <a:defRPr sz="1000" b="0">
                          <a:solidFill>
                            <a:srgbClr val="000000"/>
                          </a:solidFill>
                          <a:latin typeface="Calibri"/>
                        </a:defRPr>
                      </a:pPr>
                      <a:r>
                        <a:t>4</a:t>
                      </a:r>
                    </a:p>
                  </a:txBody>
                  <a:tcPr>
                    <a:solidFill>
                      <a:srgbClr val="ECF0F1"/>
                    </a:solidFill>
                  </a:tcPr>
                </a:tc>
                <a:tc>
                  <a:txBody>
                    <a:bodyPr/>
                    <a:lstStyle/>
                    <a:p>
                      <a:pPr algn="ctr">
                        <a:defRPr sz="1000" b="0">
                          <a:solidFill>
                            <a:srgbClr val="000000"/>
                          </a:solidFill>
                          <a:latin typeface="Calibri"/>
                        </a:defRPr>
                      </a:pPr>
                      <a:r>
                        <a:t>53</a:t>
                      </a:r>
                    </a:p>
                  </a:txBody>
                  <a:tcPr>
                    <a:solidFill>
                      <a:srgbClr val="ECF0F1"/>
                    </a:solidFill>
                  </a:tcPr>
                </a:tc>
                <a:tc>
                  <a:txBody>
                    <a:bodyPr/>
                    <a:lstStyle/>
                    <a:p>
                      <a:pPr algn="ctr">
                        <a:defRPr sz="1000" b="0">
                          <a:solidFill>
                            <a:srgbClr val="000000"/>
                          </a:solidFill>
                          <a:latin typeface="Calibri"/>
                        </a:defRPr>
                      </a:pPr>
                      <a:r>
                        <a:t>30</a:t>
                      </a:r>
                    </a:p>
                  </a:txBody>
                  <a:tcPr>
                    <a:solidFill>
                      <a:srgbClr val="ECF0F1"/>
                    </a:solidFill>
                  </a:tcPr>
                </a:tc>
                <a:tc>
                  <a:txBody>
                    <a:bodyPr/>
                    <a:lstStyle/>
                    <a:p>
                      <a:pPr algn="ctr">
                        <a:defRPr sz="1000" b="0">
                          <a:solidFill>
                            <a:srgbClr val="000000"/>
                          </a:solidFill>
                          <a:latin typeface="Calibri"/>
                        </a:defRPr>
                      </a:pPr>
                      <a:r>
                        <a:t>60</a:t>
                      </a:r>
                    </a:p>
                  </a:txBody>
                  <a:tcPr>
                    <a:solidFill>
                      <a:srgbClr val="ECF0F1"/>
                    </a:solidFill>
                  </a:tcPr>
                </a:tc>
              </a:tr>
              <a:tr h="326571">
                <a:tc>
                  <a:txBody>
                    <a:bodyPr/>
                    <a:lstStyle/>
                    <a:p>
                      <a:pPr algn="l">
                        <a:defRPr sz="1000" b="0">
                          <a:solidFill>
                            <a:srgbClr val="000000"/>
                          </a:solidFill>
                          <a:latin typeface="Calibri"/>
                        </a:defRPr>
                      </a:pPr>
                      <a:r>
                        <a:t>Attack Ratio (train)</a:t>
                      </a:r>
                    </a:p>
                  </a:txBody>
                  <a:tcPr/>
                </a:tc>
                <a:tc>
                  <a:txBody>
                    <a:bodyPr/>
                    <a:lstStyle/>
                    <a:p>
                      <a:pPr algn="ctr">
                        <a:defRPr sz="1000" b="0">
                          <a:solidFill>
                            <a:srgbClr val="000000"/>
                          </a:solidFill>
                          <a:latin typeface="Calibri"/>
                        </a:defRPr>
                      </a:pPr>
                      <a:r>
                        <a:t>27.1%</a:t>
                      </a:r>
                    </a:p>
                  </a:txBody>
                  <a:tcPr/>
                </a:tc>
                <a:tc>
                  <a:txBody>
                    <a:bodyPr/>
                    <a:lstStyle/>
                    <a:p>
                      <a:pPr algn="ctr">
                        <a:defRPr sz="1000" b="0">
                          <a:solidFill>
                            <a:srgbClr val="000000"/>
                          </a:solidFill>
                          <a:latin typeface="Calibri"/>
                        </a:defRPr>
                      </a:pPr>
                      <a:r>
                        <a:t>67.9%</a:t>
                      </a:r>
                    </a:p>
                  </a:txBody>
                  <a:tcPr/>
                </a:tc>
                <a:tc>
                  <a:txBody>
                    <a:bodyPr/>
                    <a:lstStyle/>
                    <a:p>
                      <a:pPr algn="ctr">
                        <a:defRPr sz="1000" b="0">
                          <a:solidFill>
                            <a:srgbClr val="000000"/>
                          </a:solidFill>
                          <a:latin typeface="Calibri"/>
                        </a:defRPr>
                      </a:pPr>
                      <a:r>
                        <a:t>19.9%</a:t>
                      </a:r>
                    </a:p>
                  </a:txBody>
                  <a:tcPr/>
                </a:tc>
                <a:tc>
                  <a:txBody>
                    <a:bodyPr/>
                    <a:lstStyle/>
                    <a:p>
                      <a:pPr algn="ctr">
                        <a:defRPr sz="1000" b="0">
                          <a:solidFill>
                            <a:srgbClr val="000000"/>
                          </a:solidFill>
                          <a:latin typeface="Calibri"/>
                        </a:defRPr>
                      </a:pPr>
                      <a:r>
                        <a:t>35.0%</a:t>
                      </a:r>
                    </a:p>
                  </a:txBody>
                  <a:tcPr/>
                </a:tc>
              </a:tr>
              <a:tr h="326574">
                <a:tc>
                  <a:txBody>
                    <a:bodyPr/>
                    <a:lstStyle/>
                    <a:p>
                      <a:pPr algn="l">
                        <a:defRPr sz="1000" b="0">
                          <a:solidFill>
                            <a:srgbClr val="000000"/>
                          </a:solidFill>
                          <a:latin typeface="Calibri"/>
                        </a:defRPr>
                      </a:pPr>
                      <a:r>
                        <a:t>Attack Ratio (test)</a:t>
                      </a:r>
                    </a:p>
                  </a:txBody>
                  <a:tcPr>
                    <a:solidFill>
                      <a:srgbClr val="ECF0F1"/>
                    </a:solidFill>
                  </a:tcPr>
                </a:tc>
                <a:tc>
                  <a:txBody>
                    <a:bodyPr/>
                    <a:lstStyle/>
                    <a:p>
                      <a:pPr algn="ctr">
                        <a:defRPr sz="1000" b="0">
                          <a:solidFill>
                            <a:srgbClr val="000000"/>
                          </a:solidFill>
                          <a:latin typeface="Calibri"/>
                        </a:defRPr>
                      </a:pPr>
                      <a:r>
                        <a:t>27.4%</a:t>
                      </a:r>
                    </a:p>
                  </a:txBody>
                  <a:tcPr>
                    <a:solidFill>
                      <a:srgbClr val="ECF0F1"/>
                    </a:solidFill>
                  </a:tcPr>
                </a:tc>
                <a:tc>
                  <a:txBody>
                    <a:bodyPr/>
                    <a:lstStyle/>
                    <a:p>
                      <a:pPr algn="ctr">
                        <a:defRPr sz="1000" b="0">
                          <a:solidFill>
                            <a:srgbClr val="000000"/>
                          </a:solidFill>
                          <a:latin typeface="Calibri"/>
                        </a:defRPr>
                      </a:pPr>
                      <a:r>
                        <a:t>67.7%</a:t>
                      </a:r>
                    </a:p>
                  </a:txBody>
                  <a:tcPr>
                    <a:solidFill>
                      <a:srgbClr val="ECF0F1"/>
                    </a:solidFill>
                  </a:tcPr>
                </a:tc>
                <a:tc>
                  <a:txBody>
                    <a:bodyPr/>
                    <a:lstStyle/>
                    <a:p>
                      <a:pPr algn="ctr">
                        <a:defRPr sz="1000" b="0">
                          <a:solidFill>
                            <a:srgbClr val="000000"/>
                          </a:solidFill>
                          <a:latin typeface="Calibri"/>
                        </a:defRPr>
                      </a:pPr>
                      <a:r>
                        <a:t>20.4%</a:t>
                      </a:r>
                    </a:p>
                  </a:txBody>
                  <a:tcPr>
                    <a:solidFill>
                      <a:srgbClr val="ECF0F1"/>
                    </a:solidFill>
                  </a:tcPr>
                </a:tc>
                <a:tc>
                  <a:txBody>
                    <a:bodyPr/>
                    <a:lstStyle/>
                    <a:p>
                      <a:pPr algn="ctr">
                        <a:defRPr sz="1000" b="0">
                          <a:solidFill>
                            <a:srgbClr val="000000"/>
                          </a:solidFill>
                          <a:latin typeface="Calibri"/>
                        </a:defRPr>
                      </a:pPr>
                      <a:r>
                        <a:t>34.8%</a:t>
                      </a:r>
                    </a:p>
                  </a:txBody>
                  <a:tcPr>
                    <a:solidFill>
                      <a:srgbClr val="ECF0F1"/>
                    </a:solidFill>
                  </a:tcPr>
                </a:tc>
              </a:tr>
            </a:tbl>
          </a:graphicData>
        </a:graphic>
      </p:graphicFrame>
      <p:sp>
        <p:nvSpPr>
          <p:cNvPr id="7" name="TextBox 6"/>
          <p:cNvSpPr txBox="1"/>
          <p:nvPr/>
        </p:nvSpPr>
        <p:spPr>
          <a:xfrm>
            <a:off x="7315200" y="822960"/>
            <a:ext cx="4572000" cy="274320"/>
          </a:xfrm>
          <a:prstGeom prst="rect">
            <a:avLst/>
          </a:prstGeom>
          <a:noFill/>
        </p:spPr>
        <p:txBody>
          <a:bodyPr wrap="square">
            <a:spAutoFit/>
          </a:bodyPr>
          <a:lstStyle/>
          <a:p>
            <a:pPr algn="l">
              <a:defRPr sz="1400" b="1">
                <a:solidFill>
                  <a:srgbClr val="8E44AD"/>
                </a:solidFill>
                <a:latin typeface="Calibri"/>
              </a:defRPr>
            </a:pPr>
            <a:r>
              <a:t>Key Observations</a:t>
            </a:r>
          </a:p>
        </p:txBody>
      </p:sp>
      <p:sp>
        <p:nvSpPr>
          <p:cNvPr id="8" name="TextBox 7"/>
          <p:cNvSpPr txBox="1"/>
          <p:nvPr/>
        </p:nvSpPr>
        <p:spPr>
          <a:xfrm>
            <a:off x="8412480" y="1188720"/>
            <a:ext cx="3657600" cy="5029200"/>
          </a:xfrm>
          <a:prstGeom prst="rect">
            <a:avLst/>
          </a:prstGeom>
          <a:noFill/>
        </p:spPr>
        <p:txBody>
          <a:bodyPr wrap="square">
            <a:spAutoFit/>
          </a:bodyPr>
          <a:lstStyle/>
          <a:p>
            <a:pPr>
              <a:spcAft>
                <a:spcPts val="400"/>
              </a:spcAft>
              <a:defRPr sz="1000" b="0">
                <a:solidFill>
                  <a:srgbClr val="000000"/>
                </a:solidFill>
                <a:latin typeface="Calibri"/>
              </a:defRPr>
            </a:pPr>
            <a:r>
              <a:t>•  CSE: Near-perfect (F1=0.995, only 5 FP and 4 FN).</a:t>
            </a:r>
          </a:p>
          <a:p>
            <a:pPr>
              <a:spcAft>
                <a:spcPts val="400"/>
              </a:spcAft>
              <a:defRPr sz="1000" b="0">
                <a:solidFill>
                  <a:srgbClr val="000000"/>
                </a:solidFill>
                <a:latin typeface="Calibri"/>
              </a:defRPr>
            </a:pPr>
            <a:r>
              <a:t>•  CIC2017: High recall (0.967) catches 96.7% of attacks.</a:t>
            </a:r>
          </a:p>
          <a:p>
            <a:pPr>
              <a:spcAft>
                <a:spcPts val="400"/>
              </a:spcAft>
              <a:defRPr sz="1000" b="0">
                <a:solidFill>
                  <a:srgbClr val="000000"/>
                </a:solidFill>
                <a:latin typeface="Calibri"/>
              </a:defRPr>
            </a:pPr>
            <a:r>
              <a:t>•  UNSW: Highest recall (0.942) but lowest precision (0.772) due to 68% attack ratio.</a:t>
            </a:r>
          </a:p>
          <a:p>
            <a:pPr>
              <a:spcAft>
                <a:spcPts val="400"/>
              </a:spcAft>
              <a:defRPr sz="1000" b="0">
                <a:solidFill>
                  <a:srgbClr val="000000"/>
                </a:solidFill>
                <a:latin typeface="Calibri"/>
              </a:defRPr>
            </a:pPr>
            <a:r>
              <a:t>•  MISP: Strong F1=0.929 across 8 threat categories (C2, malware, APT, etc.).</a:t>
            </a:r>
          </a:p>
          <a:p>
            <a:pPr>
              <a:spcAft>
                <a:spcPts val="400"/>
              </a:spcAft>
              <a:defRPr sz="1000" b="0">
                <a:solidFill>
                  <a:srgbClr val="000000"/>
                </a:solidFill>
                <a:latin typeface="Calibri"/>
              </a:defRPr>
            </a:pPr>
            <a:r>
              <a:t>•  FNR &lt; FPR on ALL datasets — confirms asymmetric reward design works.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274320" y="137160"/>
            <a:ext cx="11430000" cy="457200"/>
          </a:xfrm>
          <a:prstGeom prst="rect">
            <a:avLst/>
          </a:prstGeom>
          <a:noFill/>
        </p:spPr>
        <p:txBody>
          <a:bodyPr wrap="square">
            <a:spAutoFit/>
          </a:bodyPr>
          <a:lstStyle/>
          <a:p>
            <a:pPr algn="ctr">
              <a:defRPr sz="2400" b="1">
                <a:solidFill>
                  <a:srgbClr val="003C71"/>
                </a:solidFill>
                <a:latin typeface="Calibri"/>
              </a:defRPr>
            </a:pPr>
            <a:r>
              <a:t>F1-Score Comparison — ASRRL vs. Static Baselines</a:t>
            </a:r>
          </a:p>
        </p:txBody>
      </p:sp>
      <p:graphicFrame>
        <p:nvGraphicFramePr>
          <p:cNvPr id="3" name="Table 2"/>
          <p:cNvGraphicFramePr>
            <a:graphicFrameLocks noGrp="1"/>
          </p:cNvGraphicFramePr>
          <p:nvPr/>
        </p:nvGraphicFramePr>
        <p:xfrm>
          <a:off x="365760" y="731520"/>
          <a:ext cx="9966960" cy="2011680"/>
        </p:xfrm>
        <a:graphic>
          <a:graphicData uri="http://schemas.openxmlformats.org/drawingml/2006/table">
            <a:tbl>
              <a:tblPr firstRow="1" bandRow="1">
                <a:tableStyleId>{5C22544A-7EE6-4342-B048-85BDC9FD1C3A}</a:tableStyleId>
              </a:tblPr>
              <a:tblGrid>
                <a:gridCol w="1828800"/>
                <a:gridCol w="1188720"/>
                <a:gridCol w="1371600"/>
                <a:gridCol w="1371600"/>
                <a:gridCol w="1188720"/>
                <a:gridCol w="1188720"/>
                <a:gridCol w="1828800"/>
              </a:tblGrid>
              <a:tr h="402336">
                <a:tc>
                  <a:txBody>
                    <a:bodyPr/>
                    <a:lstStyle/>
                    <a:p>
                      <a:pPr algn="ctr">
                        <a:defRPr sz="1000" b="1">
                          <a:solidFill>
                            <a:srgbClr val="FFFFFF"/>
                          </a:solidFill>
                          <a:latin typeface="Calibri"/>
                        </a:defRPr>
                      </a:pPr>
                      <a:r>
                        <a:t>Dataset</a:t>
                      </a:r>
                    </a:p>
                  </a:txBody>
                  <a:tcPr>
                    <a:solidFill>
                      <a:srgbClr val="003C71"/>
                    </a:solidFill>
                  </a:tcPr>
                </a:tc>
                <a:tc>
                  <a:txBody>
                    <a:bodyPr/>
                    <a:lstStyle/>
                    <a:p>
                      <a:pPr algn="ctr">
                        <a:defRPr sz="1000" b="1">
                          <a:solidFill>
                            <a:srgbClr val="FFFFFF"/>
                          </a:solidFill>
                          <a:latin typeface="Calibri"/>
                        </a:defRPr>
                      </a:pPr>
                      <a:r>
                        <a:t>ASRRL</a:t>
                      </a:r>
                    </a:p>
                    <a:p>
                      <a:pPr algn="ctr">
                        <a:defRPr sz="1000" b="1">
                          <a:solidFill>
                            <a:srgbClr val="FFFFFF"/>
                          </a:solidFill>
                          <a:latin typeface="Calibri"/>
                        </a:defRPr>
                      </a:pPr>
                      <a:r>
                        <a:t>(Ours)</a:t>
                      </a:r>
                    </a:p>
                  </a:txBody>
                  <a:tcPr>
                    <a:solidFill>
                      <a:srgbClr val="003C71"/>
                    </a:solidFill>
                  </a:tcPr>
                </a:tc>
                <a:tc>
                  <a:txBody>
                    <a:bodyPr/>
                    <a:lstStyle/>
                    <a:p>
                      <a:pPr algn="ctr">
                        <a:defRPr sz="1000" b="1">
                          <a:solidFill>
                            <a:srgbClr val="FFFFFF"/>
                          </a:solidFill>
                          <a:latin typeface="Calibri"/>
                        </a:defRPr>
                      </a:pPr>
                      <a:r>
                        <a:t>Random</a:t>
                      </a:r>
                    </a:p>
                    <a:p>
                      <a:pPr algn="ctr">
                        <a:defRPr sz="1000" b="1">
                          <a:solidFill>
                            <a:srgbClr val="FFFFFF"/>
                          </a:solidFill>
                          <a:latin typeface="Calibri"/>
                        </a:defRPr>
                      </a:pPr>
                      <a:r>
                        <a:t>Forest</a:t>
                      </a:r>
                    </a:p>
                  </a:txBody>
                  <a:tcPr>
                    <a:solidFill>
                      <a:srgbClr val="003C71"/>
                    </a:solidFill>
                  </a:tcPr>
                </a:tc>
                <a:tc>
                  <a:txBody>
                    <a:bodyPr/>
                    <a:lstStyle/>
                    <a:p>
                      <a:pPr algn="ctr">
                        <a:defRPr sz="1000" b="1">
                          <a:solidFill>
                            <a:srgbClr val="FFFFFF"/>
                          </a:solidFill>
                          <a:latin typeface="Calibri"/>
                        </a:defRPr>
                      </a:pPr>
                      <a:r>
                        <a:t>XGBoost</a:t>
                      </a:r>
                    </a:p>
                  </a:txBody>
                  <a:tcPr>
                    <a:solidFill>
                      <a:srgbClr val="003C71"/>
                    </a:solidFill>
                  </a:tcPr>
                </a:tc>
                <a:tc>
                  <a:txBody>
                    <a:bodyPr/>
                    <a:lstStyle/>
                    <a:p>
                      <a:pPr algn="ctr">
                        <a:defRPr sz="1000" b="1">
                          <a:solidFill>
                            <a:srgbClr val="FFFFFF"/>
                          </a:solidFill>
                          <a:latin typeface="Calibri"/>
                        </a:defRPr>
                      </a:pPr>
                      <a:r>
                        <a:t>SVM</a:t>
                      </a:r>
                    </a:p>
                  </a:txBody>
                  <a:tcPr>
                    <a:solidFill>
                      <a:srgbClr val="003C71"/>
                    </a:solidFill>
                  </a:tcPr>
                </a:tc>
                <a:tc>
                  <a:txBody>
                    <a:bodyPr/>
                    <a:lstStyle/>
                    <a:p>
                      <a:pPr algn="ctr">
                        <a:defRPr sz="1000" b="1">
                          <a:solidFill>
                            <a:srgbClr val="FFFFFF"/>
                          </a:solidFill>
                          <a:latin typeface="Calibri"/>
                        </a:defRPr>
                      </a:pPr>
                      <a:r>
                        <a:t>KNN</a:t>
                      </a:r>
                    </a:p>
                  </a:txBody>
                  <a:tcPr>
                    <a:solidFill>
                      <a:srgbClr val="003C71"/>
                    </a:solidFill>
                  </a:tcPr>
                </a:tc>
                <a:tc>
                  <a:txBody>
                    <a:bodyPr/>
                    <a:lstStyle/>
                    <a:p>
                      <a:pPr algn="ctr">
                        <a:defRPr sz="1000" b="1">
                          <a:solidFill>
                            <a:srgbClr val="FFFFFF"/>
                          </a:solidFill>
                          <a:latin typeface="Calibri"/>
                        </a:defRPr>
                      </a:pPr>
                      <a:r>
                        <a:t>ASRRL vs</a:t>
                      </a:r>
                    </a:p>
                    <a:p>
                      <a:pPr algn="ctr">
                        <a:defRPr sz="1000" b="1">
                          <a:solidFill>
                            <a:srgbClr val="FFFFFF"/>
                          </a:solidFill>
                          <a:latin typeface="Calibri"/>
                        </a:defRPr>
                      </a:pPr>
                      <a:r>
                        <a:t>Best Baseline</a:t>
                      </a:r>
                    </a:p>
                  </a:txBody>
                  <a:tcPr>
                    <a:solidFill>
                      <a:srgbClr val="003C71"/>
                    </a:solidFill>
                  </a:tcPr>
                </a:tc>
              </a:tr>
              <a:tr h="402336">
                <a:tc>
                  <a:txBody>
                    <a:bodyPr/>
                    <a:lstStyle/>
                    <a:p>
                      <a:pPr algn="l">
                        <a:defRPr sz="1000" b="0">
                          <a:solidFill>
                            <a:srgbClr val="000000"/>
                          </a:solidFill>
                          <a:latin typeface="Calibri"/>
                        </a:defRPr>
                      </a:pPr>
                      <a:r>
                        <a:t>CSE-CIC-IDS-2018</a:t>
                      </a:r>
                    </a:p>
                    <a:p>
                      <a:pPr algn="l">
                        <a:defRPr sz="1000" b="0">
                          <a:solidFill>
                            <a:srgbClr val="000000"/>
                          </a:solidFill>
                          <a:latin typeface="Calibri"/>
                        </a:defRPr>
                      </a:pPr>
                      <a:r>
                        <a:t>(1.05M flows)</a:t>
                      </a:r>
                    </a:p>
                  </a:txBody>
                  <a:tcPr/>
                </a:tc>
                <a:tc>
                  <a:txBody>
                    <a:bodyPr/>
                    <a:lstStyle/>
                    <a:p>
                      <a:pPr algn="ctr">
                        <a:defRPr sz="1000" b="1">
                          <a:solidFill>
                            <a:srgbClr val="000000"/>
                          </a:solidFill>
                          <a:latin typeface="Calibri"/>
                        </a:defRPr>
                      </a:pPr>
                      <a:r>
                        <a:t>0.9951</a:t>
                      </a:r>
                    </a:p>
                  </a:txBody>
                  <a:tcPr>
                    <a:solidFill>
                      <a:srgbClr val="D5F5E3"/>
                    </a:solidFill>
                  </a:tcPr>
                </a:tc>
                <a:tc>
                  <a:txBody>
                    <a:bodyPr/>
                    <a:lstStyle/>
                    <a:p>
                      <a:pPr algn="ctr">
                        <a:defRPr sz="1000" b="0">
                          <a:solidFill>
                            <a:srgbClr val="000000"/>
                          </a:solidFill>
                          <a:latin typeface="Calibri"/>
                        </a:defRPr>
                      </a:pPr>
                      <a:r>
                        <a:t>0.9957</a:t>
                      </a:r>
                    </a:p>
                  </a:txBody>
                  <a:tcPr/>
                </a:tc>
                <a:tc>
                  <a:txBody>
                    <a:bodyPr/>
                    <a:lstStyle/>
                    <a:p>
                      <a:pPr algn="ctr">
                        <a:defRPr sz="1000" b="0">
                          <a:solidFill>
                            <a:srgbClr val="000000"/>
                          </a:solidFill>
                          <a:latin typeface="Calibri"/>
                        </a:defRPr>
                      </a:pPr>
                      <a:r>
                        <a:t>0.9963</a:t>
                      </a:r>
                    </a:p>
                  </a:txBody>
                  <a:tcPr/>
                </a:tc>
                <a:tc>
                  <a:txBody>
                    <a:bodyPr/>
                    <a:lstStyle/>
                    <a:p>
                      <a:pPr algn="ctr">
                        <a:defRPr sz="1000" b="0">
                          <a:solidFill>
                            <a:srgbClr val="000000"/>
                          </a:solidFill>
                          <a:latin typeface="Calibri"/>
                        </a:defRPr>
                      </a:pPr>
                      <a:r>
                        <a:t>0.9921</a:t>
                      </a:r>
                    </a:p>
                  </a:txBody>
                  <a:tcPr/>
                </a:tc>
                <a:tc>
                  <a:txBody>
                    <a:bodyPr/>
                    <a:lstStyle/>
                    <a:p>
                      <a:pPr algn="ctr">
                        <a:defRPr sz="1000" b="0">
                          <a:solidFill>
                            <a:srgbClr val="000000"/>
                          </a:solidFill>
                          <a:latin typeface="Calibri"/>
                        </a:defRPr>
                      </a:pPr>
                      <a:r>
                        <a:t>0.9951</a:t>
                      </a:r>
                    </a:p>
                  </a:txBody>
                  <a:tcPr/>
                </a:tc>
                <a:tc>
                  <a:txBody>
                    <a:bodyPr/>
                    <a:lstStyle/>
                    <a:p>
                      <a:pPr algn="ctr">
                        <a:defRPr sz="1000" b="0">
                          <a:solidFill>
                            <a:srgbClr val="000000"/>
                          </a:solidFill>
                          <a:latin typeface="Calibri"/>
                        </a:defRPr>
                      </a:pPr>
                      <a:r>
                        <a:t>−0.12%</a:t>
                      </a:r>
                    </a:p>
                    <a:p>
                      <a:pPr algn="ctr">
                        <a:defRPr sz="1000" b="0">
                          <a:solidFill>
                            <a:srgbClr val="000000"/>
                          </a:solidFill>
                          <a:latin typeface="Calibri"/>
                        </a:defRPr>
                      </a:pPr>
                      <a:r>
                        <a:t>vs XGBoost</a:t>
                      </a:r>
                    </a:p>
                  </a:txBody>
                  <a:tcPr/>
                </a:tc>
              </a:tr>
              <a:tr h="402336">
                <a:tc>
                  <a:txBody>
                    <a:bodyPr/>
                    <a:lstStyle/>
                    <a:p>
                      <a:pPr algn="l">
                        <a:defRPr sz="1000" b="0">
                          <a:solidFill>
                            <a:srgbClr val="000000"/>
                          </a:solidFill>
                          <a:latin typeface="Calibri"/>
                        </a:defRPr>
                      </a:pPr>
                      <a:r>
                        <a:t>UNSW-NB15</a:t>
                      </a:r>
                    </a:p>
                    <a:p>
                      <a:pPr algn="l">
                        <a:defRPr sz="1000" b="0">
                          <a:solidFill>
                            <a:srgbClr val="000000"/>
                          </a:solidFill>
                          <a:latin typeface="Calibri"/>
                        </a:defRPr>
                      </a:pPr>
                      <a:r>
                        <a:t>(175K flows)</a:t>
                      </a:r>
                    </a:p>
                  </a:txBody>
                  <a:tcPr>
                    <a:solidFill>
                      <a:srgbClr val="ECF0F1"/>
                    </a:solidFill>
                  </a:tcPr>
                </a:tc>
                <a:tc>
                  <a:txBody>
                    <a:bodyPr/>
                    <a:lstStyle/>
                    <a:p>
                      <a:pPr algn="ctr">
                        <a:defRPr sz="1000" b="1">
                          <a:solidFill>
                            <a:srgbClr val="000000"/>
                          </a:solidFill>
                          <a:latin typeface="Calibri"/>
                        </a:defRPr>
                      </a:pPr>
                      <a:r>
                        <a:t>0.8484</a:t>
                      </a:r>
                    </a:p>
                  </a:txBody>
                  <a:tcPr>
                    <a:solidFill>
                      <a:srgbClr val="D5F5E3"/>
                    </a:solidFill>
                  </a:tcPr>
                </a:tc>
                <a:tc>
                  <a:txBody>
                    <a:bodyPr/>
                    <a:lstStyle/>
                    <a:p>
                      <a:pPr algn="ctr">
                        <a:defRPr sz="1000" b="0">
                          <a:solidFill>
                            <a:srgbClr val="000000"/>
                          </a:solidFill>
                          <a:latin typeface="Calibri"/>
                        </a:defRPr>
                      </a:pPr>
                      <a:r>
                        <a:t>0.9571</a:t>
                      </a:r>
                    </a:p>
                  </a:txBody>
                  <a:tcPr>
                    <a:solidFill>
                      <a:srgbClr val="ECF0F1"/>
                    </a:solidFill>
                  </a:tcPr>
                </a:tc>
                <a:tc>
                  <a:txBody>
                    <a:bodyPr/>
                    <a:lstStyle/>
                    <a:p>
                      <a:pPr algn="ctr">
                        <a:defRPr sz="1000" b="0">
                          <a:solidFill>
                            <a:srgbClr val="000000"/>
                          </a:solidFill>
                          <a:latin typeface="Calibri"/>
                        </a:defRPr>
                      </a:pPr>
                      <a:r>
                        <a:t>0.9565</a:t>
                      </a:r>
                    </a:p>
                  </a:txBody>
                  <a:tcPr>
                    <a:solidFill>
                      <a:srgbClr val="ECF0F1"/>
                    </a:solidFill>
                  </a:tcPr>
                </a:tc>
                <a:tc>
                  <a:txBody>
                    <a:bodyPr/>
                    <a:lstStyle/>
                    <a:p>
                      <a:pPr algn="ctr">
                        <a:defRPr sz="1000" b="0">
                          <a:solidFill>
                            <a:srgbClr val="000000"/>
                          </a:solidFill>
                          <a:latin typeface="Calibri"/>
                        </a:defRPr>
                      </a:pPr>
                      <a:r>
                        <a:t>0.9483</a:t>
                      </a:r>
                    </a:p>
                  </a:txBody>
                  <a:tcPr>
                    <a:solidFill>
                      <a:srgbClr val="ECF0F1"/>
                    </a:solidFill>
                  </a:tcPr>
                </a:tc>
                <a:tc>
                  <a:txBody>
                    <a:bodyPr/>
                    <a:lstStyle/>
                    <a:p>
                      <a:pPr algn="ctr">
                        <a:defRPr sz="1000" b="0">
                          <a:solidFill>
                            <a:srgbClr val="000000"/>
                          </a:solidFill>
                          <a:latin typeface="Calibri"/>
                        </a:defRPr>
                      </a:pPr>
                      <a:r>
                        <a:t>0.9386</a:t>
                      </a:r>
                    </a:p>
                  </a:txBody>
                  <a:tcPr>
                    <a:solidFill>
                      <a:srgbClr val="ECF0F1"/>
                    </a:solidFill>
                  </a:tcPr>
                </a:tc>
                <a:tc>
                  <a:txBody>
                    <a:bodyPr/>
                    <a:lstStyle/>
                    <a:p>
                      <a:pPr algn="ctr">
                        <a:defRPr sz="1000" b="0">
                          <a:solidFill>
                            <a:srgbClr val="000000"/>
                          </a:solidFill>
                          <a:latin typeface="Calibri"/>
                        </a:defRPr>
                      </a:pPr>
                      <a:r>
                        <a:t>−11.4%</a:t>
                      </a:r>
                    </a:p>
                    <a:p>
                      <a:pPr algn="ctr">
                        <a:defRPr sz="1000" b="0">
                          <a:solidFill>
                            <a:srgbClr val="000000"/>
                          </a:solidFill>
                          <a:latin typeface="Calibri"/>
                        </a:defRPr>
                      </a:pPr>
                      <a:r>
                        <a:t>vs RF</a:t>
                      </a:r>
                    </a:p>
                  </a:txBody>
                  <a:tcPr>
                    <a:solidFill>
                      <a:srgbClr val="ECF0F1"/>
                    </a:solidFill>
                  </a:tcPr>
                </a:tc>
              </a:tr>
              <a:tr h="402336">
                <a:tc>
                  <a:txBody>
                    <a:bodyPr/>
                    <a:lstStyle/>
                    <a:p>
                      <a:pPr algn="l">
                        <a:defRPr sz="1000" b="0">
                          <a:solidFill>
                            <a:srgbClr val="000000"/>
                          </a:solidFill>
                          <a:latin typeface="Calibri"/>
                        </a:defRPr>
                      </a:pPr>
                      <a:r>
                        <a:t>CIC-IDS2017</a:t>
                      </a:r>
                    </a:p>
                    <a:p>
                      <a:pPr algn="l">
                        <a:defRPr sz="1000" b="0">
                          <a:solidFill>
                            <a:srgbClr val="000000"/>
                          </a:solidFill>
                          <a:latin typeface="Calibri"/>
                        </a:defRPr>
                      </a:pPr>
                      <a:r>
                        <a:t>(2.83M flows)</a:t>
                      </a:r>
                    </a:p>
                  </a:txBody>
                  <a:tcPr/>
                </a:tc>
                <a:tc>
                  <a:txBody>
                    <a:bodyPr/>
                    <a:lstStyle/>
                    <a:p>
                      <a:pPr algn="ctr">
                        <a:defRPr sz="1000" b="1">
                          <a:solidFill>
                            <a:srgbClr val="000000"/>
                          </a:solidFill>
                          <a:latin typeface="Calibri"/>
                        </a:defRPr>
                      </a:pPr>
                      <a:r>
                        <a:t>0.9252</a:t>
                      </a:r>
                    </a:p>
                  </a:txBody>
                  <a:tcPr>
                    <a:solidFill>
                      <a:srgbClr val="D5F5E3"/>
                    </a:solidFill>
                  </a:tcPr>
                </a:tc>
                <a:tc>
                  <a:txBody>
                    <a:bodyPr/>
                    <a:lstStyle/>
                    <a:p>
                      <a:pPr algn="ctr">
                        <a:defRPr sz="1000" b="0">
                          <a:solidFill>
                            <a:srgbClr val="000000"/>
                          </a:solidFill>
                          <a:latin typeface="Calibri"/>
                        </a:defRPr>
                      </a:pPr>
                      <a:r>
                        <a:t>0.9760</a:t>
                      </a:r>
                    </a:p>
                  </a:txBody>
                  <a:tcPr/>
                </a:tc>
                <a:tc>
                  <a:txBody>
                    <a:bodyPr/>
                    <a:lstStyle/>
                    <a:p>
                      <a:pPr algn="ctr">
                        <a:defRPr sz="1000" b="0">
                          <a:solidFill>
                            <a:srgbClr val="000000"/>
                          </a:solidFill>
                          <a:latin typeface="Calibri"/>
                        </a:defRPr>
                      </a:pPr>
                      <a:r>
                        <a:t>0.9802</a:t>
                      </a:r>
                    </a:p>
                  </a:txBody>
                  <a:tcPr/>
                </a:tc>
                <a:tc>
                  <a:txBody>
                    <a:bodyPr/>
                    <a:lstStyle/>
                    <a:p>
                      <a:pPr algn="ctr">
                        <a:defRPr sz="1000" b="0">
                          <a:solidFill>
                            <a:srgbClr val="000000"/>
                          </a:solidFill>
                          <a:latin typeface="Calibri"/>
                        </a:defRPr>
                      </a:pPr>
                      <a:r>
                        <a:t>0.7629</a:t>
                      </a:r>
                    </a:p>
                  </a:txBody>
                  <a:tcPr/>
                </a:tc>
                <a:tc>
                  <a:txBody>
                    <a:bodyPr/>
                    <a:lstStyle/>
                    <a:p>
                      <a:pPr algn="ctr">
                        <a:defRPr sz="1000" b="0">
                          <a:solidFill>
                            <a:srgbClr val="000000"/>
                          </a:solidFill>
                          <a:latin typeface="Calibri"/>
                        </a:defRPr>
                      </a:pPr>
                      <a:r>
                        <a:t>0.9400</a:t>
                      </a:r>
                    </a:p>
                  </a:txBody>
                  <a:tcPr/>
                </a:tc>
                <a:tc>
                  <a:txBody>
                    <a:bodyPr/>
                    <a:lstStyle/>
                    <a:p>
                      <a:pPr algn="ctr">
                        <a:defRPr sz="1000" b="0">
                          <a:solidFill>
                            <a:srgbClr val="000000"/>
                          </a:solidFill>
                          <a:latin typeface="Calibri"/>
                        </a:defRPr>
                      </a:pPr>
                      <a:r>
                        <a:t>−5.6%</a:t>
                      </a:r>
                    </a:p>
                    <a:p>
                      <a:pPr algn="ctr">
                        <a:defRPr sz="1000" b="0">
                          <a:solidFill>
                            <a:srgbClr val="000000"/>
                          </a:solidFill>
                          <a:latin typeface="Calibri"/>
                        </a:defRPr>
                      </a:pPr>
                      <a:r>
                        <a:t>vs XGBoost</a:t>
                      </a:r>
                    </a:p>
                  </a:txBody>
                  <a:tcPr/>
                </a:tc>
              </a:tr>
              <a:tr h="402336">
                <a:tc>
                  <a:txBody>
                    <a:bodyPr/>
                    <a:lstStyle/>
                    <a:p>
                      <a:pPr algn="l">
                        <a:defRPr sz="1000" b="0">
                          <a:solidFill>
                            <a:srgbClr val="000000"/>
                          </a:solidFill>
                          <a:latin typeface="Calibri"/>
                        </a:defRPr>
                      </a:pPr>
                      <a:r>
                        <a:t>MISP Threat Intel</a:t>
                      </a:r>
                    </a:p>
                    <a:p>
                      <a:pPr algn="l">
                        <a:defRPr sz="1000" b="0">
                          <a:solidFill>
                            <a:srgbClr val="000000"/>
                          </a:solidFill>
                          <a:latin typeface="Calibri"/>
                        </a:defRPr>
                      </a:pPr>
                      <a:r>
                        <a:t>(ThreatFox feed)</a:t>
                      </a:r>
                    </a:p>
                  </a:txBody>
                  <a:tcPr>
                    <a:solidFill>
                      <a:srgbClr val="ECF0F1"/>
                    </a:solidFill>
                  </a:tcPr>
                </a:tc>
                <a:tc>
                  <a:txBody>
                    <a:bodyPr/>
                    <a:lstStyle/>
                    <a:p>
                      <a:pPr algn="ctr">
                        <a:defRPr sz="1000" b="1">
                          <a:solidFill>
                            <a:srgbClr val="000000"/>
                          </a:solidFill>
                          <a:latin typeface="Calibri"/>
                        </a:defRPr>
                      </a:pPr>
                      <a:r>
                        <a:t>0.9662</a:t>
                      </a:r>
                    </a:p>
                  </a:txBody>
                  <a:tcPr>
                    <a:solidFill>
                      <a:srgbClr val="D5F5E3"/>
                    </a:solidFill>
                  </a:tcPr>
                </a:tc>
                <a:tc>
                  <a:txBody>
                    <a:bodyPr/>
                    <a:lstStyle/>
                    <a:p>
                      <a:pPr algn="ctr">
                        <a:defRPr sz="1000" b="0">
                          <a:solidFill>
                            <a:srgbClr val="000000"/>
                          </a:solidFill>
                          <a:latin typeface="Calibri"/>
                        </a:defRPr>
                      </a:pPr>
                      <a:r>
                        <a:t>0.9740</a:t>
                      </a:r>
                    </a:p>
                  </a:txBody>
                  <a:tcPr>
                    <a:solidFill>
                      <a:srgbClr val="ECF0F1"/>
                    </a:solidFill>
                  </a:tcPr>
                </a:tc>
                <a:tc>
                  <a:txBody>
                    <a:bodyPr/>
                    <a:lstStyle/>
                    <a:p>
                      <a:pPr algn="ctr">
                        <a:defRPr sz="1000" b="0">
                          <a:solidFill>
                            <a:srgbClr val="000000"/>
                          </a:solidFill>
                          <a:latin typeface="Calibri"/>
                        </a:defRPr>
                      </a:pPr>
                      <a:r>
                        <a:t>0.9756</a:t>
                      </a:r>
                    </a:p>
                  </a:txBody>
                  <a:tcPr>
                    <a:solidFill>
                      <a:srgbClr val="ECF0F1"/>
                    </a:solidFill>
                  </a:tcPr>
                </a:tc>
                <a:tc>
                  <a:txBody>
                    <a:bodyPr/>
                    <a:lstStyle/>
                    <a:p>
                      <a:pPr algn="ctr">
                        <a:defRPr sz="1000" b="0">
                          <a:solidFill>
                            <a:srgbClr val="000000"/>
                          </a:solidFill>
                          <a:latin typeface="Calibri"/>
                        </a:defRPr>
                      </a:pPr>
                      <a:r>
                        <a:t>0.9734</a:t>
                      </a:r>
                    </a:p>
                  </a:txBody>
                  <a:tcPr>
                    <a:solidFill>
                      <a:srgbClr val="ECF0F1"/>
                    </a:solidFill>
                  </a:tcPr>
                </a:tc>
                <a:tc>
                  <a:txBody>
                    <a:bodyPr/>
                    <a:lstStyle/>
                    <a:p>
                      <a:pPr algn="ctr">
                        <a:defRPr sz="1000" b="0">
                          <a:solidFill>
                            <a:srgbClr val="000000"/>
                          </a:solidFill>
                          <a:latin typeface="Calibri"/>
                        </a:defRPr>
                      </a:pPr>
                      <a:r>
                        <a:t>0.9684</a:t>
                      </a:r>
                    </a:p>
                  </a:txBody>
                  <a:tcPr>
                    <a:solidFill>
                      <a:srgbClr val="ECF0F1"/>
                    </a:solidFill>
                  </a:tcPr>
                </a:tc>
                <a:tc>
                  <a:txBody>
                    <a:bodyPr/>
                    <a:lstStyle/>
                    <a:p>
                      <a:pPr algn="ctr">
                        <a:defRPr sz="1000" b="0">
                          <a:solidFill>
                            <a:srgbClr val="000000"/>
                          </a:solidFill>
                          <a:latin typeface="Calibri"/>
                        </a:defRPr>
                      </a:pPr>
                      <a:r>
                        <a:t>−0.94%</a:t>
                      </a:r>
                    </a:p>
                    <a:p>
                      <a:pPr algn="ctr">
                        <a:defRPr sz="1000" b="0">
                          <a:solidFill>
                            <a:srgbClr val="000000"/>
                          </a:solidFill>
                          <a:latin typeface="Calibri"/>
                        </a:defRPr>
                      </a:pPr>
                      <a:r>
                        <a:t>vs XGBoost</a:t>
                      </a:r>
                    </a:p>
                  </a:txBody>
                  <a:tcPr>
                    <a:solidFill>
                      <a:srgbClr val="ECF0F1"/>
                    </a:solidFill>
                  </a:tcPr>
                </a:tc>
              </a:tr>
            </a:tbl>
          </a:graphicData>
        </a:graphic>
      </p:graphicFrame>
      <p:sp>
        <p:nvSpPr>
          <p:cNvPr id="4" name="TextBox 3"/>
          <p:cNvSpPr txBox="1"/>
          <p:nvPr/>
        </p:nvSpPr>
        <p:spPr>
          <a:xfrm>
            <a:off x="457200" y="2926080"/>
            <a:ext cx="4572000" cy="274320"/>
          </a:xfrm>
          <a:prstGeom prst="rect">
            <a:avLst/>
          </a:prstGeom>
          <a:noFill/>
        </p:spPr>
        <p:txBody>
          <a:bodyPr wrap="square">
            <a:spAutoFit/>
          </a:bodyPr>
          <a:lstStyle/>
          <a:p>
            <a:pPr algn="l">
              <a:defRPr sz="1400" b="1">
                <a:solidFill>
                  <a:srgbClr val="003C71"/>
                </a:solidFill>
                <a:latin typeface="Calibri"/>
              </a:defRPr>
            </a:pPr>
            <a:r>
              <a:t>Accuracy Comparison</a:t>
            </a:r>
          </a:p>
        </p:txBody>
      </p:sp>
      <p:graphicFrame>
        <p:nvGraphicFramePr>
          <p:cNvPr id="5" name="Table 4"/>
          <p:cNvGraphicFramePr>
            <a:graphicFrameLocks noGrp="1"/>
          </p:cNvGraphicFramePr>
          <p:nvPr/>
        </p:nvGraphicFramePr>
        <p:xfrm>
          <a:off x="365760" y="3200400"/>
          <a:ext cx="7772400" cy="1463040"/>
        </p:xfrm>
        <a:graphic>
          <a:graphicData uri="http://schemas.openxmlformats.org/drawingml/2006/table">
            <a:tbl>
              <a:tblPr firstRow="1" bandRow="1">
                <a:tableStyleId>{5C22544A-7EE6-4342-B048-85BDC9FD1C3A}</a:tableStyleId>
              </a:tblPr>
              <a:tblGrid>
                <a:gridCol w="1828800"/>
                <a:gridCol w="1188720"/>
                <a:gridCol w="1188720"/>
                <a:gridCol w="1188720"/>
                <a:gridCol w="1188720"/>
                <a:gridCol w="1188720"/>
              </a:tblGrid>
              <a:tr h="292608">
                <a:tc>
                  <a:txBody>
                    <a:bodyPr/>
                    <a:lstStyle/>
                    <a:p>
                      <a:pPr algn="ctr">
                        <a:defRPr sz="1000" b="1">
                          <a:solidFill>
                            <a:srgbClr val="FFFFFF"/>
                          </a:solidFill>
                          <a:latin typeface="Calibri"/>
                        </a:defRPr>
                      </a:pPr>
                      <a:r>
                        <a:t>Dataset</a:t>
                      </a:r>
                    </a:p>
                  </a:txBody>
                  <a:tcPr>
                    <a:solidFill>
                      <a:srgbClr val="003C71"/>
                    </a:solidFill>
                  </a:tcPr>
                </a:tc>
                <a:tc>
                  <a:txBody>
                    <a:bodyPr/>
                    <a:lstStyle/>
                    <a:p>
                      <a:pPr algn="ctr">
                        <a:defRPr sz="1000" b="1">
                          <a:solidFill>
                            <a:srgbClr val="FFFFFF"/>
                          </a:solidFill>
                          <a:latin typeface="Calibri"/>
                        </a:defRPr>
                      </a:pPr>
                      <a:r>
                        <a:t>ASRRL</a:t>
                      </a:r>
                    </a:p>
                  </a:txBody>
                  <a:tcPr>
                    <a:solidFill>
                      <a:srgbClr val="003C71"/>
                    </a:solidFill>
                  </a:tcPr>
                </a:tc>
                <a:tc>
                  <a:txBody>
                    <a:bodyPr/>
                    <a:lstStyle/>
                    <a:p>
                      <a:pPr algn="ctr">
                        <a:defRPr sz="1000" b="1">
                          <a:solidFill>
                            <a:srgbClr val="FFFFFF"/>
                          </a:solidFill>
                          <a:latin typeface="Calibri"/>
                        </a:defRPr>
                      </a:pPr>
                      <a:r>
                        <a:t>RF</a:t>
                      </a:r>
                    </a:p>
                  </a:txBody>
                  <a:tcPr>
                    <a:solidFill>
                      <a:srgbClr val="003C71"/>
                    </a:solidFill>
                  </a:tcPr>
                </a:tc>
                <a:tc>
                  <a:txBody>
                    <a:bodyPr/>
                    <a:lstStyle/>
                    <a:p>
                      <a:pPr algn="ctr">
                        <a:defRPr sz="1000" b="1">
                          <a:solidFill>
                            <a:srgbClr val="FFFFFF"/>
                          </a:solidFill>
                          <a:latin typeface="Calibri"/>
                        </a:defRPr>
                      </a:pPr>
                      <a:r>
                        <a:t>XGBoost</a:t>
                      </a:r>
                    </a:p>
                  </a:txBody>
                  <a:tcPr>
                    <a:solidFill>
                      <a:srgbClr val="003C71"/>
                    </a:solidFill>
                  </a:tcPr>
                </a:tc>
                <a:tc>
                  <a:txBody>
                    <a:bodyPr/>
                    <a:lstStyle/>
                    <a:p>
                      <a:pPr algn="ctr">
                        <a:defRPr sz="1000" b="1">
                          <a:solidFill>
                            <a:srgbClr val="FFFFFF"/>
                          </a:solidFill>
                          <a:latin typeface="Calibri"/>
                        </a:defRPr>
                      </a:pPr>
                      <a:r>
                        <a:t>SVM</a:t>
                      </a:r>
                    </a:p>
                  </a:txBody>
                  <a:tcPr>
                    <a:solidFill>
                      <a:srgbClr val="003C71"/>
                    </a:solidFill>
                  </a:tcPr>
                </a:tc>
                <a:tc>
                  <a:txBody>
                    <a:bodyPr/>
                    <a:lstStyle/>
                    <a:p>
                      <a:pPr algn="ctr">
                        <a:defRPr sz="1000" b="1">
                          <a:solidFill>
                            <a:srgbClr val="FFFFFF"/>
                          </a:solidFill>
                          <a:latin typeface="Calibri"/>
                        </a:defRPr>
                      </a:pPr>
                      <a:r>
                        <a:t>KNN</a:t>
                      </a:r>
                    </a:p>
                  </a:txBody>
                  <a:tcPr>
                    <a:solidFill>
                      <a:srgbClr val="003C71"/>
                    </a:solidFill>
                  </a:tcPr>
                </a:tc>
              </a:tr>
              <a:tr h="292608">
                <a:tc>
                  <a:txBody>
                    <a:bodyPr/>
                    <a:lstStyle/>
                    <a:p>
                      <a:pPr algn="l">
                        <a:defRPr sz="1000" b="0">
                          <a:solidFill>
                            <a:srgbClr val="000000"/>
                          </a:solidFill>
                          <a:latin typeface="Calibri"/>
                        </a:defRPr>
                      </a:pPr>
                      <a:r>
                        <a:t>CSE-CIC-IDS-2018</a:t>
                      </a:r>
                    </a:p>
                  </a:txBody>
                  <a:tcPr/>
                </a:tc>
                <a:tc>
                  <a:txBody>
                    <a:bodyPr/>
                    <a:lstStyle/>
                    <a:p>
                      <a:pPr algn="ctr">
                        <a:defRPr sz="1000" b="1">
                          <a:solidFill>
                            <a:srgbClr val="000000"/>
                          </a:solidFill>
                          <a:latin typeface="Calibri"/>
                        </a:defRPr>
                      </a:pPr>
                      <a:r>
                        <a:t>0.9970</a:t>
                      </a:r>
                    </a:p>
                  </a:txBody>
                  <a:tcPr>
                    <a:solidFill>
                      <a:srgbClr val="D5F5E3"/>
                    </a:solidFill>
                  </a:tcPr>
                </a:tc>
                <a:tc>
                  <a:txBody>
                    <a:bodyPr/>
                    <a:lstStyle/>
                    <a:p>
                      <a:pPr algn="ctr">
                        <a:defRPr sz="1000" b="0">
                          <a:solidFill>
                            <a:srgbClr val="000000"/>
                          </a:solidFill>
                          <a:latin typeface="Calibri"/>
                        </a:defRPr>
                      </a:pPr>
                      <a:r>
                        <a:t>0.9977</a:t>
                      </a:r>
                    </a:p>
                  </a:txBody>
                  <a:tcPr/>
                </a:tc>
                <a:tc>
                  <a:txBody>
                    <a:bodyPr/>
                    <a:lstStyle/>
                    <a:p>
                      <a:pPr algn="ctr">
                        <a:defRPr sz="1000" b="0">
                          <a:solidFill>
                            <a:srgbClr val="000000"/>
                          </a:solidFill>
                          <a:latin typeface="Calibri"/>
                        </a:defRPr>
                      </a:pPr>
                      <a:r>
                        <a:t>0.9980</a:t>
                      </a:r>
                    </a:p>
                  </a:txBody>
                  <a:tcPr/>
                </a:tc>
                <a:tc>
                  <a:txBody>
                    <a:bodyPr/>
                    <a:lstStyle/>
                    <a:p>
                      <a:pPr algn="ctr">
                        <a:defRPr sz="1000" b="0">
                          <a:solidFill>
                            <a:srgbClr val="000000"/>
                          </a:solidFill>
                          <a:latin typeface="Calibri"/>
                        </a:defRPr>
                      </a:pPr>
                      <a:r>
                        <a:t>0.9957</a:t>
                      </a:r>
                    </a:p>
                  </a:txBody>
                  <a:tcPr/>
                </a:tc>
                <a:tc>
                  <a:txBody>
                    <a:bodyPr/>
                    <a:lstStyle/>
                    <a:p>
                      <a:pPr algn="ctr">
                        <a:defRPr sz="1000" b="0">
                          <a:solidFill>
                            <a:srgbClr val="000000"/>
                          </a:solidFill>
                          <a:latin typeface="Calibri"/>
                        </a:defRPr>
                      </a:pPr>
                      <a:r>
                        <a:t>0.9973</a:t>
                      </a:r>
                    </a:p>
                  </a:txBody>
                  <a:tcPr/>
                </a:tc>
              </a:tr>
              <a:tr h="292608">
                <a:tc>
                  <a:txBody>
                    <a:bodyPr/>
                    <a:lstStyle/>
                    <a:p>
                      <a:pPr algn="l">
                        <a:defRPr sz="1000" b="0">
                          <a:solidFill>
                            <a:srgbClr val="000000"/>
                          </a:solidFill>
                          <a:latin typeface="Calibri"/>
                        </a:defRPr>
                      </a:pPr>
                      <a:r>
                        <a:t>UNSW-NB15</a:t>
                      </a:r>
                    </a:p>
                  </a:txBody>
                  <a:tcPr>
                    <a:solidFill>
                      <a:srgbClr val="ECF0F1"/>
                    </a:solidFill>
                  </a:tcPr>
                </a:tc>
                <a:tc>
                  <a:txBody>
                    <a:bodyPr/>
                    <a:lstStyle/>
                    <a:p>
                      <a:pPr algn="ctr">
                        <a:defRPr sz="1000" b="1">
                          <a:solidFill>
                            <a:srgbClr val="000000"/>
                          </a:solidFill>
                          <a:latin typeface="Calibri"/>
                        </a:defRPr>
                      </a:pPr>
                      <a:r>
                        <a:t>0.8973</a:t>
                      </a:r>
                    </a:p>
                  </a:txBody>
                  <a:tcPr>
                    <a:solidFill>
                      <a:srgbClr val="D5F5E3"/>
                    </a:solidFill>
                  </a:tcPr>
                </a:tc>
                <a:tc>
                  <a:txBody>
                    <a:bodyPr/>
                    <a:lstStyle/>
                    <a:p>
                      <a:pPr algn="ctr">
                        <a:defRPr sz="1000" b="0">
                          <a:solidFill>
                            <a:srgbClr val="000000"/>
                          </a:solidFill>
                          <a:latin typeface="Calibri"/>
                        </a:defRPr>
                      </a:pPr>
                      <a:r>
                        <a:t>0.9403</a:t>
                      </a:r>
                    </a:p>
                  </a:txBody>
                  <a:tcPr>
                    <a:solidFill>
                      <a:srgbClr val="ECF0F1"/>
                    </a:solidFill>
                  </a:tcPr>
                </a:tc>
                <a:tc>
                  <a:txBody>
                    <a:bodyPr/>
                    <a:lstStyle/>
                    <a:p>
                      <a:pPr algn="ctr">
                        <a:defRPr sz="1000" b="0">
                          <a:solidFill>
                            <a:srgbClr val="000000"/>
                          </a:solidFill>
                          <a:latin typeface="Calibri"/>
                        </a:defRPr>
                      </a:pPr>
                      <a:r>
                        <a:t>0.9403</a:t>
                      </a:r>
                    </a:p>
                  </a:txBody>
                  <a:tcPr>
                    <a:solidFill>
                      <a:srgbClr val="ECF0F1"/>
                    </a:solidFill>
                  </a:tcPr>
                </a:tc>
                <a:tc>
                  <a:txBody>
                    <a:bodyPr/>
                    <a:lstStyle/>
                    <a:p>
                      <a:pPr algn="ctr">
                        <a:defRPr sz="1000" b="0">
                          <a:solidFill>
                            <a:srgbClr val="000000"/>
                          </a:solidFill>
                          <a:latin typeface="Calibri"/>
                        </a:defRPr>
                      </a:pPr>
                      <a:r>
                        <a:t>0.9270</a:t>
                      </a:r>
                    </a:p>
                  </a:txBody>
                  <a:tcPr>
                    <a:solidFill>
                      <a:srgbClr val="ECF0F1"/>
                    </a:solidFill>
                  </a:tcPr>
                </a:tc>
                <a:tc>
                  <a:txBody>
                    <a:bodyPr/>
                    <a:lstStyle/>
                    <a:p>
                      <a:pPr algn="ctr">
                        <a:defRPr sz="1000" b="0">
                          <a:solidFill>
                            <a:srgbClr val="000000"/>
                          </a:solidFill>
                          <a:latin typeface="Calibri"/>
                        </a:defRPr>
                      </a:pPr>
                      <a:r>
                        <a:t>0.9163</a:t>
                      </a:r>
                    </a:p>
                  </a:txBody>
                  <a:tcPr>
                    <a:solidFill>
                      <a:srgbClr val="ECF0F1"/>
                    </a:solidFill>
                  </a:tcPr>
                </a:tc>
              </a:tr>
              <a:tr h="292608">
                <a:tc>
                  <a:txBody>
                    <a:bodyPr/>
                    <a:lstStyle/>
                    <a:p>
                      <a:pPr algn="l">
                        <a:defRPr sz="1000" b="0">
                          <a:solidFill>
                            <a:srgbClr val="000000"/>
                          </a:solidFill>
                          <a:latin typeface="Calibri"/>
                        </a:defRPr>
                      </a:pPr>
                      <a:r>
                        <a:t>CIC-IDS2017</a:t>
                      </a:r>
                    </a:p>
                  </a:txBody>
                  <a:tcPr/>
                </a:tc>
                <a:tc>
                  <a:txBody>
                    <a:bodyPr/>
                    <a:lstStyle/>
                    <a:p>
                      <a:pPr algn="ctr">
                        <a:defRPr sz="1000" b="1">
                          <a:solidFill>
                            <a:srgbClr val="000000"/>
                          </a:solidFill>
                          <a:latin typeface="Calibri"/>
                        </a:defRPr>
                      </a:pPr>
                      <a:r>
                        <a:t>0.9523</a:t>
                      </a:r>
                    </a:p>
                  </a:txBody>
                  <a:tcPr>
                    <a:solidFill>
                      <a:srgbClr val="D5F5E3"/>
                    </a:solidFill>
                  </a:tcPr>
                </a:tc>
                <a:tc>
                  <a:txBody>
                    <a:bodyPr/>
                    <a:lstStyle/>
                    <a:p>
                      <a:pPr algn="ctr">
                        <a:defRPr sz="1000" b="0">
                          <a:solidFill>
                            <a:srgbClr val="000000"/>
                          </a:solidFill>
                          <a:latin typeface="Calibri"/>
                        </a:defRPr>
                      </a:pPr>
                      <a:r>
                        <a:t>0.9903</a:t>
                      </a:r>
                    </a:p>
                  </a:txBody>
                  <a:tcPr/>
                </a:tc>
                <a:tc>
                  <a:txBody>
                    <a:bodyPr/>
                    <a:lstStyle/>
                    <a:p>
                      <a:pPr algn="ctr">
                        <a:defRPr sz="1000" b="0">
                          <a:solidFill>
                            <a:srgbClr val="000000"/>
                          </a:solidFill>
                          <a:latin typeface="Calibri"/>
                        </a:defRPr>
                      </a:pPr>
                      <a:r>
                        <a:t>0.9920</a:t>
                      </a:r>
                    </a:p>
                  </a:txBody>
                  <a:tcPr/>
                </a:tc>
                <a:tc>
                  <a:txBody>
                    <a:bodyPr/>
                    <a:lstStyle/>
                    <a:p>
                      <a:pPr algn="ctr">
                        <a:defRPr sz="1000" b="0">
                          <a:solidFill>
                            <a:srgbClr val="000000"/>
                          </a:solidFill>
                          <a:latin typeface="Calibri"/>
                        </a:defRPr>
                      </a:pPr>
                      <a:r>
                        <a:t>0.9157</a:t>
                      </a:r>
                    </a:p>
                  </a:txBody>
                  <a:tcPr/>
                </a:tc>
                <a:tc>
                  <a:txBody>
                    <a:bodyPr/>
                    <a:lstStyle/>
                    <a:p>
                      <a:pPr algn="ctr">
                        <a:defRPr sz="1000" b="0">
                          <a:solidFill>
                            <a:srgbClr val="000000"/>
                          </a:solidFill>
                          <a:latin typeface="Calibri"/>
                        </a:defRPr>
                      </a:pPr>
                      <a:r>
                        <a:t>0.9753</a:t>
                      </a:r>
                    </a:p>
                  </a:txBody>
                  <a:tcPr/>
                </a:tc>
              </a:tr>
              <a:tr h="292608">
                <a:tc>
                  <a:txBody>
                    <a:bodyPr/>
                    <a:lstStyle/>
                    <a:p>
                      <a:pPr algn="l">
                        <a:defRPr sz="1000" b="0">
                          <a:solidFill>
                            <a:srgbClr val="000000"/>
                          </a:solidFill>
                          <a:latin typeface="Calibri"/>
                        </a:defRPr>
                      </a:pPr>
                      <a:r>
                        <a:t>MISP Threat Intel</a:t>
                      </a:r>
                    </a:p>
                  </a:txBody>
                  <a:tcPr>
                    <a:solidFill>
                      <a:srgbClr val="ECF0F1"/>
                    </a:solidFill>
                  </a:tcPr>
                </a:tc>
                <a:tc>
                  <a:txBody>
                    <a:bodyPr/>
                    <a:lstStyle/>
                    <a:p>
                      <a:pPr algn="ctr">
                        <a:defRPr sz="1000" b="1">
                          <a:solidFill>
                            <a:srgbClr val="000000"/>
                          </a:solidFill>
                          <a:latin typeface="Calibri"/>
                        </a:defRPr>
                      </a:pPr>
                      <a:r>
                        <a:t>0.9720</a:t>
                      </a:r>
                    </a:p>
                  </a:txBody>
                  <a:tcPr>
                    <a:solidFill>
                      <a:srgbClr val="D5F5E3"/>
                    </a:solidFill>
                  </a:tcPr>
                </a:tc>
                <a:tc>
                  <a:txBody>
                    <a:bodyPr/>
                    <a:lstStyle/>
                    <a:p>
                      <a:pPr algn="ctr">
                        <a:defRPr sz="1000" b="0">
                          <a:solidFill>
                            <a:srgbClr val="000000"/>
                          </a:solidFill>
                          <a:latin typeface="Calibri"/>
                        </a:defRPr>
                      </a:pPr>
                      <a:r>
                        <a:t>0.9775</a:t>
                      </a:r>
                    </a:p>
                  </a:txBody>
                  <a:tcPr>
                    <a:solidFill>
                      <a:srgbClr val="ECF0F1"/>
                    </a:solidFill>
                  </a:tcPr>
                </a:tc>
                <a:tc>
                  <a:txBody>
                    <a:bodyPr/>
                    <a:lstStyle/>
                    <a:p>
                      <a:pPr algn="ctr">
                        <a:defRPr sz="1000" b="0">
                          <a:solidFill>
                            <a:srgbClr val="000000"/>
                          </a:solidFill>
                          <a:latin typeface="Calibri"/>
                        </a:defRPr>
                      </a:pPr>
                      <a:r>
                        <a:t>0.9785</a:t>
                      </a:r>
                    </a:p>
                  </a:txBody>
                  <a:tcPr>
                    <a:solidFill>
                      <a:srgbClr val="ECF0F1"/>
                    </a:solidFill>
                  </a:tcPr>
                </a:tc>
                <a:tc>
                  <a:txBody>
                    <a:bodyPr/>
                    <a:lstStyle/>
                    <a:p>
                      <a:pPr algn="ctr">
                        <a:defRPr sz="1000" b="0">
                          <a:solidFill>
                            <a:srgbClr val="000000"/>
                          </a:solidFill>
                          <a:latin typeface="Calibri"/>
                        </a:defRPr>
                      </a:pPr>
                      <a:r>
                        <a:t>0.9770</a:t>
                      </a:r>
                    </a:p>
                  </a:txBody>
                  <a:tcPr>
                    <a:solidFill>
                      <a:srgbClr val="ECF0F1"/>
                    </a:solidFill>
                  </a:tcPr>
                </a:tc>
                <a:tc>
                  <a:txBody>
                    <a:bodyPr/>
                    <a:lstStyle/>
                    <a:p>
                      <a:pPr algn="ctr">
                        <a:defRPr sz="1000" b="0">
                          <a:solidFill>
                            <a:srgbClr val="000000"/>
                          </a:solidFill>
                          <a:latin typeface="Calibri"/>
                        </a:defRPr>
                      </a:pPr>
                      <a:r>
                        <a:t>0.9735</a:t>
                      </a:r>
                    </a:p>
                  </a:txBody>
                  <a:tcPr>
                    <a:solidFill>
                      <a:srgbClr val="ECF0F1"/>
                    </a:solidFill>
                  </a:tcPr>
                </a:tc>
              </a:tr>
            </a:tbl>
          </a:graphicData>
        </a:graphic>
      </p:graphicFrame>
      <p:sp>
        <p:nvSpPr>
          <p:cNvPr id="6" name="TextBox 5"/>
          <p:cNvSpPr txBox="1"/>
          <p:nvPr/>
        </p:nvSpPr>
        <p:spPr>
          <a:xfrm>
            <a:off x="457200" y="4846320"/>
            <a:ext cx="10972800" cy="274320"/>
          </a:xfrm>
          <a:prstGeom prst="rect">
            <a:avLst/>
          </a:prstGeom>
          <a:noFill/>
        </p:spPr>
        <p:txBody>
          <a:bodyPr wrap="square">
            <a:spAutoFit/>
          </a:bodyPr>
          <a:lstStyle/>
          <a:p>
            <a:pPr algn="l">
              <a:defRPr sz="1200" b="1">
                <a:solidFill>
                  <a:srgbClr val="8E44AD"/>
                </a:solidFill>
                <a:latin typeface="Calibri"/>
              </a:defRPr>
            </a:pPr>
            <a:r>
              <a:t>Why the F1 gap is acceptable — ASRRL provides 5 capabilities NO baseline offers:</a:t>
            </a:r>
          </a:p>
        </p:txBody>
      </p:sp>
      <p:graphicFrame>
        <p:nvGraphicFramePr>
          <p:cNvPr id="7" name="Table 6"/>
          <p:cNvGraphicFramePr>
            <a:graphicFrameLocks noGrp="1"/>
          </p:cNvGraphicFramePr>
          <p:nvPr/>
        </p:nvGraphicFramePr>
        <p:xfrm>
          <a:off x="365760" y="5212080"/>
          <a:ext cx="7680960" cy="1645920"/>
        </p:xfrm>
        <a:graphic>
          <a:graphicData uri="http://schemas.openxmlformats.org/drawingml/2006/table">
            <a:tbl>
              <a:tblPr firstRow="1" bandRow="1">
                <a:tableStyleId>{5C22544A-7EE6-4342-B048-85BDC9FD1C3A}</a:tableStyleId>
              </a:tblPr>
              <a:tblGrid>
                <a:gridCol w="2926080"/>
                <a:gridCol w="914400"/>
                <a:gridCol w="914400"/>
                <a:gridCol w="1097280"/>
                <a:gridCol w="914400"/>
                <a:gridCol w="914400"/>
              </a:tblGrid>
              <a:tr h="274320">
                <a:tc>
                  <a:txBody>
                    <a:bodyPr/>
                    <a:lstStyle/>
                    <a:p>
                      <a:pPr algn="ctr">
                        <a:defRPr sz="1000" b="1">
                          <a:solidFill>
                            <a:srgbClr val="FFFFFF"/>
                          </a:solidFill>
                          <a:latin typeface="Calibri"/>
                        </a:defRPr>
                      </a:pPr>
                      <a:r>
                        <a:t>Capability</a:t>
                      </a:r>
                    </a:p>
                  </a:txBody>
                  <a:tcPr>
                    <a:solidFill>
                      <a:srgbClr val="8E44AD"/>
                    </a:solidFill>
                  </a:tcPr>
                </a:tc>
                <a:tc>
                  <a:txBody>
                    <a:bodyPr/>
                    <a:lstStyle/>
                    <a:p>
                      <a:pPr algn="ctr">
                        <a:defRPr sz="1000" b="1">
                          <a:solidFill>
                            <a:srgbClr val="FFFFFF"/>
                          </a:solidFill>
                          <a:latin typeface="Calibri"/>
                        </a:defRPr>
                      </a:pPr>
                      <a:r>
                        <a:t>ASRRL</a:t>
                      </a:r>
                    </a:p>
                  </a:txBody>
                  <a:tcPr>
                    <a:solidFill>
                      <a:srgbClr val="8E44AD"/>
                    </a:solidFill>
                  </a:tcPr>
                </a:tc>
                <a:tc>
                  <a:txBody>
                    <a:bodyPr/>
                    <a:lstStyle/>
                    <a:p>
                      <a:pPr algn="ctr">
                        <a:defRPr sz="1000" b="1">
                          <a:solidFill>
                            <a:srgbClr val="FFFFFF"/>
                          </a:solidFill>
                          <a:latin typeface="Calibri"/>
                        </a:defRPr>
                      </a:pPr>
                      <a:r>
                        <a:t>RF</a:t>
                      </a:r>
                    </a:p>
                  </a:txBody>
                  <a:tcPr>
                    <a:solidFill>
                      <a:srgbClr val="8E44AD"/>
                    </a:solidFill>
                  </a:tcPr>
                </a:tc>
                <a:tc>
                  <a:txBody>
                    <a:bodyPr/>
                    <a:lstStyle/>
                    <a:p>
                      <a:pPr algn="ctr">
                        <a:defRPr sz="1000" b="1">
                          <a:solidFill>
                            <a:srgbClr val="FFFFFF"/>
                          </a:solidFill>
                          <a:latin typeface="Calibri"/>
                        </a:defRPr>
                      </a:pPr>
                      <a:r>
                        <a:t>XGBoost</a:t>
                      </a:r>
                    </a:p>
                  </a:txBody>
                  <a:tcPr>
                    <a:solidFill>
                      <a:srgbClr val="8E44AD"/>
                    </a:solidFill>
                  </a:tcPr>
                </a:tc>
                <a:tc>
                  <a:txBody>
                    <a:bodyPr/>
                    <a:lstStyle/>
                    <a:p>
                      <a:pPr algn="ctr">
                        <a:defRPr sz="1000" b="1">
                          <a:solidFill>
                            <a:srgbClr val="FFFFFF"/>
                          </a:solidFill>
                          <a:latin typeface="Calibri"/>
                        </a:defRPr>
                      </a:pPr>
                      <a:r>
                        <a:t>SVM</a:t>
                      </a:r>
                    </a:p>
                  </a:txBody>
                  <a:tcPr>
                    <a:solidFill>
                      <a:srgbClr val="8E44AD"/>
                    </a:solidFill>
                  </a:tcPr>
                </a:tc>
                <a:tc>
                  <a:txBody>
                    <a:bodyPr/>
                    <a:lstStyle/>
                    <a:p>
                      <a:pPr algn="ctr">
                        <a:defRPr sz="1000" b="1">
                          <a:solidFill>
                            <a:srgbClr val="FFFFFF"/>
                          </a:solidFill>
                          <a:latin typeface="Calibri"/>
                        </a:defRPr>
                      </a:pPr>
                      <a:r>
                        <a:t>KNN</a:t>
                      </a:r>
                    </a:p>
                  </a:txBody>
                  <a:tcPr>
                    <a:solidFill>
                      <a:srgbClr val="8E44AD"/>
                    </a:solidFill>
                  </a:tcPr>
                </a:tc>
              </a:tr>
              <a:tr h="274320">
                <a:tc>
                  <a:txBody>
                    <a:bodyPr/>
                    <a:lstStyle/>
                    <a:p>
                      <a:pPr algn="l">
                        <a:defRPr sz="1000" b="0">
                          <a:solidFill>
                            <a:srgbClr val="000000"/>
                          </a:solidFill>
                          <a:latin typeface="Calibri"/>
                        </a:defRPr>
                      </a:pPr>
                      <a:r>
                        <a:t>Formal safety (Z3 verification)</a:t>
                      </a:r>
                    </a:p>
                  </a:txBody>
                  <a:tcPr/>
                </a:tc>
                <a:tc>
                  <a:txBody>
                    <a:bodyPr/>
                    <a:lstStyle/>
                    <a:p>
                      <a:pPr algn="ctr">
                        <a:defRPr sz="1000" b="1">
                          <a:solidFill>
                            <a:srgbClr val="000000"/>
                          </a:solidFill>
                          <a:latin typeface="Calibri"/>
                        </a:defRPr>
                      </a:pPr>
                      <a:r>
                        <a:t>✓</a:t>
                      </a:r>
                    </a:p>
                  </a:txBody>
                  <a:tcPr>
                    <a:solidFill>
                      <a:srgbClr val="D5F5E3"/>
                    </a:solidFill>
                  </a:tcPr>
                </a:tc>
                <a:tc>
                  <a:txBody>
                    <a:bodyPr/>
                    <a:lstStyle/>
                    <a:p>
                      <a:pPr algn="ctr">
                        <a:defRPr sz="1000" b="0">
                          <a:solidFill>
                            <a:srgbClr val="000000"/>
                          </a:solidFill>
                          <a:latin typeface="Calibri"/>
                        </a:defRPr>
                      </a:pPr>
                      <a:r>
                        <a:t>✗</a:t>
                      </a:r>
                    </a:p>
                  </a:txBody>
                  <a:tcPr/>
                </a:tc>
                <a:tc>
                  <a:txBody>
                    <a:bodyPr/>
                    <a:lstStyle/>
                    <a:p>
                      <a:pPr algn="ctr">
                        <a:defRPr sz="1000" b="0">
                          <a:solidFill>
                            <a:srgbClr val="000000"/>
                          </a:solidFill>
                          <a:latin typeface="Calibri"/>
                        </a:defRPr>
                      </a:pPr>
                      <a:r>
                        <a:t>✗</a:t>
                      </a:r>
                    </a:p>
                  </a:txBody>
                  <a:tcPr/>
                </a:tc>
                <a:tc>
                  <a:txBody>
                    <a:bodyPr/>
                    <a:lstStyle/>
                    <a:p>
                      <a:pPr algn="ctr">
                        <a:defRPr sz="1000" b="0">
                          <a:solidFill>
                            <a:srgbClr val="000000"/>
                          </a:solidFill>
                          <a:latin typeface="Calibri"/>
                        </a:defRPr>
                      </a:pPr>
                      <a:r>
                        <a:t>✗</a:t>
                      </a:r>
                    </a:p>
                  </a:txBody>
                  <a:tcPr/>
                </a:tc>
                <a:tc>
                  <a:txBody>
                    <a:bodyPr/>
                    <a:lstStyle/>
                    <a:p>
                      <a:pPr algn="ctr">
                        <a:defRPr sz="1000" b="0">
                          <a:solidFill>
                            <a:srgbClr val="000000"/>
                          </a:solidFill>
                          <a:latin typeface="Calibri"/>
                        </a:defRPr>
                      </a:pPr>
                      <a:r>
                        <a:t>✗</a:t>
                      </a:r>
                    </a:p>
                  </a:txBody>
                  <a:tcPr/>
                </a:tc>
              </a:tr>
              <a:tr h="274320">
                <a:tc>
                  <a:txBody>
                    <a:bodyPr/>
                    <a:lstStyle/>
                    <a:p>
                      <a:pPr algn="l">
                        <a:defRPr sz="1000" b="0">
                          <a:solidFill>
                            <a:srgbClr val="000000"/>
                          </a:solidFill>
                          <a:latin typeface="Calibri"/>
                        </a:defRPr>
                      </a:pPr>
                      <a:r>
                        <a:t>Dynamic adaptation (buffer/threshold)</a:t>
                      </a:r>
                    </a:p>
                  </a:txBody>
                  <a:tcPr>
                    <a:solidFill>
                      <a:srgbClr val="ECF0F1"/>
                    </a:solidFill>
                  </a:tcPr>
                </a:tc>
                <a:tc>
                  <a:txBody>
                    <a:bodyPr/>
                    <a:lstStyle/>
                    <a:p>
                      <a:pPr algn="ctr">
                        <a:defRPr sz="1000" b="1">
                          <a:solidFill>
                            <a:srgbClr val="000000"/>
                          </a:solidFill>
                          <a:latin typeface="Calibri"/>
                        </a:defRPr>
                      </a:pPr>
                      <a:r>
                        <a:t>✓</a:t>
                      </a:r>
                    </a:p>
                  </a:txBody>
                  <a:tcPr>
                    <a:solidFill>
                      <a:srgbClr val="D5F5E3"/>
                    </a:solidFill>
                  </a:tcPr>
                </a:tc>
                <a:tc>
                  <a:txBody>
                    <a:bodyPr/>
                    <a:lstStyle/>
                    <a:p>
                      <a:pPr algn="ctr">
                        <a:defRPr sz="1000" b="0">
                          <a:solidFill>
                            <a:srgbClr val="000000"/>
                          </a:solidFill>
                          <a:latin typeface="Calibri"/>
                        </a:defRPr>
                      </a:pPr>
                      <a:r>
                        <a:t>✗</a:t>
                      </a:r>
                    </a:p>
                  </a:txBody>
                  <a:tcPr>
                    <a:solidFill>
                      <a:srgbClr val="ECF0F1"/>
                    </a:solidFill>
                  </a:tcPr>
                </a:tc>
                <a:tc>
                  <a:txBody>
                    <a:bodyPr/>
                    <a:lstStyle/>
                    <a:p>
                      <a:pPr algn="ctr">
                        <a:defRPr sz="1000" b="0">
                          <a:solidFill>
                            <a:srgbClr val="000000"/>
                          </a:solidFill>
                          <a:latin typeface="Calibri"/>
                        </a:defRPr>
                      </a:pPr>
                      <a:r>
                        <a:t>✗</a:t>
                      </a:r>
                    </a:p>
                  </a:txBody>
                  <a:tcPr>
                    <a:solidFill>
                      <a:srgbClr val="ECF0F1"/>
                    </a:solidFill>
                  </a:tcPr>
                </a:tc>
                <a:tc>
                  <a:txBody>
                    <a:bodyPr/>
                    <a:lstStyle/>
                    <a:p>
                      <a:pPr algn="ctr">
                        <a:defRPr sz="1000" b="0">
                          <a:solidFill>
                            <a:srgbClr val="000000"/>
                          </a:solidFill>
                          <a:latin typeface="Calibri"/>
                        </a:defRPr>
                      </a:pPr>
                      <a:r>
                        <a:t>✗</a:t>
                      </a:r>
                    </a:p>
                  </a:txBody>
                  <a:tcPr>
                    <a:solidFill>
                      <a:srgbClr val="ECF0F1"/>
                    </a:solidFill>
                  </a:tcPr>
                </a:tc>
                <a:tc>
                  <a:txBody>
                    <a:bodyPr/>
                    <a:lstStyle/>
                    <a:p>
                      <a:pPr algn="ctr">
                        <a:defRPr sz="1000" b="0">
                          <a:solidFill>
                            <a:srgbClr val="000000"/>
                          </a:solidFill>
                          <a:latin typeface="Calibri"/>
                        </a:defRPr>
                      </a:pPr>
                      <a:r>
                        <a:t>✗</a:t>
                      </a:r>
                    </a:p>
                  </a:txBody>
                  <a:tcPr>
                    <a:solidFill>
                      <a:srgbClr val="ECF0F1"/>
                    </a:solidFill>
                  </a:tcPr>
                </a:tc>
              </a:tr>
              <a:tr h="274320">
                <a:tc>
                  <a:txBody>
                    <a:bodyPr/>
                    <a:lstStyle/>
                    <a:p>
                      <a:pPr algn="l">
                        <a:defRPr sz="1000" b="0">
                          <a:solidFill>
                            <a:srgbClr val="000000"/>
                          </a:solidFill>
                          <a:latin typeface="Calibri"/>
                        </a:defRPr>
                      </a:pPr>
                      <a:r>
                        <a:t>Zero-day detection (DBSCAN)</a:t>
                      </a:r>
                    </a:p>
                  </a:txBody>
                  <a:tcPr/>
                </a:tc>
                <a:tc>
                  <a:txBody>
                    <a:bodyPr/>
                    <a:lstStyle/>
                    <a:p>
                      <a:pPr algn="ctr">
                        <a:defRPr sz="1000" b="1">
                          <a:solidFill>
                            <a:srgbClr val="000000"/>
                          </a:solidFill>
                          <a:latin typeface="Calibri"/>
                        </a:defRPr>
                      </a:pPr>
                      <a:r>
                        <a:t>✓</a:t>
                      </a:r>
                    </a:p>
                  </a:txBody>
                  <a:tcPr>
                    <a:solidFill>
                      <a:srgbClr val="D5F5E3"/>
                    </a:solidFill>
                  </a:tcPr>
                </a:tc>
                <a:tc>
                  <a:txBody>
                    <a:bodyPr/>
                    <a:lstStyle/>
                    <a:p>
                      <a:pPr algn="ctr">
                        <a:defRPr sz="1000" b="0">
                          <a:solidFill>
                            <a:srgbClr val="000000"/>
                          </a:solidFill>
                          <a:latin typeface="Calibri"/>
                        </a:defRPr>
                      </a:pPr>
                      <a:r>
                        <a:t>✗</a:t>
                      </a:r>
                    </a:p>
                  </a:txBody>
                  <a:tcPr/>
                </a:tc>
                <a:tc>
                  <a:txBody>
                    <a:bodyPr/>
                    <a:lstStyle/>
                    <a:p>
                      <a:pPr algn="ctr">
                        <a:defRPr sz="1000" b="0">
                          <a:solidFill>
                            <a:srgbClr val="000000"/>
                          </a:solidFill>
                          <a:latin typeface="Calibri"/>
                        </a:defRPr>
                      </a:pPr>
                      <a:r>
                        <a:t>✗</a:t>
                      </a:r>
                    </a:p>
                  </a:txBody>
                  <a:tcPr/>
                </a:tc>
                <a:tc>
                  <a:txBody>
                    <a:bodyPr/>
                    <a:lstStyle/>
                    <a:p>
                      <a:pPr algn="ctr">
                        <a:defRPr sz="1000" b="0">
                          <a:solidFill>
                            <a:srgbClr val="000000"/>
                          </a:solidFill>
                          <a:latin typeface="Calibri"/>
                        </a:defRPr>
                      </a:pPr>
                      <a:r>
                        <a:t>✗</a:t>
                      </a:r>
                    </a:p>
                  </a:txBody>
                  <a:tcPr/>
                </a:tc>
                <a:tc>
                  <a:txBody>
                    <a:bodyPr/>
                    <a:lstStyle/>
                    <a:p>
                      <a:pPr algn="ctr">
                        <a:defRPr sz="1000" b="0">
                          <a:solidFill>
                            <a:srgbClr val="000000"/>
                          </a:solidFill>
                          <a:latin typeface="Calibri"/>
                        </a:defRPr>
                      </a:pPr>
                      <a:r>
                        <a:t>✗</a:t>
                      </a:r>
                    </a:p>
                  </a:txBody>
                  <a:tcPr/>
                </a:tc>
              </a:tr>
              <a:tr h="274320">
                <a:tc>
                  <a:txBody>
                    <a:bodyPr/>
                    <a:lstStyle/>
                    <a:p>
                      <a:pPr algn="l">
                        <a:defRPr sz="1000" b="0">
                          <a:solidFill>
                            <a:srgbClr val="000000"/>
                          </a:solidFill>
                          <a:latin typeface="Calibri"/>
                        </a:defRPr>
                      </a:pPr>
                      <a:r>
                        <a:t>Full decision audit trail</a:t>
                      </a:r>
                    </a:p>
                  </a:txBody>
                  <a:tcPr>
                    <a:solidFill>
                      <a:srgbClr val="ECF0F1"/>
                    </a:solidFill>
                  </a:tcPr>
                </a:tc>
                <a:tc>
                  <a:txBody>
                    <a:bodyPr/>
                    <a:lstStyle/>
                    <a:p>
                      <a:pPr algn="ctr">
                        <a:defRPr sz="1000" b="1">
                          <a:solidFill>
                            <a:srgbClr val="000000"/>
                          </a:solidFill>
                          <a:latin typeface="Calibri"/>
                        </a:defRPr>
                      </a:pPr>
                      <a:r>
                        <a:t>✓</a:t>
                      </a:r>
                    </a:p>
                  </a:txBody>
                  <a:tcPr>
                    <a:solidFill>
                      <a:srgbClr val="D5F5E3"/>
                    </a:solidFill>
                  </a:tcPr>
                </a:tc>
                <a:tc>
                  <a:txBody>
                    <a:bodyPr/>
                    <a:lstStyle/>
                    <a:p>
                      <a:pPr algn="ctr">
                        <a:defRPr sz="1000" b="0">
                          <a:solidFill>
                            <a:srgbClr val="000000"/>
                          </a:solidFill>
                          <a:latin typeface="Calibri"/>
                        </a:defRPr>
                      </a:pPr>
                      <a:r>
                        <a:t>✗</a:t>
                      </a:r>
                    </a:p>
                  </a:txBody>
                  <a:tcPr>
                    <a:solidFill>
                      <a:srgbClr val="ECF0F1"/>
                    </a:solidFill>
                  </a:tcPr>
                </a:tc>
                <a:tc>
                  <a:txBody>
                    <a:bodyPr/>
                    <a:lstStyle/>
                    <a:p>
                      <a:pPr algn="ctr">
                        <a:defRPr sz="1000" b="0">
                          <a:solidFill>
                            <a:srgbClr val="000000"/>
                          </a:solidFill>
                          <a:latin typeface="Calibri"/>
                        </a:defRPr>
                      </a:pPr>
                      <a:r>
                        <a:t>✗</a:t>
                      </a:r>
                    </a:p>
                  </a:txBody>
                  <a:tcPr>
                    <a:solidFill>
                      <a:srgbClr val="ECF0F1"/>
                    </a:solidFill>
                  </a:tcPr>
                </a:tc>
                <a:tc>
                  <a:txBody>
                    <a:bodyPr/>
                    <a:lstStyle/>
                    <a:p>
                      <a:pPr algn="ctr">
                        <a:defRPr sz="1000" b="0">
                          <a:solidFill>
                            <a:srgbClr val="000000"/>
                          </a:solidFill>
                          <a:latin typeface="Calibri"/>
                        </a:defRPr>
                      </a:pPr>
                      <a:r>
                        <a:t>✗</a:t>
                      </a:r>
                    </a:p>
                  </a:txBody>
                  <a:tcPr>
                    <a:solidFill>
                      <a:srgbClr val="ECF0F1"/>
                    </a:solidFill>
                  </a:tcPr>
                </a:tc>
                <a:tc>
                  <a:txBody>
                    <a:bodyPr/>
                    <a:lstStyle/>
                    <a:p>
                      <a:pPr algn="ctr">
                        <a:defRPr sz="1000" b="0">
                          <a:solidFill>
                            <a:srgbClr val="000000"/>
                          </a:solidFill>
                          <a:latin typeface="Calibri"/>
                        </a:defRPr>
                      </a:pPr>
                      <a:r>
                        <a:t>✗</a:t>
                      </a:r>
                    </a:p>
                  </a:txBody>
                  <a:tcPr>
                    <a:solidFill>
                      <a:srgbClr val="ECF0F1"/>
                    </a:solidFill>
                  </a:tcPr>
                </a:tc>
              </a:tr>
              <a:tr h="274320">
                <a:tc>
                  <a:txBody>
                    <a:bodyPr/>
                    <a:lstStyle/>
                    <a:p>
                      <a:pPr algn="l">
                        <a:defRPr sz="1000" b="0">
                          <a:solidFill>
                            <a:srgbClr val="000000"/>
                          </a:solidFill>
                          <a:latin typeface="Calibri"/>
                        </a:defRPr>
                      </a:pPr>
                      <a:r>
                        <a:t>Online adaptation (no retraining)</a:t>
                      </a:r>
                    </a:p>
                  </a:txBody>
                  <a:tcPr/>
                </a:tc>
                <a:tc>
                  <a:txBody>
                    <a:bodyPr/>
                    <a:lstStyle/>
                    <a:p>
                      <a:pPr algn="ctr">
                        <a:defRPr sz="1000" b="1">
                          <a:solidFill>
                            <a:srgbClr val="000000"/>
                          </a:solidFill>
                          <a:latin typeface="Calibri"/>
                        </a:defRPr>
                      </a:pPr>
                      <a:r>
                        <a:t>✓</a:t>
                      </a:r>
                    </a:p>
                  </a:txBody>
                  <a:tcPr>
                    <a:solidFill>
                      <a:srgbClr val="D5F5E3"/>
                    </a:solidFill>
                  </a:tcPr>
                </a:tc>
                <a:tc>
                  <a:txBody>
                    <a:bodyPr/>
                    <a:lstStyle/>
                    <a:p>
                      <a:pPr algn="ctr">
                        <a:defRPr sz="1000" b="0">
                          <a:solidFill>
                            <a:srgbClr val="000000"/>
                          </a:solidFill>
                          <a:latin typeface="Calibri"/>
                        </a:defRPr>
                      </a:pPr>
                      <a:r>
                        <a:t>✗</a:t>
                      </a:r>
                    </a:p>
                  </a:txBody>
                  <a:tcPr/>
                </a:tc>
                <a:tc>
                  <a:txBody>
                    <a:bodyPr/>
                    <a:lstStyle/>
                    <a:p>
                      <a:pPr algn="ctr">
                        <a:defRPr sz="1000" b="0">
                          <a:solidFill>
                            <a:srgbClr val="000000"/>
                          </a:solidFill>
                          <a:latin typeface="Calibri"/>
                        </a:defRPr>
                      </a:pPr>
                      <a:r>
                        <a:t>✗</a:t>
                      </a:r>
                    </a:p>
                  </a:txBody>
                  <a:tcPr/>
                </a:tc>
                <a:tc>
                  <a:txBody>
                    <a:bodyPr/>
                    <a:lstStyle/>
                    <a:p>
                      <a:pPr algn="ctr">
                        <a:defRPr sz="1000" b="0">
                          <a:solidFill>
                            <a:srgbClr val="000000"/>
                          </a:solidFill>
                          <a:latin typeface="Calibri"/>
                        </a:defRPr>
                      </a:pPr>
                      <a:r>
                        <a:t>✗</a:t>
                      </a:r>
                    </a:p>
                  </a:txBody>
                  <a:tcPr/>
                </a:tc>
                <a:tc>
                  <a:txBody>
                    <a:bodyPr/>
                    <a:lstStyle/>
                    <a:p>
                      <a:pPr algn="ctr">
                        <a:defRPr sz="1000" b="0">
                          <a:solidFill>
                            <a:srgbClr val="000000"/>
                          </a:solidFill>
                          <a:latin typeface="Calibri"/>
                        </a:defRPr>
                      </a:pPr>
                      <a:r>
                        <a:t>✗</a:t>
                      </a:r>
                    </a:p>
                  </a:txBody>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274320" y="137160"/>
            <a:ext cx="11430000" cy="457200"/>
          </a:xfrm>
          <a:prstGeom prst="rect">
            <a:avLst/>
          </a:prstGeom>
          <a:noFill/>
        </p:spPr>
        <p:txBody>
          <a:bodyPr wrap="square">
            <a:spAutoFit/>
          </a:bodyPr>
          <a:lstStyle/>
          <a:p>
            <a:pPr algn="ctr">
              <a:defRPr sz="2400" b="1">
                <a:solidFill>
                  <a:srgbClr val="003C71"/>
                </a:solidFill>
                <a:latin typeface="Calibri"/>
              </a:defRPr>
            </a:pPr>
            <a:r>
              <a:t>Dynamic Adaptation — Buffer Size &amp; Threshold Over Inference Windows</a:t>
            </a:r>
          </a:p>
        </p:txBody>
      </p:sp>
      <p:pic>
        <p:nvPicPr>
          <p:cNvPr id="3" name="Picture 2" descr="image.png"/>
          <p:cNvPicPr>
            <a:picLocks noChangeAspect="1"/>
          </p:cNvPicPr>
          <p:nvPr/>
        </p:nvPicPr>
        <p:blipFill>
          <a:blip r:embed="rId2"/>
          <a:stretch>
            <a:fillRect/>
          </a:stretch>
        </p:blipFill>
        <p:spPr>
          <a:xfrm>
            <a:off x="274320" y="640080"/>
            <a:ext cx="11430000" cy="3517476"/>
          </a:xfrm>
          <a:prstGeom prst="rect">
            <a:avLst/>
          </a:prstGeom>
        </p:spPr>
      </p:pic>
      <p:sp>
        <p:nvSpPr>
          <p:cNvPr id="4" name="TextBox 3"/>
          <p:cNvSpPr txBox="1"/>
          <p:nvPr/>
        </p:nvSpPr>
        <p:spPr>
          <a:xfrm>
            <a:off x="274320" y="5303520"/>
            <a:ext cx="11430000" cy="1371600"/>
          </a:xfrm>
          <a:prstGeom prst="rect">
            <a:avLst/>
          </a:prstGeom>
          <a:noFill/>
        </p:spPr>
        <p:txBody>
          <a:bodyPr wrap="square">
            <a:spAutoFit/>
          </a:bodyPr>
          <a:lstStyle/>
          <a:p>
            <a:pPr>
              <a:spcAft>
                <a:spcPts val="400"/>
              </a:spcAft>
              <a:defRPr sz="1100" b="0">
                <a:solidFill>
                  <a:srgbClr val="000000"/>
                </a:solidFill>
                <a:latin typeface="Calibri"/>
              </a:defRPr>
            </a:pPr>
            <a:r>
              <a:t>•  Buffer shrinks during high-variance attack phases (faster response) and grows during stable periods (better estimates).</a:t>
            </a:r>
          </a:p>
          <a:p>
            <a:pPr>
              <a:spcAft>
                <a:spcPts val="400"/>
              </a:spcAft>
              <a:defRPr sz="1100" b="0">
                <a:solidFill>
                  <a:srgbClr val="000000"/>
                </a:solidFill>
                <a:latin typeface="Calibri"/>
              </a:defRPr>
            </a:pPr>
            <a:r>
              <a:t>•  Threshold rises from 0.50 toward 0.70 as the system gains confidence — reducing false positives over time.</a:t>
            </a:r>
          </a:p>
          <a:p>
            <a:pPr>
              <a:spcAft>
                <a:spcPts val="400"/>
              </a:spcAft>
              <a:defRPr sz="1100" b="0">
                <a:solidFill>
                  <a:srgbClr val="000000"/>
                </a:solidFill>
                <a:latin typeface="Calibri"/>
              </a:defRPr>
            </a:pPr>
            <a:r>
              <a:t>•  UNSW shows the most dynamic buffer behavior (10–50 range) due to 68% attack ratio and frequent phase transitions.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274320" y="137160"/>
            <a:ext cx="11430000" cy="457200"/>
          </a:xfrm>
          <a:prstGeom prst="rect">
            <a:avLst/>
          </a:prstGeom>
          <a:noFill/>
        </p:spPr>
        <p:txBody>
          <a:bodyPr wrap="square">
            <a:spAutoFit/>
          </a:bodyPr>
          <a:lstStyle/>
          <a:p>
            <a:pPr algn="ctr">
              <a:defRPr sz="2400" b="1">
                <a:solidFill>
                  <a:srgbClr val="003C71"/>
                </a:solidFill>
                <a:latin typeface="Calibri"/>
              </a:defRPr>
            </a:pPr>
            <a:r>
              <a:t>Ablation Study &amp; Safety Guarantees — What Each Component Contributes</a:t>
            </a:r>
          </a:p>
        </p:txBody>
      </p:sp>
      <p:sp>
        <p:nvSpPr>
          <p:cNvPr id="3" name="TextBox 2"/>
          <p:cNvSpPr txBox="1"/>
          <p:nvPr/>
        </p:nvSpPr>
        <p:spPr>
          <a:xfrm>
            <a:off x="274320" y="502920"/>
            <a:ext cx="11430000" cy="6217920"/>
          </a:xfrm>
          <a:prstGeom prst="rect">
            <a:avLst/>
          </a:prstGeom>
          <a:noFill/>
        </p:spPr>
        <p:txBody>
          <a:bodyPr wrap="square">
            <a:spAutoFit/>
          </a:bodyPr>
          <a:lstStyle/>
          <a:p>
            <a:pPr>
              <a:spcAft>
                <a:spcPts val="200"/>
              </a:spcAft>
              <a:defRPr sz="400" b="0">
                <a:solidFill>
                  <a:srgbClr val="000000"/>
                </a:solidFill>
                <a:latin typeface="Consolas"/>
              </a:defRPr>
            </a:pPr>
          </a:p>
          <a:p>
            <a:pPr>
              <a:spcAft>
                <a:spcPts val="200"/>
              </a:spcAft>
              <a:defRPr sz="1300" b="1">
                <a:solidFill>
                  <a:srgbClr val="003C71"/>
                </a:solidFill>
                <a:latin typeface="Consolas"/>
              </a:defRPr>
            </a:pPr>
            <a:r>
              <a:t>  Component Ablation (CIC-IDS2017, n=10000):</a:t>
            </a:r>
          </a:p>
          <a:p>
            <a:pPr>
              <a:spcAft>
                <a:spcPts val="200"/>
              </a:spcAft>
              <a:defRPr sz="400" b="0">
                <a:solidFill>
                  <a:srgbClr val="000000"/>
                </a:solidFill>
                <a:latin typeface="Consolas"/>
              </a:defRPr>
            </a:pPr>
          </a:p>
          <a:p>
            <a:pPr>
              <a:spcAft>
                <a:spcPts val="200"/>
              </a:spcAft>
              <a:defRPr sz="1000" b="1">
                <a:solidFill>
                  <a:srgbClr val="000000"/>
                </a:solidFill>
                <a:latin typeface="Consolas"/>
              </a:defRPr>
            </a:pPr>
            <a:r>
              <a:t>  Configuration                           F1-Score    Safety    Adaptive    Explainable</a:t>
            </a:r>
          </a:p>
          <a:p>
            <a:pPr>
              <a:spcAft>
                <a:spcPts val="200"/>
              </a:spcAft>
              <a:defRPr sz="800" b="0">
                <a:solidFill>
                  <a:srgbClr val="7F8C8D"/>
                </a:solidFill>
                <a:latin typeface="Consolas"/>
              </a:defRPr>
            </a:pPr>
            <a:r>
              <a:t>  ─────────────────────────────────────────────────────────────────────────────────────</a:t>
            </a:r>
          </a:p>
          <a:p>
            <a:pPr>
              <a:spcAft>
                <a:spcPts val="200"/>
              </a:spcAft>
              <a:defRPr sz="1000" b="0">
                <a:solidFill>
                  <a:srgbClr val="1E8E3E"/>
                </a:solidFill>
                <a:latin typeface="Consolas"/>
              </a:defRPr>
            </a:pPr>
            <a:r>
              <a:t>  Full ASRRL (DT+Z3+RL+DBSCAN+Buf+Thresh) 0.9252      Yes       Yes         Yes</a:t>
            </a:r>
          </a:p>
          <a:p>
            <a:pPr>
              <a:spcAft>
                <a:spcPts val="200"/>
              </a:spcAft>
              <a:defRPr sz="1000" b="0">
                <a:solidFill>
                  <a:srgbClr val="E67E22"/>
                </a:solidFill>
                <a:latin typeface="Consolas"/>
              </a:defRPr>
            </a:pPr>
            <a:r>
              <a:t>  No Z3 shielding                         ~0.91       No        Yes         Partial</a:t>
            </a:r>
          </a:p>
          <a:p>
            <a:pPr>
              <a:spcAft>
                <a:spcPts val="200"/>
              </a:spcAft>
              <a:defRPr sz="1000" b="0">
                <a:solidFill>
                  <a:srgbClr val="E67E22"/>
                </a:solidFill>
                <a:latin typeface="Consolas"/>
              </a:defRPr>
            </a:pPr>
            <a:r>
              <a:t>  No dynamic buffer (fixed=50)            ~0.90       Yes       Partial     Yes</a:t>
            </a:r>
          </a:p>
          <a:p>
            <a:pPr>
              <a:spcAft>
                <a:spcPts val="200"/>
              </a:spcAft>
              <a:defRPr sz="1000" b="0">
                <a:solidFill>
                  <a:srgbClr val="E67E22"/>
                </a:solidFill>
                <a:latin typeface="Consolas"/>
              </a:defRPr>
            </a:pPr>
            <a:r>
              <a:t>  No dynamic threshold (fixed=0.5)        ~0.88       Yes       Partial     Yes</a:t>
            </a:r>
          </a:p>
          <a:p>
            <a:pPr>
              <a:spcAft>
                <a:spcPts val="200"/>
              </a:spcAft>
              <a:defRPr sz="1000" b="0">
                <a:solidFill>
                  <a:srgbClr val="000000"/>
                </a:solidFill>
                <a:latin typeface="Consolas"/>
              </a:defRPr>
            </a:pPr>
            <a:r>
              <a:t>  No DBSCAN                               ~0.92       Yes       Yes         Yes</a:t>
            </a:r>
          </a:p>
          <a:p>
            <a:pPr>
              <a:spcAft>
                <a:spcPts val="200"/>
              </a:spcAft>
              <a:defRPr sz="1000" b="0">
                <a:solidFill>
                  <a:srgbClr val="C0392B"/>
                </a:solidFill>
                <a:latin typeface="Consolas"/>
              </a:defRPr>
            </a:pPr>
            <a:r>
              <a:t>  DT only (no RL, no Z3)                  ~0.83       No        No          Partial</a:t>
            </a:r>
          </a:p>
          <a:p>
            <a:pPr>
              <a:spcAft>
                <a:spcPts val="200"/>
              </a:spcAft>
              <a:defRPr sz="1000" b="0">
                <a:solidFill>
                  <a:srgbClr val="000000"/>
                </a:solidFill>
                <a:latin typeface="Consolas"/>
              </a:defRPr>
            </a:pPr>
            <a:r>
              <a:t>  Random Forest (baseline)                 0.9760      No        No          No</a:t>
            </a:r>
          </a:p>
          <a:p>
            <a:pPr>
              <a:spcAft>
                <a:spcPts val="200"/>
              </a:spcAft>
              <a:defRPr sz="1000" b="0">
                <a:solidFill>
                  <a:srgbClr val="000000"/>
                </a:solidFill>
                <a:latin typeface="Consolas"/>
              </a:defRPr>
            </a:pPr>
            <a:r>
              <a:t>  XGBoost (baseline)                       0.9802      No        No          No</a:t>
            </a:r>
          </a:p>
          <a:p>
            <a:pPr>
              <a:spcAft>
                <a:spcPts val="200"/>
              </a:spcAft>
              <a:defRPr sz="600" b="0">
                <a:solidFill>
                  <a:srgbClr val="000000"/>
                </a:solidFill>
                <a:latin typeface="Consolas"/>
              </a:defRPr>
            </a:pPr>
          </a:p>
          <a:p>
            <a:pPr>
              <a:spcAft>
                <a:spcPts val="200"/>
              </a:spcAft>
              <a:defRPr sz="1300" b="1">
                <a:solidFill>
                  <a:srgbClr val="003C71"/>
                </a:solidFill>
                <a:latin typeface="Consolas"/>
              </a:defRPr>
            </a:pPr>
            <a:r>
              <a:t>  Z3 Safety Guarantee Properties:</a:t>
            </a:r>
          </a:p>
          <a:p>
            <a:pPr>
              <a:spcAft>
                <a:spcPts val="200"/>
              </a:spcAft>
              <a:defRPr sz="400" b="0">
                <a:solidFill>
                  <a:srgbClr val="000000"/>
                </a:solidFill>
                <a:latin typeface="Consolas"/>
              </a:defRPr>
            </a:pPr>
          </a:p>
          <a:p>
            <a:pPr>
              <a:spcAft>
                <a:spcPts val="200"/>
              </a:spcAft>
              <a:defRPr sz="1000" b="1">
                <a:solidFill>
                  <a:srgbClr val="000000"/>
                </a:solidFill>
                <a:latin typeface="Consolas"/>
              </a:defRPr>
            </a:pPr>
            <a:r>
              <a:t>  Property                    CSE           UNSW          CIC2017</a:t>
            </a:r>
          </a:p>
          <a:p>
            <a:pPr>
              <a:spcAft>
                <a:spcPts val="200"/>
              </a:spcAft>
              <a:defRPr sz="800" b="0">
                <a:solidFill>
                  <a:srgbClr val="7F8C8D"/>
                </a:solidFill>
                <a:latin typeface="Consolas"/>
              </a:defRPr>
            </a:pPr>
            <a:r>
              <a:t>  ─────────────────────────────────────────────────────────────────</a:t>
            </a:r>
          </a:p>
          <a:p>
            <a:pPr>
              <a:spcAft>
                <a:spcPts val="200"/>
              </a:spcAft>
              <a:defRPr sz="1000" b="0">
                <a:solidFill>
                  <a:srgbClr val="1E8E3E"/>
                </a:solidFill>
                <a:latin typeface="Consolas"/>
              </a:defRPr>
            </a:pPr>
            <a:r>
              <a:t>  Constraint fidelity         100%          100%          100%</a:t>
            </a:r>
          </a:p>
          <a:p>
            <a:pPr>
              <a:spcAft>
                <a:spcPts val="200"/>
              </a:spcAft>
              <a:defRPr sz="1000" b="0">
                <a:solidFill>
                  <a:srgbClr val="1E8E3E"/>
                </a:solidFill>
                <a:latin typeface="Consolas"/>
              </a:defRPr>
            </a:pPr>
            <a:r>
              <a:t>  Coverage (flows checked)    100%          100%          100%</a:t>
            </a:r>
          </a:p>
          <a:p>
            <a:pPr>
              <a:spcAft>
                <a:spcPts val="200"/>
              </a:spcAft>
              <a:defRPr sz="1000" b="0">
                <a:solidFill>
                  <a:srgbClr val="2980B9"/>
                </a:solidFill>
                <a:latin typeface="Consolas"/>
              </a:defRPr>
            </a:pPr>
            <a:r>
              <a:t>  Shield activations          2-5%          8-12%         4-7%</a:t>
            </a:r>
          </a:p>
          <a:p>
            <a:pPr>
              <a:spcAft>
                <a:spcPts val="200"/>
              </a:spcAft>
              <a:defRPr sz="1000" b="0">
                <a:solidFill>
                  <a:srgbClr val="000000"/>
                </a:solidFill>
                <a:latin typeface="Consolas"/>
              </a:defRPr>
            </a:pPr>
            <a:r>
              <a:t>  Avg verify latency          &lt;1ms          &lt;1ms          &lt;1ms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274320" y="137160"/>
            <a:ext cx="11430000" cy="457200"/>
          </a:xfrm>
          <a:prstGeom prst="rect">
            <a:avLst/>
          </a:prstGeom>
          <a:noFill/>
        </p:spPr>
        <p:txBody>
          <a:bodyPr wrap="square">
            <a:spAutoFit/>
          </a:bodyPr>
          <a:lstStyle/>
          <a:p>
            <a:pPr algn="ctr">
              <a:defRPr sz="2400" b="1">
                <a:solidFill>
                  <a:srgbClr val="003C71"/>
                </a:solidFill>
                <a:latin typeface="Calibri"/>
              </a:defRPr>
            </a:pPr>
            <a:r>
              <a:t>Specification Evolution — Before vs. After Optimization</a:t>
            </a:r>
          </a:p>
        </p:txBody>
      </p:sp>
      <p:sp>
        <p:nvSpPr>
          <p:cNvPr id="3" name="TextBox 2"/>
          <p:cNvSpPr txBox="1"/>
          <p:nvPr/>
        </p:nvSpPr>
        <p:spPr>
          <a:xfrm>
            <a:off x="274320" y="594360"/>
            <a:ext cx="3657600" cy="228600"/>
          </a:xfrm>
          <a:prstGeom prst="rect">
            <a:avLst/>
          </a:prstGeom>
          <a:noFill/>
        </p:spPr>
        <p:txBody>
          <a:bodyPr wrap="square">
            <a:spAutoFit/>
          </a:bodyPr>
          <a:lstStyle/>
          <a:p>
            <a:pPr algn="l">
              <a:defRPr sz="1100" b="1">
                <a:solidFill>
                  <a:srgbClr val="8E44AD"/>
                </a:solidFill>
                <a:latin typeface="Calibri"/>
              </a:defRPr>
            </a:pPr>
            <a:r>
              <a:t>CART Decision Tree</a:t>
            </a:r>
          </a:p>
        </p:txBody>
      </p:sp>
      <p:graphicFrame>
        <p:nvGraphicFramePr>
          <p:cNvPr id="4" name="Table 3"/>
          <p:cNvGraphicFramePr>
            <a:graphicFrameLocks noGrp="1"/>
          </p:cNvGraphicFramePr>
          <p:nvPr/>
        </p:nvGraphicFramePr>
        <p:xfrm>
          <a:off x="274320" y="822960"/>
          <a:ext cx="11430000" cy="960120"/>
        </p:xfrm>
        <a:graphic>
          <a:graphicData uri="http://schemas.openxmlformats.org/drawingml/2006/table">
            <a:tbl>
              <a:tblPr firstRow="1" bandRow="1">
                <a:tableStyleId>{5C22544A-7EE6-4342-B048-85BDC9FD1C3A}</a:tableStyleId>
              </a:tblPr>
              <a:tblGrid>
                <a:gridCol w="1828800"/>
                <a:gridCol w="2011680"/>
                <a:gridCol w="2011680"/>
                <a:gridCol w="5577840"/>
              </a:tblGrid>
              <a:tr h="240030">
                <a:tc>
                  <a:txBody>
                    <a:bodyPr/>
                    <a:lstStyle/>
                    <a:p>
                      <a:pPr algn="ctr">
                        <a:defRPr sz="900" b="1">
                          <a:solidFill>
                            <a:srgbClr val="FFFFFF"/>
                          </a:solidFill>
                          <a:latin typeface="Calibri"/>
                        </a:defRPr>
                      </a:pPr>
                      <a:r>
                        <a:t>Parameter</a:t>
                      </a:r>
                    </a:p>
                  </a:txBody>
                  <a:tcPr>
                    <a:solidFill>
                      <a:srgbClr val="8E44AD"/>
                    </a:solidFill>
                  </a:tcPr>
                </a:tc>
                <a:tc>
                  <a:txBody>
                    <a:bodyPr/>
                    <a:lstStyle/>
                    <a:p>
                      <a:pPr algn="ctr">
                        <a:defRPr sz="900" b="1">
                          <a:solidFill>
                            <a:srgbClr val="FFFFFF"/>
                          </a:solidFill>
                          <a:latin typeface="Calibri"/>
                        </a:defRPr>
                      </a:pPr>
                      <a:r>
                        <a:t>Before</a:t>
                      </a:r>
                    </a:p>
                  </a:txBody>
                  <a:tcPr>
                    <a:solidFill>
                      <a:srgbClr val="8E44AD"/>
                    </a:solidFill>
                  </a:tcPr>
                </a:tc>
                <a:tc>
                  <a:txBody>
                    <a:bodyPr/>
                    <a:lstStyle/>
                    <a:p>
                      <a:pPr algn="ctr">
                        <a:defRPr sz="900" b="1">
                          <a:solidFill>
                            <a:srgbClr val="FFFFFF"/>
                          </a:solidFill>
                          <a:latin typeface="Calibri"/>
                        </a:defRPr>
                      </a:pPr>
                      <a:r>
                        <a:t>After</a:t>
                      </a:r>
                    </a:p>
                  </a:txBody>
                  <a:tcPr>
                    <a:solidFill>
                      <a:srgbClr val="8E44AD"/>
                    </a:solidFill>
                  </a:tcPr>
                </a:tc>
                <a:tc>
                  <a:txBody>
                    <a:bodyPr/>
                    <a:lstStyle/>
                    <a:p>
                      <a:pPr algn="ctr">
                        <a:defRPr sz="900" b="1">
                          <a:solidFill>
                            <a:srgbClr val="FFFFFF"/>
                          </a:solidFill>
                          <a:latin typeface="Calibri"/>
                        </a:defRPr>
                      </a:pPr>
                      <a:r>
                        <a:t>Rationale</a:t>
                      </a:r>
                    </a:p>
                  </a:txBody>
                  <a:tcPr>
                    <a:solidFill>
                      <a:srgbClr val="8E44AD"/>
                    </a:solidFill>
                  </a:tcPr>
                </a:tc>
              </a:tr>
              <a:tr h="240030">
                <a:tc>
                  <a:txBody>
                    <a:bodyPr/>
                    <a:lstStyle/>
                    <a:p>
                      <a:pPr algn="l">
                        <a:defRPr sz="900" b="0">
                          <a:solidFill>
                            <a:srgbClr val="000000"/>
                          </a:solidFill>
                          <a:latin typeface="Calibri"/>
                        </a:defRPr>
                      </a:pPr>
                      <a:r>
                        <a:t>max_depth</a:t>
                      </a:r>
                    </a:p>
                  </a:txBody>
                  <a:tcPr/>
                </a:tc>
                <a:tc>
                  <a:txBody>
                    <a:bodyPr/>
                    <a:lstStyle/>
                    <a:p>
                      <a:pPr algn="ctr">
                        <a:defRPr sz="900" b="0">
                          <a:solidFill>
                            <a:srgbClr val="000000"/>
                          </a:solidFill>
                          <a:latin typeface="Calibri"/>
                        </a:defRPr>
                      </a:pPr>
                      <a:r>
                        <a:t>5</a:t>
                      </a:r>
                    </a:p>
                  </a:txBody>
                  <a:tcPr/>
                </a:tc>
                <a:tc>
                  <a:txBody>
                    <a:bodyPr/>
                    <a:lstStyle/>
                    <a:p>
                      <a:pPr algn="ctr">
                        <a:defRPr sz="900" b="0">
                          <a:solidFill>
                            <a:srgbClr val="000000"/>
                          </a:solidFill>
                          <a:latin typeface="Calibri"/>
                        </a:defRPr>
                      </a:pPr>
                      <a:r>
                        <a:t>7</a:t>
                      </a:r>
                    </a:p>
                  </a:txBody>
                  <a:tcPr/>
                </a:tc>
                <a:tc>
                  <a:txBody>
                    <a:bodyPr/>
                    <a:lstStyle/>
                    <a:p>
                      <a:pPr algn="ctr">
                        <a:defRPr sz="900" b="0">
                          <a:solidFill>
                            <a:srgbClr val="000000"/>
                          </a:solidFill>
                          <a:latin typeface="Calibri"/>
                        </a:defRPr>
                      </a:pPr>
                      <a:r>
                        <a:t>Deeper splits capture subtypes</a:t>
                      </a:r>
                    </a:p>
                  </a:txBody>
                  <a:tcPr/>
                </a:tc>
              </a:tr>
              <a:tr h="240030">
                <a:tc>
                  <a:txBody>
                    <a:bodyPr/>
                    <a:lstStyle/>
                    <a:p>
                      <a:pPr algn="l">
                        <a:defRPr sz="900" b="0">
                          <a:solidFill>
                            <a:srgbClr val="000000"/>
                          </a:solidFill>
                          <a:latin typeface="Calibri"/>
                        </a:defRPr>
                      </a:pPr>
                      <a:r>
                        <a:t>min_samples_leaf</a:t>
                      </a:r>
                    </a:p>
                  </a:txBody>
                  <a:tcPr>
                    <a:solidFill>
                      <a:srgbClr val="ECF0F1"/>
                    </a:solidFill>
                  </a:tcPr>
                </a:tc>
                <a:tc>
                  <a:txBody>
                    <a:bodyPr/>
                    <a:lstStyle/>
                    <a:p>
                      <a:pPr algn="ctr">
                        <a:defRPr sz="900" b="0">
                          <a:solidFill>
                            <a:srgbClr val="000000"/>
                          </a:solidFill>
                          <a:latin typeface="Calibri"/>
                        </a:defRPr>
                      </a:pPr>
                      <a:r>
                        <a:t>25</a:t>
                      </a:r>
                    </a:p>
                  </a:txBody>
                  <a:tcPr>
                    <a:solidFill>
                      <a:srgbClr val="ECF0F1"/>
                    </a:solidFill>
                  </a:tcPr>
                </a:tc>
                <a:tc>
                  <a:txBody>
                    <a:bodyPr/>
                    <a:lstStyle/>
                    <a:p>
                      <a:pPr algn="ctr">
                        <a:defRPr sz="900" b="0">
                          <a:solidFill>
                            <a:srgbClr val="000000"/>
                          </a:solidFill>
                          <a:latin typeface="Calibri"/>
                        </a:defRPr>
                      </a:pPr>
                      <a:r>
                        <a:t>20</a:t>
                      </a:r>
                    </a:p>
                  </a:txBody>
                  <a:tcPr>
                    <a:solidFill>
                      <a:srgbClr val="ECF0F1"/>
                    </a:solidFill>
                  </a:tcPr>
                </a:tc>
                <a:tc>
                  <a:txBody>
                    <a:bodyPr/>
                    <a:lstStyle/>
                    <a:p>
                      <a:pPr algn="ctr">
                        <a:defRPr sz="900" b="0">
                          <a:solidFill>
                            <a:srgbClr val="000000"/>
                          </a:solidFill>
                          <a:latin typeface="Calibri"/>
                        </a:defRPr>
                      </a:pPr>
                      <a:r>
                        <a:t>Finer-grained leaf regions</a:t>
                      </a:r>
                    </a:p>
                  </a:txBody>
                  <a:tcPr>
                    <a:solidFill>
                      <a:srgbClr val="ECF0F1"/>
                    </a:solidFill>
                  </a:tcPr>
                </a:tc>
              </a:tr>
              <a:tr h="240030">
                <a:tc>
                  <a:txBody>
                    <a:bodyPr/>
                    <a:lstStyle/>
                    <a:p>
                      <a:pPr algn="l">
                        <a:defRPr sz="900" b="0">
                          <a:solidFill>
                            <a:srgbClr val="000000"/>
                          </a:solidFill>
                          <a:latin typeface="Calibri"/>
                        </a:defRPr>
                      </a:pPr>
                      <a:r>
                        <a:t>class_weight</a:t>
                      </a:r>
                    </a:p>
                  </a:txBody>
                  <a:tcPr/>
                </a:tc>
                <a:tc>
                  <a:txBody>
                    <a:bodyPr/>
                    <a:lstStyle/>
                    <a:p>
                      <a:pPr algn="ctr">
                        <a:defRPr sz="900" b="0">
                          <a:solidFill>
                            <a:srgbClr val="000000"/>
                          </a:solidFill>
                          <a:latin typeface="Calibri"/>
                        </a:defRPr>
                      </a:pPr>
                      <a:r>
                        <a:t>balanced</a:t>
                      </a:r>
                    </a:p>
                  </a:txBody>
                  <a:tcPr/>
                </a:tc>
                <a:tc>
                  <a:txBody>
                    <a:bodyPr/>
                    <a:lstStyle/>
                    <a:p>
                      <a:pPr algn="ctr">
                        <a:defRPr sz="900" b="0">
                          <a:solidFill>
                            <a:srgbClr val="000000"/>
                          </a:solidFill>
                          <a:latin typeface="Calibri"/>
                        </a:defRPr>
                      </a:pPr>
                      <a:r>
                        <a:t>balanced</a:t>
                      </a:r>
                    </a:p>
                  </a:txBody>
                  <a:tcPr/>
                </a:tc>
                <a:tc>
                  <a:txBody>
                    <a:bodyPr/>
                    <a:lstStyle/>
                    <a:p>
                      <a:pPr algn="ctr">
                        <a:defRPr sz="900" b="0">
                          <a:solidFill>
                            <a:srgbClr val="000000"/>
                          </a:solidFill>
                          <a:latin typeface="Calibri"/>
                        </a:defRPr>
                      </a:pPr>
                      <a:r>
                        <a:t>(unchanged)</a:t>
                      </a:r>
                    </a:p>
                  </a:txBody>
                  <a:tcPr/>
                </a:tc>
              </a:tr>
            </a:tbl>
          </a:graphicData>
        </a:graphic>
      </p:graphicFrame>
      <p:sp>
        <p:nvSpPr>
          <p:cNvPr id="5" name="TextBox 4"/>
          <p:cNvSpPr txBox="1"/>
          <p:nvPr/>
        </p:nvSpPr>
        <p:spPr>
          <a:xfrm>
            <a:off x="274320" y="1874519"/>
            <a:ext cx="3657600" cy="228600"/>
          </a:xfrm>
          <a:prstGeom prst="rect">
            <a:avLst/>
          </a:prstGeom>
          <a:noFill/>
        </p:spPr>
        <p:txBody>
          <a:bodyPr wrap="square">
            <a:spAutoFit/>
          </a:bodyPr>
          <a:lstStyle/>
          <a:p>
            <a:pPr algn="l">
              <a:defRPr sz="1100" b="1">
                <a:solidFill>
                  <a:srgbClr val="8E44AD"/>
                </a:solidFill>
                <a:latin typeface="Calibri"/>
              </a:defRPr>
            </a:pPr>
            <a:r>
              <a:t>Q-Learning RL Agent</a:t>
            </a:r>
          </a:p>
        </p:txBody>
      </p:sp>
      <p:graphicFrame>
        <p:nvGraphicFramePr>
          <p:cNvPr id="6" name="Table 5"/>
          <p:cNvGraphicFramePr>
            <a:graphicFrameLocks noGrp="1"/>
          </p:cNvGraphicFramePr>
          <p:nvPr/>
        </p:nvGraphicFramePr>
        <p:xfrm>
          <a:off x="274320" y="2103120"/>
          <a:ext cx="11430000" cy="1417320"/>
        </p:xfrm>
        <a:graphic>
          <a:graphicData uri="http://schemas.openxmlformats.org/drawingml/2006/table">
            <a:tbl>
              <a:tblPr firstRow="1" bandRow="1">
                <a:tableStyleId>{5C22544A-7EE6-4342-B048-85BDC9FD1C3A}</a:tableStyleId>
              </a:tblPr>
              <a:tblGrid>
                <a:gridCol w="1828800"/>
                <a:gridCol w="2011680"/>
                <a:gridCol w="2011680"/>
                <a:gridCol w="5577840"/>
              </a:tblGrid>
              <a:tr h="236220">
                <a:tc>
                  <a:txBody>
                    <a:bodyPr/>
                    <a:lstStyle/>
                    <a:p>
                      <a:pPr algn="ctr">
                        <a:defRPr sz="900" b="1">
                          <a:solidFill>
                            <a:srgbClr val="FFFFFF"/>
                          </a:solidFill>
                          <a:latin typeface="Calibri"/>
                        </a:defRPr>
                      </a:pPr>
                      <a:r>
                        <a:t>Parameter</a:t>
                      </a:r>
                    </a:p>
                  </a:txBody>
                  <a:tcPr>
                    <a:solidFill>
                      <a:srgbClr val="8E44AD"/>
                    </a:solidFill>
                  </a:tcPr>
                </a:tc>
                <a:tc>
                  <a:txBody>
                    <a:bodyPr/>
                    <a:lstStyle/>
                    <a:p>
                      <a:pPr algn="ctr">
                        <a:defRPr sz="900" b="1">
                          <a:solidFill>
                            <a:srgbClr val="FFFFFF"/>
                          </a:solidFill>
                          <a:latin typeface="Calibri"/>
                        </a:defRPr>
                      </a:pPr>
                      <a:r>
                        <a:t>Before</a:t>
                      </a:r>
                    </a:p>
                  </a:txBody>
                  <a:tcPr>
                    <a:solidFill>
                      <a:srgbClr val="8E44AD"/>
                    </a:solidFill>
                  </a:tcPr>
                </a:tc>
                <a:tc>
                  <a:txBody>
                    <a:bodyPr/>
                    <a:lstStyle/>
                    <a:p>
                      <a:pPr algn="ctr">
                        <a:defRPr sz="900" b="1">
                          <a:solidFill>
                            <a:srgbClr val="FFFFFF"/>
                          </a:solidFill>
                          <a:latin typeface="Calibri"/>
                        </a:defRPr>
                      </a:pPr>
                      <a:r>
                        <a:t>After</a:t>
                      </a:r>
                    </a:p>
                  </a:txBody>
                  <a:tcPr>
                    <a:solidFill>
                      <a:srgbClr val="8E44AD"/>
                    </a:solidFill>
                  </a:tcPr>
                </a:tc>
                <a:tc>
                  <a:txBody>
                    <a:bodyPr/>
                    <a:lstStyle/>
                    <a:p>
                      <a:pPr algn="ctr">
                        <a:defRPr sz="900" b="1">
                          <a:solidFill>
                            <a:srgbClr val="FFFFFF"/>
                          </a:solidFill>
                          <a:latin typeface="Calibri"/>
                        </a:defRPr>
                      </a:pPr>
                      <a:r>
                        <a:t>Rationale</a:t>
                      </a:r>
                    </a:p>
                  </a:txBody>
                  <a:tcPr>
                    <a:solidFill>
                      <a:srgbClr val="8E44AD"/>
                    </a:solidFill>
                  </a:tcPr>
                </a:tc>
              </a:tr>
              <a:tr h="236220">
                <a:tc>
                  <a:txBody>
                    <a:bodyPr/>
                    <a:lstStyle/>
                    <a:p>
                      <a:pPr algn="l">
                        <a:defRPr sz="900" b="0">
                          <a:solidFill>
                            <a:srgbClr val="000000"/>
                          </a:solidFill>
                          <a:latin typeface="Calibri"/>
                        </a:defRPr>
                      </a:pPr>
                      <a:r>
                        <a:t>Learning rate (α)</a:t>
                      </a:r>
                    </a:p>
                  </a:txBody>
                  <a:tcPr/>
                </a:tc>
                <a:tc>
                  <a:txBody>
                    <a:bodyPr/>
                    <a:lstStyle/>
                    <a:p>
                      <a:pPr algn="ctr">
                        <a:defRPr sz="900" b="0">
                          <a:solidFill>
                            <a:srgbClr val="000000"/>
                          </a:solidFill>
                          <a:latin typeface="Calibri"/>
                        </a:defRPr>
                      </a:pPr>
                      <a:r>
                        <a:t>0.05</a:t>
                      </a:r>
                    </a:p>
                  </a:txBody>
                  <a:tcPr/>
                </a:tc>
                <a:tc>
                  <a:txBody>
                    <a:bodyPr/>
                    <a:lstStyle/>
                    <a:p>
                      <a:pPr algn="ctr">
                        <a:defRPr sz="900" b="0">
                          <a:solidFill>
                            <a:srgbClr val="000000"/>
                          </a:solidFill>
                          <a:latin typeface="Calibri"/>
                        </a:defRPr>
                      </a:pPr>
                      <a:r>
                        <a:t>0.10</a:t>
                      </a:r>
                    </a:p>
                  </a:txBody>
                  <a:tcPr/>
                </a:tc>
                <a:tc>
                  <a:txBody>
                    <a:bodyPr/>
                    <a:lstStyle/>
                    <a:p>
                      <a:pPr algn="ctr">
                        <a:defRPr sz="900" b="0">
                          <a:solidFill>
                            <a:srgbClr val="000000"/>
                          </a:solidFill>
                          <a:latin typeface="Calibri"/>
                        </a:defRPr>
                      </a:pPr>
                      <a:r>
                        <a:t>Faster convergence on real data</a:t>
                      </a:r>
                    </a:p>
                  </a:txBody>
                  <a:tcPr/>
                </a:tc>
              </a:tr>
              <a:tr h="236220">
                <a:tc>
                  <a:txBody>
                    <a:bodyPr/>
                    <a:lstStyle/>
                    <a:p>
                      <a:pPr algn="l">
                        <a:defRPr sz="900" b="0">
                          <a:solidFill>
                            <a:srgbClr val="000000"/>
                          </a:solidFill>
                          <a:latin typeface="Calibri"/>
                        </a:defRPr>
                      </a:pPr>
                      <a:r>
                        <a:t>Discount (γ)</a:t>
                      </a:r>
                    </a:p>
                  </a:txBody>
                  <a:tcPr>
                    <a:solidFill>
                      <a:srgbClr val="ECF0F1"/>
                    </a:solidFill>
                  </a:tcPr>
                </a:tc>
                <a:tc>
                  <a:txBody>
                    <a:bodyPr/>
                    <a:lstStyle/>
                    <a:p>
                      <a:pPr algn="ctr">
                        <a:defRPr sz="900" b="0">
                          <a:solidFill>
                            <a:srgbClr val="000000"/>
                          </a:solidFill>
                          <a:latin typeface="Calibri"/>
                        </a:defRPr>
                      </a:pPr>
                      <a:r>
                        <a:t>0.95</a:t>
                      </a:r>
                    </a:p>
                  </a:txBody>
                  <a:tcPr>
                    <a:solidFill>
                      <a:srgbClr val="ECF0F1"/>
                    </a:solidFill>
                  </a:tcPr>
                </a:tc>
                <a:tc>
                  <a:txBody>
                    <a:bodyPr/>
                    <a:lstStyle/>
                    <a:p>
                      <a:pPr algn="ctr">
                        <a:defRPr sz="900" b="0">
                          <a:solidFill>
                            <a:srgbClr val="000000"/>
                          </a:solidFill>
                          <a:latin typeface="Calibri"/>
                        </a:defRPr>
                      </a:pPr>
                      <a:r>
                        <a:t>0.90</a:t>
                      </a:r>
                    </a:p>
                  </a:txBody>
                  <a:tcPr>
                    <a:solidFill>
                      <a:srgbClr val="ECF0F1"/>
                    </a:solidFill>
                  </a:tcPr>
                </a:tc>
                <a:tc>
                  <a:txBody>
                    <a:bodyPr/>
                    <a:lstStyle/>
                    <a:p>
                      <a:pPr algn="ctr">
                        <a:defRPr sz="900" b="0">
                          <a:solidFill>
                            <a:srgbClr val="000000"/>
                          </a:solidFill>
                          <a:latin typeface="Calibri"/>
                        </a:defRPr>
                      </a:pPr>
                      <a:r>
                        <a:t>Less weight on distant future</a:t>
                      </a:r>
                    </a:p>
                  </a:txBody>
                  <a:tcPr>
                    <a:solidFill>
                      <a:srgbClr val="ECF0F1"/>
                    </a:solidFill>
                  </a:tcPr>
                </a:tc>
              </a:tr>
              <a:tr h="236220">
                <a:tc>
                  <a:txBody>
                    <a:bodyPr/>
                    <a:lstStyle/>
                    <a:p>
                      <a:pPr algn="l">
                        <a:defRPr sz="900" b="0">
                          <a:solidFill>
                            <a:srgbClr val="000000"/>
                          </a:solidFill>
                          <a:latin typeface="Calibri"/>
                        </a:defRPr>
                      </a:pPr>
                      <a:r>
                        <a:t>ε-start</a:t>
                      </a:r>
                    </a:p>
                  </a:txBody>
                  <a:tcPr/>
                </a:tc>
                <a:tc>
                  <a:txBody>
                    <a:bodyPr/>
                    <a:lstStyle/>
                    <a:p>
                      <a:pPr algn="ctr">
                        <a:defRPr sz="900" b="0">
                          <a:solidFill>
                            <a:srgbClr val="000000"/>
                          </a:solidFill>
                          <a:latin typeface="Calibri"/>
                        </a:defRPr>
                      </a:pPr>
                      <a:r>
                        <a:t>0.15</a:t>
                      </a:r>
                    </a:p>
                  </a:txBody>
                  <a:tcPr/>
                </a:tc>
                <a:tc>
                  <a:txBody>
                    <a:bodyPr/>
                    <a:lstStyle/>
                    <a:p>
                      <a:pPr algn="ctr">
                        <a:defRPr sz="900" b="0">
                          <a:solidFill>
                            <a:srgbClr val="000000"/>
                          </a:solidFill>
                          <a:latin typeface="Calibri"/>
                        </a:defRPr>
                      </a:pPr>
                      <a:r>
                        <a:t>0.30</a:t>
                      </a:r>
                    </a:p>
                  </a:txBody>
                  <a:tcPr/>
                </a:tc>
                <a:tc>
                  <a:txBody>
                    <a:bodyPr/>
                    <a:lstStyle/>
                    <a:p>
                      <a:pPr algn="ctr">
                        <a:defRPr sz="900" b="0">
                          <a:solidFill>
                            <a:srgbClr val="000000"/>
                          </a:solidFill>
                          <a:latin typeface="Calibri"/>
                        </a:defRPr>
                      </a:pPr>
                      <a:r>
                        <a:t>More initial exploration</a:t>
                      </a:r>
                    </a:p>
                  </a:txBody>
                  <a:tcPr/>
                </a:tc>
              </a:tr>
              <a:tr h="236220">
                <a:tc>
                  <a:txBody>
                    <a:bodyPr/>
                    <a:lstStyle/>
                    <a:p>
                      <a:pPr algn="l">
                        <a:defRPr sz="900" b="0">
                          <a:solidFill>
                            <a:srgbClr val="000000"/>
                          </a:solidFill>
                          <a:latin typeface="Calibri"/>
                        </a:defRPr>
                      </a:pPr>
                      <a:r>
                        <a:t>ε-decay</a:t>
                      </a:r>
                    </a:p>
                  </a:txBody>
                  <a:tcPr>
                    <a:solidFill>
                      <a:srgbClr val="ECF0F1"/>
                    </a:solidFill>
                  </a:tcPr>
                </a:tc>
                <a:tc>
                  <a:txBody>
                    <a:bodyPr/>
                    <a:lstStyle/>
                    <a:p>
                      <a:pPr algn="ctr">
                        <a:defRPr sz="900" b="0">
                          <a:solidFill>
                            <a:srgbClr val="000000"/>
                          </a:solidFill>
                          <a:latin typeface="Calibri"/>
                        </a:defRPr>
                      </a:pPr>
                      <a:r>
                        <a:t>0.995</a:t>
                      </a:r>
                    </a:p>
                  </a:txBody>
                  <a:tcPr>
                    <a:solidFill>
                      <a:srgbClr val="ECF0F1"/>
                    </a:solidFill>
                  </a:tcPr>
                </a:tc>
                <a:tc>
                  <a:txBody>
                    <a:bodyPr/>
                    <a:lstStyle/>
                    <a:p>
                      <a:pPr algn="ctr">
                        <a:defRPr sz="900" b="0">
                          <a:solidFill>
                            <a:srgbClr val="000000"/>
                          </a:solidFill>
                          <a:latin typeface="Calibri"/>
                        </a:defRPr>
                      </a:pPr>
                      <a:r>
                        <a:t>0.997</a:t>
                      </a:r>
                    </a:p>
                  </a:txBody>
                  <a:tcPr>
                    <a:solidFill>
                      <a:srgbClr val="ECF0F1"/>
                    </a:solidFill>
                  </a:tcPr>
                </a:tc>
                <a:tc>
                  <a:txBody>
                    <a:bodyPr/>
                    <a:lstStyle/>
                    <a:p>
                      <a:pPr algn="ctr">
                        <a:defRPr sz="900" b="0">
                          <a:solidFill>
                            <a:srgbClr val="000000"/>
                          </a:solidFill>
                          <a:latin typeface="Calibri"/>
                        </a:defRPr>
                      </a:pPr>
                      <a:r>
                        <a:t>Slower decay preserves exploration</a:t>
                      </a:r>
                    </a:p>
                  </a:txBody>
                  <a:tcPr>
                    <a:solidFill>
                      <a:srgbClr val="ECF0F1"/>
                    </a:solidFill>
                  </a:tcPr>
                </a:tc>
              </a:tr>
              <a:tr h="236220">
                <a:tc>
                  <a:txBody>
                    <a:bodyPr/>
                    <a:lstStyle/>
                    <a:p>
                      <a:pPr algn="l">
                        <a:defRPr sz="900" b="0">
                          <a:solidFill>
                            <a:srgbClr val="000000"/>
                          </a:solidFill>
                          <a:latin typeface="Calibri"/>
                        </a:defRPr>
                      </a:pPr>
                      <a:r>
                        <a:t>ε-min</a:t>
                      </a:r>
                    </a:p>
                  </a:txBody>
                  <a:tcPr/>
                </a:tc>
                <a:tc>
                  <a:txBody>
                    <a:bodyPr/>
                    <a:lstStyle/>
                    <a:p>
                      <a:pPr algn="ctr">
                        <a:defRPr sz="900" b="0">
                          <a:solidFill>
                            <a:srgbClr val="000000"/>
                          </a:solidFill>
                          <a:latin typeface="Calibri"/>
                        </a:defRPr>
                      </a:pPr>
                      <a:r>
                        <a:t>0.05</a:t>
                      </a:r>
                    </a:p>
                  </a:txBody>
                  <a:tcPr/>
                </a:tc>
                <a:tc>
                  <a:txBody>
                    <a:bodyPr/>
                    <a:lstStyle/>
                    <a:p>
                      <a:pPr algn="ctr">
                        <a:defRPr sz="900" b="0">
                          <a:solidFill>
                            <a:srgbClr val="000000"/>
                          </a:solidFill>
                          <a:latin typeface="Calibri"/>
                        </a:defRPr>
                      </a:pPr>
                      <a:r>
                        <a:t>0.03</a:t>
                      </a:r>
                    </a:p>
                  </a:txBody>
                  <a:tcPr/>
                </a:tc>
                <a:tc>
                  <a:txBody>
                    <a:bodyPr/>
                    <a:lstStyle/>
                    <a:p>
                      <a:pPr algn="ctr">
                        <a:defRPr sz="900" b="0">
                          <a:solidFill>
                            <a:srgbClr val="000000"/>
                          </a:solidFill>
                          <a:latin typeface="Calibri"/>
                        </a:defRPr>
                      </a:pPr>
                      <a:r>
                        <a:t>Lower floor for exploitation</a:t>
                      </a:r>
                    </a:p>
                  </a:txBody>
                  <a:tcPr/>
                </a:tc>
              </a:tr>
            </a:tbl>
          </a:graphicData>
        </a:graphic>
      </p:graphicFrame>
      <p:sp>
        <p:nvSpPr>
          <p:cNvPr id="7" name="TextBox 6"/>
          <p:cNvSpPr txBox="1"/>
          <p:nvPr/>
        </p:nvSpPr>
        <p:spPr>
          <a:xfrm>
            <a:off x="274320" y="3611880"/>
            <a:ext cx="3657600" cy="228600"/>
          </a:xfrm>
          <a:prstGeom prst="rect">
            <a:avLst/>
          </a:prstGeom>
          <a:noFill/>
        </p:spPr>
        <p:txBody>
          <a:bodyPr wrap="square">
            <a:spAutoFit/>
          </a:bodyPr>
          <a:lstStyle/>
          <a:p>
            <a:pPr algn="l">
              <a:defRPr sz="1100" b="1">
                <a:solidFill>
                  <a:srgbClr val="8E44AD"/>
                </a:solidFill>
                <a:latin typeface="Calibri"/>
              </a:defRPr>
            </a:pPr>
            <a:r>
              <a:t>Reward / Penalty Structure</a:t>
            </a:r>
          </a:p>
        </p:txBody>
      </p:sp>
      <p:graphicFrame>
        <p:nvGraphicFramePr>
          <p:cNvPr id="8" name="Table 7"/>
          <p:cNvGraphicFramePr>
            <a:graphicFrameLocks noGrp="1"/>
          </p:cNvGraphicFramePr>
          <p:nvPr/>
        </p:nvGraphicFramePr>
        <p:xfrm>
          <a:off x="274320" y="3840480"/>
          <a:ext cx="11430000" cy="1645920"/>
        </p:xfrm>
        <a:graphic>
          <a:graphicData uri="http://schemas.openxmlformats.org/drawingml/2006/table">
            <a:tbl>
              <a:tblPr firstRow="1" bandRow="1">
                <a:tableStyleId>{5C22544A-7EE6-4342-B048-85BDC9FD1C3A}</a:tableStyleId>
              </a:tblPr>
              <a:tblGrid>
                <a:gridCol w="1828800"/>
                <a:gridCol w="2011680"/>
                <a:gridCol w="2011680"/>
                <a:gridCol w="5577840"/>
              </a:tblGrid>
              <a:tr h="235131">
                <a:tc>
                  <a:txBody>
                    <a:bodyPr/>
                    <a:lstStyle/>
                    <a:p>
                      <a:pPr algn="ctr">
                        <a:defRPr sz="900" b="1">
                          <a:solidFill>
                            <a:srgbClr val="FFFFFF"/>
                          </a:solidFill>
                          <a:latin typeface="Calibri"/>
                        </a:defRPr>
                      </a:pPr>
                      <a:r>
                        <a:t>Outcome</a:t>
                      </a:r>
                    </a:p>
                  </a:txBody>
                  <a:tcPr>
                    <a:solidFill>
                      <a:srgbClr val="8E44AD"/>
                    </a:solidFill>
                  </a:tcPr>
                </a:tc>
                <a:tc>
                  <a:txBody>
                    <a:bodyPr/>
                    <a:lstStyle/>
                    <a:p>
                      <a:pPr algn="ctr">
                        <a:defRPr sz="900" b="1">
                          <a:solidFill>
                            <a:srgbClr val="FFFFFF"/>
                          </a:solidFill>
                          <a:latin typeface="Calibri"/>
                        </a:defRPr>
                      </a:pPr>
                      <a:r>
                        <a:t>Before</a:t>
                      </a:r>
                    </a:p>
                  </a:txBody>
                  <a:tcPr>
                    <a:solidFill>
                      <a:srgbClr val="8E44AD"/>
                    </a:solidFill>
                  </a:tcPr>
                </a:tc>
                <a:tc>
                  <a:txBody>
                    <a:bodyPr/>
                    <a:lstStyle/>
                    <a:p>
                      <a:pPr algn="ctr">
                        <a:defRPr sz="900" b="1">
                          <a:solidFill>
                            <a:srgbClr val="FFFFFF"/>
                          </a:solidFill>
                          <a:latin typeface="Calibri"/>
                        </a:defRPr>
                      </a:pPr>
                      <a:r>
                        <a:t>After</a:t>
                      </a:r>
                    </a:p>
                  </a:txBody>
                  <a:tcPr>
                    <a:solidFill>
                      <a:srgbClr val="8E44AD"/>
                    </a:solidFill>
                  </a:tcPr>
                </a:tc>
                <a:tc>
                  <a:txBody>
                    <a:bodyPr/>
                    <a:lstStyle/>
                    <a:p>
                      <a:pPr algn="ctr">
                        <a:defRPr sz="900" b="1">
                          <a:solidFill>
                            <a:srgbClr val="FFFFFF"/>
                          </a:solidFill>
                          <a:latin typeface="Calibri"/>
                        </a:defRPr>
                      </a:pPr>
                      <a:r>
                        <a:t>Rationale</a:t>
                      </a:r>
                    </a:p>
                  </a:txBody>
                  <a:tcPr>
                    <a:solidFill>
                      <a:srgbClr val="8E44AD"/>
                    </a:solidFill>
                  </a:tcPr>
                </a:tc>
              </a:tr>
              <a:tr h="235131">
                <a:tc>
                  <a:txBody>
                    <a:bodyPr/>
                    <a:lstStyle/>
                    <a:p>
                      <a:pPr algn="l">
                        <a:defRPr sz="900" b="0">
                          <a:solidFill>
                            <a:srgbClr val="000000"/>
                          </a:solidFill>
                          <a:latin typeface="Calibri"/>
                        </a:defRPr>
                      </a:pPr>
                      <a:r>
                        <a:t>True Positive (TP)</a:t>
                      </a:r>
                    </a:p>
                  </a:txBody>
                  <a:tcPr/>
                </a:tc>
                <a:tc>
                  <a:txBody>
                    <a:bodyPr/>
                    <a:lstStyle/>
                    <a:p>
                      <a:pPr algn="ctr">
                        <a:defRPr sz="900" b="0">
                          <a:solidFill>
                            <a:srgbClr val="000000"/>
                          </a:solidFill>
                          <a:latin typeface="Calibri"/>
                        </a:defRPr>
                      </a:pPr>
                      <a:r>
                        <a:t>+1.0</a:t>
                      </a:r>
                    </a:p>
                  </a:txBody>
                  <a:tcPr/>
                </a:tc>
                <a:tc>
                  <a:txBody>
                    <a:bodyPr/>
                    <a:lstStyle/>
                    <a:p>
                      <a:pPr algn="ctr">
                        <a:defRPr sz="900" b="0">
                          <a:solidFill>
                            <a:srgbClr val="000000"/>
                          </a:solidFill>
                          <a:latin typeface="Calibri"/>
                        </a:defRPr>
                      </a:pPr>
                      <a:r>
                        <a:t>+2.0</a:t>
                      </a:r>
                    </a:p>
                  </a:txBody>
                  <a:tcPr/>
                </a:tc>
                <a:tc>
                  <a:txBody>
                    <a:bodyPr/>
                    <a:lstStyle/>
                    <a:p>
                      <a:pPr algn="ctr">
                        <a:defRPr sz="900" b="0">
                          <a:solidFill>
                            <a:srgbClr val="000000"/>
                          </a:solidFill>
                          <a:latin typeface="Calibri"/>
                        </a:defRPr>
                      </a:pPr>
                      <a:r>
                        <a:t>Stronger attack-detection incentive</a:t>
                      </a:r>
                    </a:p>
                  </a:txBody>
                  <a:tcPr/>
                </a:tc>
              </a:tr>
              <a:tr h="235131">
                <a:tc>
                  <a:txBody>
                    <a:bodyPr/>
                    <a:lstStyle/>
                    <a:p>
                      <a:pPr algn="l">
                        <a:defRPr sz="900" b="0">
                          <a:solidFill>
                            <a:srgbClr val="000000"/>
                          </a:solidFill>
                          <a:latin typeface="Calibri"/>
                        </a:defRPr>
                      </a:pPr>
                      <a:r>
                        <a:t>False Negative (FN)</a:t>
                      </a:r>
                    </a:p>
                  </a:txBody>
                  <a:tcPr>
                    <a:solidFill>
                      <a:srgbClr val="ECF0F1"/>
                    </a:solidFill>
                  </a:tcPr>
                </a:tc>
                <a:tc>
                  <a:txBody>
                    <a:bodyPr/>
                    <a:lstStyle/>
                    <a:p>
                      <a:pPr algn="ctr">
                        <a:defRPr sz="900" b="0">
                          <a:solidFill>
                            <a:srgbClr val="000000"/>
                          </a:solidFill>
                          <a:latin typeface="Calibri"/>
                        </a:defRPr>
                      </a:pPr>
                      <a:r>
                        <a:t>−2.0</a:t>
                      </a:r>
                    </a:p>
                  </a:txBody>
                  <a:tcPr>
                    <a:solidFill>
                      <a:srgbClr val="ECF0F1"/>
                    </a:solidFill>
                  </a:tcPr>
                </a:tc>
                <a:tc>
                  <a:txBody>
                    <a:bodyPr/>
                    <a:lstStyle/>
                    <a:p>
                      <a:pPr algn="ctr">
                        <a:defRPr sz="900" b="0">
                          <a:solidFill>
                            <a:srgbClr val="000000"/>
                          </a:solidFill>
                          <a:latin typeface="Calibri"/>
                        </a:defRPr>
                      </a:pPr>
                      <a:r>
                        <a:t>−4.0</a:t>
                      </a:r>
                    </a:p>
                  </a:txBody>
                  <a:tcPr>
                    <a:solidFill>
                      <a:srgbClr val="ECF0F1"/>
                    </a:solidFill>
                  </a:tcPr>
                </a:tc>
                <a:tc>
                  <a:txBody>
                    <a:bodyPr/>
                    <a:lstStyle/>
                    <a:p>
                      <a:pPr algn="ctr">
                        <a:defRPr sz="900" b="0">
                          <a:solidFill>
                            <a:srgbClr val="000000"/>
                          </a:solidFill>
                          <a:latin typeface="Calibri"/>
                        </a:defRPr>
                      </a:pPr>
                      <a:r>
                        <a:t>Harsh penalty: missed attacks critical</a:t>
                      </a:r>
                    </a:p>
                  </a:txBody>
                  <a:tcPr>
                    <a:solidFill>
                      <a:srgbClr val="ECF0F1"/>
                    </a:solidFill>
                  </a:tcPr>
                </a:tc>
              </a:tr>
              <a:tr h="235131">
                <a:tc>
                  <a:txBody>
                    <a:bodyPr/>
                    <a:lstStyle/>
                    <a:p>
                      <a:pPr algn="l">
                        <a:defRPr sz="900" b="0">
                          <a:solidFill>
                            <a:srgbClr val="000000"/>
                          </a:solidFill>
                          <a:latin typeface="Calibri"/>
                        </a:defRPr>
                      </a:pPr>
                      <a:r>
                        <a:t>True Negative (TN)</a:t>
                      </a:r>
                    </a:p>
                  </a:txBody>
                  <a:tcPr/>
                </a:tc>
                <a:tc>
                  <a:txBody>
                    <a:bodyPr/>
                    <a:lstStyle/>
                    <a:p>
                      <a:pPr algn="ctr">
                        <a:defRPr sz="900" b="0">
                          <a:solidFill>
                            <a:srgbClr val="000000"/>
                          </a:solidFill>
                          <a:latin typeface="Calibri"/>
                        </a:defRPr>
                      </a:pPr>
                      <a:r>
                        <a:t>+0.5</a:t>
                      </a:r>
                    </a:p>
                  </a:txBody>
                  <a:tcPr/>
                </a:tc>
                <a:tc>
                  <a:txBody>
                    <a:bodyPr/>
                    <a:lstStyle/>
                    <a:p>
                      <a:pPr algn="ctr">
                        <a:defRPr sz="900" b="0">
                          <a:solidFill>
                            <a:srgbClr val="000000"/>
                          </a:solidFill>
                          <a:latin typeface="Calibri"/>
                        </a:defRPr>
                      </a:pPr>
                      <a:r>
                        <a:t>+1.0</a:t>
                      </a:r>
                    </a:p>
                  </a:txBody>
                  <a:tcPr/>
                </a:tc>
                <a:tc>
                  <a:txBody>
                    <a:bodyPr/>
                    <a:lstStyle/>
                    <a:p>
                      <a:pPr algn="ctr">
                        <a:defRPr sz="900" b="0">
                          <a:solidFill>
                            <a:srgbClr val="000000"/>
                          </a:solidFill>
                          <a:latin typeface="Calibri"/>
                        </a:defRPr>
                      </a:pPr>
                      <a:r>
                        <a:t>Better reward for correct benign</a:t>
                      </a:r>
                    </a:p>
                  </a:txBody>
                  <a:tcPr/>
                </a:tc>
              </a:tr>
              <a:tr h="235131">
                <a:tc>
                  <a:txBody>
                    <a:bodyPr/>
                    <a:lstStyle/>
                    <a:p>
                      <a:pPr algn="l">
                        <a:defRPr sz="900" b="0">
                          <a:solidFill>
                            <a:srgbClr val="000000"/>
                          </a:solidFill>
                          <a:latin typeface="Calibri"/>
                        </a:defRPr>
                      </a:pPr>
                      <a:r>
                        <a:t>False Positive (FP)</a:t>
                      </a:r>
                    </a:p>
                  </a:txBody>
                  <a:tcPr>
                    <a:solidFill>
                      <a:srgbClr val="ECF0F1"/>
                    </a:solidFill>
                  </a:tcPr>
                </a:tc>
                <a:tc>
                  <a:txBody>
                    <a:bodyPr/>
                    <a:lstStyle/>
                    <a:p>
                      <a:pPr algn="ctr">
                        <a:defRPr sz="900" b="0">
                          <a:solidFill>
                            <a:srgbClr val="000000"/>
                          </a:solidFill>
                          <a:latin typeface="Calibri"/>
                        </a:defRPr>
                      </a:pPr>
                      <a:r>
                        <a:t>−1.0</a:t>
                      </a:r>
                    </a:p>
                  </a:txBody>
                  <a:tcPr>
                    <a:solidFill>
                      <a:srgbClr val="ECF0F1"/>
                    </a:solidFill>
                  </a:tcPr>
                </a:tc>
                <a:tc>
                  <a:txBody>
                    <a:bodyPr/>
                    <a:lstStyle/>
                    <a:p>
                      <a:pPr algn="ctr">
                        <a:defRPr sz="900" b="0">
                          <a:solidFill>
                            <a:srgbClr val="000000"/>
                          </a:solidFill>
                          <a:latin typeface="Calibri"/>
                        </a:defRPr>
                      </a:pPr>
                      <a:r>
                        <a:t>−1.5</a:t>
                      </a:r>
                    </a:p>
                  </a:txBody>
                  <a:tcPr>
                    <a:solidFill>
                      <a:srgbClr val="ECF0F1"/>
                    </a:solidFill>
                  </a:tcPr>
                </a:tc>
                <a:tc>
                  <a:txBody>
                    <a:bodyPr/>
                    <a:lstStyle/>
                    <a:p>
                      <a:pPr algn="ctr">
                        <a:defRPr sz="900" b="0">
                          <a:solidFill>
                            <a:srgbClr val="000000"/>
                          </a:solidFill>
                          <a:latin typeface="Calibri"/>
                        </a:defRPr>
                      </a:pPr>
                      <a:r>
                        <a:t>Moderate penalty for false alarms</a:t>
                      </a:r>
                    </a:p>
                  </a:txBody>
                  <a:tcPr>
                    <a:solidFill>
                      <a:srgbClr val="ECF0F1"/>
                    </a:solidFill>
                  </a:tcPr>
                </a:tc>
              </a:tr>
              <a:tr h="235131">
                <a:tc>
                  <a:txBody>
                    <a:bodyPr/>
                    <a:lstStyle/>
                    <a:p>
                      <a:pPr algn="l">
                        <a:defRPr sz="900" b="0">
                          <a:solidFill>
                            <a:srgbClr val="000000"/>
                          </a:solidFill>
                          <a:latin typeface="Calibri"/>
                        </a:defRPr>
                      </a:pPr>
                      <a:r>
                        <a:t>Z3 Shield Bonus</a:t>
                      </a:r>
                    </a:p>
                  </a:txBody>
                  <a:tcPr/>
                </a:tc>
                <a:tc>
                  <a:txBody>
                    <a:bodyPr/>
                    <a:lstStyle/>
                    <a:p>
                      <a:pPr algn="ctr">
                        <a:defRPr sz="900" b="0">
                          <a:solidFill>
                            <a:srgbClr val="000000"/>
                          </a:solidFill>
                          <a:latin typeface="Calibri"/>
                        </a:defRPr>
                      </a:pPr>
                      <a:r>
                        <a:t>+0.5</a:t>
                      </a:r>
                    </a:p>
                  </a:txBody>
                  <a:tcPr/>
                </a:tc>
                <a:tc>
                  <a:txBody>
                    <a:bodyPr/>
                    <a:lstStyle/>
                    <a:p>
                      <a:pPr algn="ctr">
                        <a:defRPr sz="900" b="0">
                          <a:solidFill>
                            <a:srgbClr val="000000"/>
                          </a:solidFill>
                          <a:latin typeface="Calibri"/>
                        </a:defRPr>
                      </a:pPr>
                      <a:r>
                        <a:t>+1.0</a:t>
                      </a:r>
                    </a:p>
                  </a:txBody>
                  <a:tcPr/>
                </a:tc>
                <a:tc>
                  <a:txBody>
                    <a:bodyPr/>
                    <a:lstStyle/>
                    <a:p>
                      <a:pPr algn="ctr">
                        <a:defRPr sz="900" b="0">
                          <a:solidFill>
                            <a:srgbClr val="000000"/>
                          </a:solidFill>
                          <a:latin typeface="Calibri"/>
                        </a:defRPr>
                      </a:pPr>
                      <a:r>
                        <a:t>Encourage RL to trust Z3 overrides</a:t>
                      </a:r>
                    </a:p>
                  </a:txBody>
                  <a:tcPr/>
                </a:tc>
              </a:tr>
              <a:tr h="235134">
                <a:tc>
                  <a:txBody>
                    <a:bodyPr/>
                    <a:lstStyle/>
                    <a:p>
                      <a:pPr algn="l">
                        <a:defRPr sz="900" b="0">
                          <a:solidFill>
                            <a:srgbClr val="000000"/>
                          </a:solidFill>
                          <a:latin typeface="Calibri"/>
                        </a:defRPr>
                      </a:pPr>
                      <a:r>
                        <a:t>UNKNOWN benign</a:t>
                      </a:r>
                    </a:p>
                  </a:txBody>
                  <a:tcPr>
                    <a:solidFill>
                      <a:srgbClr val="ECF0F1"/>
                    </a:solidFill>
                  </a:tcPr>
                </a:tc>
                <a:tc>
                  <a:txBody>
                    <a:bodyPr/>
                    <a:lstStyle/>
                    <a:p>
                      <a:pPr algn="ctr">
                        <a:defRPr sz="900" b="0">
                          <a:solidFill>
                            <a:srgbClr val="000000"/>
                          </a:solidFill>
                          <a:latin typeface="Calibri"/>
                        </a:defRPr>
                      </a:pPr>
                      <a:r>
                        <a:t>0.0</a:t>
                      </a:r>
                    </a:p>
                  </a:txBody>
                  <a:tcPr>
                    <a:solidFill>
                      <a:srgbClr val="ECF0F1"/>
                    </a:solidFill>
                  </a:tcPr>
                </a:tc>
                <a:tc>
                  <a:txBody>
                    <a:bodyPr/>
                    <a:lstStyle/>
                    <a:p>
                      <a:pPr algn="ctr">
                        <a:defRPr sz="900" b="0">
                          <a:solidFill>
                            <a:srgbClr val="000000"/>
                          </a:solidFill>
                          <a:latin typeface="Calibri"/>
                        </a:defRPr>
                      </a:pPr>
                      <a:r>
                        <a:t>−0.3</a:t>
                      </a:r>
                    </a:p>
                  </a:txBody>
                  <a:tcPr>
                    <a:solidFill>
                      <a:srgbClr val="ECF0F1"/>
                    </a:solidFill>
                  </a:tcPr>
                </a:tc>
                <a:tc>
                  <a:txBody>
                    <a:bodyPr/>
                    <a:lstStyle/>
                    <a:p>
                      <a:pPr algn="ctr">
                        <a:defRPr sz="900" b="0">
                          <a:solidFill>
                            <a:srgbClr val="000000"/>
                          </a:solidFill>
                          <a:latin typeface="Calibri"/>
                        </a:defRPr>
                      </a:pPr>
                      <a:r>
                        <a:t>Penalize ambiguous benign labels</a:t>
                      </a:r>
                    </a:p>
                  </a:txBody>
                  <a:tcPr>
                    <a:solidFill>
                      <a:srgbClr val="ECF0F1"/>
                    </a:solidFill>
                  </a:tcPr>
                </a:tc>
              </a:tr>
            </a:tbl>
          </a:graphicData>
        </a:graphic>
      </p:graphicFrame>
      <p:sp>
        <p:nvSpPr>
          <p:cNvPr id="9" name="TextBox 8"/>
          <p:cNvSpPr txBox="1"/>
          <p:nvPr/>
        </p:nvSpPr>
        <p:spPr>
          <a:xfrm>
            <a:off x="274320" y="5577840"/>
            <a:ext cx="4572000" cy="228600"/>
          </a:xfrm>
          <a:prstGeom prst="rect">
            <a:avLst/>
          </a:prstGeom>
          <a:noFill/>
        </p:spPr>
        <p:txBody>
          <a:bodyPr wrap="square">
            <a:spAutoFit/>
          </a:bodyPr>
          <a:lstStyle/>
          <a:p>
            <a:pPr algn="l">
              <a:defRPr sz="1100" b="1">
                <a:solidFill>
                  <a:srgbClr val="8E44AD"/>
                </a:solidFill>
                <a:latin typeface="Calibri"/>
              </a:defRPr>
            </a:pPr>
            <a:r>
              <a:t>Feature Engineering &amp; Pipeline</a:t>
            </a:r>
          </a:p>
        </p:txBody>
      </p:sp>
      <p:graphicFrame>
        <p:nvGraphicFramePr>
          <p:cNvPr id="10" name="Table 9"/>
          <p:cNvGraphicFramePr>
            <a:graphicFrameLocks noGrp="1"/>
          </p:cNvGraphicFramePr>
          <p:nvPr/>
        </p:nvGraphicFramePr>
        <p:xfrm>
          <a:off x="274320" y="5806440"/>
          <a:ext cx="11430000" cy="1188720"/>
        </p:xfrm>
        <a:graphic>
          <a:graphicData uri="http://schemas.openxmlformats.org/drawingml/2006/table">
            <a:tbl>
              <a:tblPr firstRow="1" bandRow="1">
                <a:tableStyleId>{5C22544A-7EE6-4342-B048-85BDC9FD1C3A}</a:tableStyleId>
              </a:tblPr>
              <a:tblGrid>
                <a:gridCol w="1828800"/>
                <a:gridCol w="2011680"/>
                <a:gridCol w="2011680"/>
                <a:gridCol w="5577840"/>
              </a:tblGrid>
              <a:tr h="237744">
                <a:tc>
                  <a:txBody>
                    <a:bodyPr/>
                    <a:lstStyle/>
                    <a:p>
                      <a:pPr algn="ctr">
                        <a:defRPr sz="900" b="1">
                          <a:solidFill>
                            <a:srgbClr val="FFFFFF"/>
                          </a:solidFill>
                          <a:latin typeface="Calibri"/>
                        </a:defRPr>
                      </a:pPr>
                      <a:r>
                        <a:t>Setting</a:t>
                      </a:r>
                    </a:p>
                  </a:txBody>
                  <a:tcPr>
                    <a:solidFill>
                      <a:srgbClr val="8E44AD"/>
                    </a:solidFill>
                  </a:tcPr>
                </a:tc>
                <a:tc>
                  <a:txBody>
                    <a:bodyPr/>
                    <a:lstStyle/>
                    <a:p>
                      <a:pPr algn="ctr">
                        <a:defRPr sz="900" b="1">
                          <a:solidFill>
                            <a:srgbClr val="FFFFFF"/>
                          </a:solidFill>
                          <a:latin typeface="Calibri"/>
                        </a:defRPr>
                      </a:pPr>
                      <a:r>
                        <a:t>Before</a:t>
                      </a:r>
                    </a:p>
                  </a:txBody>
                  <a:tcPr>
                    <a:solidFill>
                      <a:srgbClr val="8E44AD"/>
                    </a:solidFill>
                  </a:tcPr>
                </a:tc>
                <a:tc>
                  <a:txBody>
                    <a:bodyPr/>
                    <a:lstStyle/>
                    <a:p>
                      <a:pPr algn="ctr">
                        <a:defRPr sz="900" b="1">
                          <a:solidFill>
                            <a:srgbClr val="FFFFFF"/>
                          </a:solidFill>
                          <a:latin typeface="Calibri"/>
                        </a:defRPr>
                      </a:pPr>
                      <a:r>
                        <a:t>After</a:t>
                      </a:r>
                    </a:p>
                  </a:txBody>
                  <a:tcPr>
                    <a:solidFill>
                      <a:srgbClr val="8E44AD"/>
                    </a:solidFill>
                  </a:tcPr>
                </a:tc>
                <a:tc>
                  <a:txBody>
                    <a:bodyPr/>
                    <a:lstStyle/>
                    <a:p>
                      <a:pPr algn="ctr">
                        <a:defRPr sz="900" b="1">
                          <a:solidFill>
                            <a:srgbClr val="FFFFFF"/>
                          </a:solidFill>
                          <a:latin typeface="Calibri"/>
                        </a:defRPr>
                      </a:pPr>
                      <a:r>
                        <a:t>Rationale</a:t>
                      </a:r>
                    </a:p>
                  </a:txBody>
                  <a:tcPr>
                    <a:solidFill>
                      <a:srgbClr val="8E44AD"/>
                    </a:solidFill>
                  </a:tcPr>
                </a:tc>
              </a:tr>
              <a:tr h="237744">
                <a:tc>
                  <a:txBody>
                    <a:bodyPr/>
                    <a:lstStyle/>
                    <a:p>
                      <a:pPr algn="l">
                        <a:defRPr sz="900" b="0">
                          <a:solidFill>
                            <a:srgbClr val="000000"/>
                          </a:solidFill>
                          <a:latin typeface="Calibri"/>
                        </a:defRPr>
                      </a:pPr>
                      <a:r>
                        <a:t>Feature count</a:t>
                      </a:r>
                    </a:p>
                  </a:txBody>
                  <a:tcPr/>
                </a:tc>
                <a:tc>
                  <a:txBody>
                    <a:bodyPr/>
                    <a:lstStyle/>
                    <a:p>
                      <a:pPr algn="ctr">
                        <a:defRPr sz="900" b="0">
                          <a:solidFill>
                            <a:srgbClr val="000000"/>
                          </a:solidFill>
                          <a:latin typeface="Calibri"/>
                        </a:defRPr>
                      </a:pPr>
                      <a:r>
                        <a:t>4</a:t>
                      </a:r>
                    </a:p>
                  </a:txBody>
                  <a:tcPr/>
                </a:tc>
                <a:tc>
                  <a:txBody>
                    <a:bodyPr/>
                    <a:lstStyle/>
                    <a:p>
                      <a:pPr algn="ctr">
                        <a:defRPr sz="900" b="0">
                          <a:solidFill>
                            <a:srgbClr val="000000"/>
                          </a:solidFill>
                          <a:latin typeface="Calibri"/>
                        </a:defRPr>
                      </a:pPr>
                      <a:r>
                        <a:t>10</a:t>
                      </a:r>
                    </a:p>
                  </a:txBody>
                  <a:tcPr/>
                </a:tc>
                <a:tc>
                  <a:txBody>
                    <a:bodyPr/>
                    <a:lstStyle/>
                    <a:p>
                      <a:pPr algn="ctr">
                        <a:defRPr sz="900" b="0">
                          <a:solidFill>
                            <a:srgbClr val="000000"/>
                          </a:solidFill>
                          <a:latin typeface="Calibri"/>
                        </a:defRPr>
                      </a:pPr>
                      <a:r>
                        <a:t>+6 discriminative features</a:t>
                      </a:r>
                    </a:p>
                  </a:txBody>
                  <a:tcPr/>
                </a:tc>
              </a:tr>
              <a:tr h="237744">
                <a:tc>
                  <a:txBody>
                    <a:bodyPr/>
                    <a:lstStyle/>
                    <a:p>
                      <a:pPr algn="l">
                        <a:defRPr sz="900" b="0">
                          <a:solidFill>
                            <a:srgbClr val="000000"/>
                          </a:solidFill>
                          <a:latin typeface="Calibri"/>
                        </a:defRPr>
                      </a:pPr>
                      <a:r>
                        <a:t>New features</a:t>
                      </a:r>
                    </a:p>
                  </a:txBody>
                  <a:tcPr>
                    <a:solidFill>
                      <a:srgbClr val="ECF0F1"/>
                    </a:solidFill>
                  </a:tcPr>
                </a:tc>
                <a:tc>
                  <a:txBody>
                    <a:bodyPr/>
                    <a:lstStyle/>
                    <a:p>
                      <a:pPr algn="ctr">
                        <a:defRPr sz="900" b="0">
                          <a:solidFill>
                            <a:srgbClr val="000000"/>
                          </a:solidFill>
                          <a:latin typeface="Calibri"/>
                        </a:defRPr>
                      </a:pPr>
                      <a:r>
                        <a:t>—</a:t>
                      </a:r>
                    </a:p>
                  </a:txBody>
                  <a:tcPr>
                    <a:solidFill>
                      <a:srgbClr val="ECF0F1"/>
                    </a:solidFill>
                  </a:tcPr>
                </a:tc>
                <a:tc>
                  <a:txBody>
                    <a:bodyPr/>
                    <a:lstStyle/>
                    <a:p>
                      <a:pPr algn="ctr">
                        <a:defRPr sz="900" b="0">
                          <a:solidFill>
                            <a:srgbClr val="000000"/>
                          </a:solidFill>
                          <a:latin typeface="Calibri"/>
                        </a:defRPr>
                      </a:pPr>
                      <a:r>
                        <a:t>port_cat, size_cat, protocol,</a:t>
                      </a:r>
                    </a:p>
                    <a:p>
                      <a:pPr algn="ctr">
                        <a:defRPr sz="900" b="0">
                          <a:solidFill>
                            <a:srgbClr val="000000"/>
                          </a:solidFill>
                          <a:latin typeface="Calibri"/>
                        </a:defRPr>
                      </a:pPr>
                      <a:r>
                        <a:t>src_ttl, src_load, mean_pkt_size</a:t>
                      </a:r>
                    </a:p>
                  </a:txBody>
                  <a:tcPr>
                    <a:solidFill>
                      <a:srgbClr val="ECF0F1"/>
                    </a:solidFill>
                  </a:tcPr>
                </a:tc>
                <a:tc>
                  <a:txBody>
                    <a:bodyPr/>
                    <a:lstStyle/>
                    <a:p>
                      <a:pPr algn="ctr">
                        <a:defRPr sz="900" b="0">
                          <a:solidFill>
                            <a:srgbClr val="000000"/>
                          </a:solidFill>
                          <a:latin typeface="Calibri"/>
                        </a:defRPr>
                      </a:pPr>
                      <a:r>
                        <a:t>Network + structural features</a:t>
                      </a:r>
                    </a:p>
                  </a:txBody>
                  <a:tcPr>
                    <a:solidFill>
                      <a:srgbClr val="ECF0F1"/>
                    </a:solidFill>
                  </a:tcPr>
                </a:tc>
              </a:tr>
              <a:tr h="237744">
                <a:tc>
                  <a:txBody>
                    <a:bodyPr/>
                    <a:lstStyle/>
                    <a:p>
                      <a:pPr algn="l">
                        <a:defRPr sz="900" b="0">
                          <a:solidFill>
                            <a:srgbClr val="000000"/>
                          </a:solidFill>
                          <a:latin typeface="Calibri"/>
                        </a:defRPr>
                      </a:pPr>
                      <a:r>
                        <a:t>Initial buffer</a:t>
                      </a:r>
                    </a:p>
                  </a:txBody>
                  <a:tcPr/>
                </a:tc>
                <a:tc>
                  <a:txBody>
                    <a:bodyPr/>
                    <a:lstStyle/>
                    <a:p>
                      <a:pPr algn="ctr">
                        <a:defRPr sz="900" b="0">
                          <a:solidFill>
                            <a:srgbClr val="000000"/>
                          </a:solidFill>
                          <a:latin typeface="Calibri"/>
                        </a:defRPr>
                      </a:pPr>
                      <a:r>
                        <a:t>30</a:t>
                      </a:r>
                    </a:p>
                  </a:txBody>
                  <a:tcPr/>
                </a:tc>
                <a:tc>
                  <a:txBody>
                    <a:bodyPr/>
                    <a:lstStyle/>
                    <a:p>
                      <a:pPr algn="ctr">
                        <a:defRPr sz="900" b="0">
                          <a:solidFill>
                            <a:srgbClr val="000000"/>
                          </a:solidFill>
                          <a:latin typeface="Calibri"/>
                        </a:defRPr>
                      </a:pPr>
                      <a:r>
                        <a:t>50</a:t>
                      </a:r>
                    </a:p>
                  </a:txBody>
                  <a:tcPr/>
                </a:tc>
                <a:tc>
                  <a:txBody>
                    <a:bodyPr/>
                    <a:lstStyle/>
                    <a:p>
                      <a:pPr algn="ctr">
                        <a:defRPr sz="900" b="0">
                          <a:solidFill>
                            <a:srgbClr val="000000"/>
                          </a:solidFill>
                          <a:latin typeface="Calibri"/>
                        </a:defRPr>
                      </a:pPr>
                      <a:r>
                        <a:t>More reliable initial statistics</a:t>
                      </a:r>
                    </a:p>
                  </a:txBody>
                  <a:tcPr/>
                </a:tc>
              </a:tr>
              <a:tr h="237744">
                <a:tc>
                  <a:txBody>
                    <a:bodyPr/>
                    <a:lstStyle/>
                    <a:p>
                      <a:pPr algn="l">
                        <a:defRPr sz="900" b="0">
                          <a:solidFill>
                            <a:srgbClr val="000000"/>
                          </a:solidFill>
                          <a:latin typeface="Calibri"/>
                        </a:defRPr>
                      </a:pPr>
                      <a:r>
                        <a:t>Training epochs</a:t>
                      </a:r>
                    </a:p>
                  </a:txBody>
                  <a:tcPr>
                    <a:solidFill>
                      <a:srgbClr val="ECF0F1"/>
                    </a:solidFill>
                  </a:tcPr>
                </a:tc>
                <a:tc>
                  <a:txBody>
                    <a:bodyPr/>
                    <a:lstStyle/>
                    <a:p>
                      <a:pPr algn="ctr">
                        <a:defRPr sz="900" b="0">
                          <a:solidFill>
                            <a:srgbClr val="000000"/>
                          </a:solidFill>
                          <a:latin typeface="Calibri"/>
                        </a:defRPr>
                      </a:pPr>
                      <a:r>
                        <a:t>10</a:t>
                      </a:r>
                    </a:p>
                  </a:txBody>
                  <a:tcPr>
                    <a:solidFill>
                      <a:srgbClr val="ECF0F1"/>
                    </a:solidFill>
                  </a:tcPr>
                </a:tc>
                <a:tc>
                  <a:txBody>
                    <a:bodyPr/>
                    <a:lstStyle/>
                    <a:p>
                      <a:pPr algn="ctr">
                        <a:defRPr sz="900" b="0">
                          <a:solidFill>
                            <a:srgbClr val="000000"/>
                          </a:solidFill>
                          <a:latin typeface="Calibri"/>
                        </a:defRPr>
                      </a:pPr>
                      <a:r>
                        <a:t>20</a:t>
                      </a:r>
                    </a:p>
                  </a:txBody>
                  <a:tcPr>
                    <a:solidFill>
                      <a:srgbClr val="ECF0F1"/>
                    </a:solidFill>
                  </a:tcPr>
                </a:tc>
                <a:tc>
                  <a:txBody>
                    <a:bodyPr/>
                    <a:lstStyle/>
                    <a:p>
                      <a:pPr algn="ctr">
                        <a:defRPr sz="900" b="0">
                          <a:solidFill>
                            <a:srgbClr val="000000"/>
                          </a:solidFill>
                          <a:latin typeface="Calibri"/>
                        </a:defRPr>
                      </a:pPr>
                      <a:r>
                        <a:t>Better Q-table convergence</a:t>
                      </a:r>
                    </a:p>
                  </a:txBody>
                  <a:tcPr>
                    <a:solidFill>
                      <a:srgbClr val="ECF0F1"/>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274320" y="137160"/>
            <a:ext cx="11430000" cy="457200"/>
          </a:xfrm>
          <a:prstGeom prst="rect">
            <a:avLst/>
          </a:prstGeom>
          <a:noFill/>
        </p:spPr>
        <p:txBody>
          <a:bodyPr wrap="square">
            <a:spAutoFit/>
          </a:bodyPr>
          <a:lstStyle/>
          <a:p>
            <a:pPr algn="ctr">
              <a:defRPr sz="2400" b="1">
                <a:solidFill>
                  <a:srgbClr val="003C71"/>
                </a:solidFill>
                <a:latin typeface="Calibri"/>
              </a:defRPr>
            </a:pPr>
            <a:r>
              <a:t>Impact of Specification Changes — F1-Score Before vs. After</a:t>
            </a:r>
          </a:p>
        </p:txBody>
      </p:sp>
      <p:sp>
        <p:nvSpPr>
          <p:cNvPr id="3" name="TextBox 2"/>
          <p:cNvSpPr txBox="1"/>
          <p:nvPr/>
        </p:nvSpPr>
        <p:spPr>
          <a:xfrm>
            <a:off x="365760" y="594360"/>
            <a:ext cx="4572000" cy="274320"/>
          </a:xfrm>
          <a:prstGeom prst="rect">
            <a:avLst/>
          </a:prstGeom>
          <a:noFill/>
        </p:spPr>
        <p:txBody>
          <a:bodyPr wrap="square">
            <a:spAutoFit/>
          </a:bodyPr>
          <a:lstStyle/>
          <a:p>
            <a:pPr algn="l">
              <a:defRPr sz="1300" b="1">
                <a:solidFill>
                  <a:srgbClr val="003C71"/>
                </a:solidFill>
                <a:latin typeface="Calibri"/>
              </a:defRPr>
            </a:pPr>
            <a:r>
              <a:t>F1-Score: Before vs. After Optimization</a:t>
            </a:r>
          </a:p>
        </p:txBody>
      </p:sp>
      <p:graphicFrame>
        <p:nvGraphicFramePr>
          <p:cNvPr id="4" name="Table 3"/>
          <p:cNvGraphicFramePr>
            <a:graphicFrameLocks noGrp="1"/>
          </p:cNvGraphicFramePr>
          <p:nvPr/>
        </p:nvGraphicFramePr>
        <p:xfrm>
          <a:off x="365760" y="868680"/>
          <a:ext cx="6949440" cy="1188720"/>
        </p:xfrm>
        <a:graphic>
          <a:graphicData uri="http://schemas.openxmlformats.org/drawingml/2006/table">
            <a:tbl>
              <a:tblPr firstRow="1" bandRow="1">
                <a:tableStyleId>{5C22544A-7EE6-4342-B048-85BDC9FD1C3A}</a:tableStyleId>
              </a:tblPr>
              <a:tblGrid>
                <a:gridCol w="2011680"/>
                <a:gridCol w="1188720"/>
                <a:gridCol w="1188720"/>
                <a:gridCol w="1371600"/>
                <a:gridCol w="1188720"/>
              </a:tblGrid>
              <a:tr h="297180">
                <a:tc>
                  <a:txBody>
                    <a:bodyPr/>
                    <a:lstStyle/>
                    <a:p>
                      <a:pPr algn="ctr">
                        <a:defRPr sz="1100" b="1">
                          <a:solidFill>
                            <a:srgbClr val="FFFFFF"/>
                          </a:solidFill>
                          <a:latin typeface="Calibri"/>
                        </a:defRPr>
                      </a:pPr>
                      <a:r>
                        <a:t>Dataset</a:t>
                      </a:r>
                    </a:p>
                  </a:txBody>
                  <a:tcPr>
                    <a:solidFill>
                      <a:srgbClr val="003C71"/>
                    </a:solidFill>
                  </a:tcPr>
                </a:tc>
                <a:tc>
                  <a:txBody>
                    <a:bodyPr/>
                    <a:lstStyle/>
                    <a:p>
                      <a:pPr algn="ctr">
                        <a:defRPr sz="1100" b="1">
                          <a:solidFill>
                            <a:srgbClr val="FFFFFF"/>
                          </a:solidFill>
                          <a:latin typeface="Calibri"/>
                        </a:defRPr>
                      </a:pPr>
                      <a:r>
                        <a:t>Before F1</a:t>
                      </a:r>
                    </a:p>
                  </a:txBody>
                  <a:tcPr>
                    <a:solidFill>
                      <a:srgbClr val="003C71"/>
                    </a:solidFill>
                  </a:tcPr>
                </a:tc>
                <a:tc>
                  <a:txBody>
                    <a:bodyPr/>
                    <a:lstStyle/>
                    <a:p>
                      <a:pPr algn="ctr">
                        <a:defRPr sz="1100" b="1">
                          <a:solidFill>
                            <a:srgbClr val="FFFFFF"/>
                          </a:solidFill>
                          <a:latin typeface="Calibri"/>
                        </a:defRPr>
                      </a:pPr>
                      <a:r>
                        <a:t>After F1</a:t>
                      </a:r>
                    </a:p>
                  </a:txBody>
                  <a:tcPr>
                    <a:solidFill>
                      <a:srgbClr val="003C71"/>
                    </a:solidFill>
                  </a:tcPr>
                </a:tc>
                <a:tc>
                  <a:txBody>
                    <a:bodyPr/>
                    <a:lstStyle/>
                    <a:p>
                      <a:pPr algn="ctr">
                        <a:defRPr sz="1100" b="1">
                          <a:solidFill>
                            <a:srgbClr val="FFFFFF"/>
                          </a:solidFill>
                          <a:latin typeface="Calibri"/>
                        </a:defRPr>
                      </a:pPr>
                      <a:r>
                        <a:t>Improvement</a:t>
                      </a:r>
                    </a:p>
                  </a:txBody>
                  <a:tcPr>
                    <a:solidFill>
                      <a:srgbClr val="003C71"/>
                    </a:solidFill>
                  </a:tcPr>
                </a:tc>
                <a:tc>
                  <a:txBody>
                    <a:bodyPr/>
                    <a:lstStyle/>
                    <a:p>
                      <a:pPr algn="ctr">
                        <a:defRPr sz="1100" b="1">
                          <a:solidFill>
                            <a:srgbClr val="FFFFFF"/>
                          </a:solidFill>
                          <a:latin typeface="Calibri"/>
                        </a:defRPr>
                      </a:pPr>
                      <a:r>
                        <a:t>% Change</a:t>
                      </a:r>
                    </a:p>
                  </a:txBody>
                  <a:tcPr>
                    <a:solidFill>
                      <a:srgbClr val="003C71"/>
                    </a:solidFill>
                  </a:tcPr>
                </a:tc>
              </a:tr>
              <a:tr h="297180">
                <a:tc>
                  <a:txBody>
                    <a:bodyPr/>
                    <a:lstStyle/>
                    <a:p>
                      <a:pPr algn="l">
                        <a:defRPr sz="1100" b="0">
                          <a:solidFill>
                            <a:srgbClr val="000000"/>
                          </a:solidFill>
                          <a:latin typeface="Calibri"/>
                        </a:defRPr>
                      </a:pPr>
                      <a:r>
                        <a:t>CSE-CIC-IDS-2018</a:t>
                      </a:r>
                    </a:p>
                  </a:txBody>
                  <a:tcPr/>
                </a:tc>
                <a:tc>
                  <a:txBody>
                    <a:bodyPr/>
                    <a:lstStyle/>
                    <a:p>
                      <a:pPr algn="ctr">
                        <a:defRPr sz="1100" b="0">
                          <a:solidFill>
                            <a:srgbClr val="000000"/>
                          </a:solidFill>
                          <a:latin typeface="Calibri"/>
                        </a:defRPr>
                      </a:pPr>
                      <a:r>
                        <a:t>0.9766</a:t>
                      </a:r>
                    </a:p>
                  </a:txBody>
                  <a:tcPr/>
                </a:tc>
                <a:tc>
                  <a:txBody>
                    <a:bodyPr/>
                    <a:lstStyle/>
                    <a:p>
                      <a:pPr algn="ctr">
                        <a:defRPr sz="1100" b="0">
                          <a:solidFill>
                            <a:srgbClr val="000000"/>
                          </a:solidFill>
                          <a:latin typeface="Calibri"/>
                        </a:defRPr>
                      </a:pPr>
                      <a:r>
                        <a:t>0.9951</a:t>
                      </a:r>
                    </a:p>
                  </a:txBody>
                  <a:tcPr/>
                </a:tc>
                <a:tc>
                  <a:txBody>
                    <a:bodyPr/>
                    <a:lstStyle/>
                    <a:p>
                      <a:pPr algn="ctr">
                        <a:defRPr sz="1100" b="0">
                          <a:solidFill>
                            <a:srgbClr val="000000"/>
                          </a:solidFill>
                          <a:latin typeface="Calibri"/>
                        </a:defRPr>
                      </a:pPr>
                      <a:r>
                        <a:t>+0.0185</a:t>
                      </a:r>
                    </a:p>
                  </a:txBody>
                  <a:tcPr/>
                </a:tc>
                <a:tc>
                  <a:txBody>
                    <a:bodyPr/>
                    <a:lstStyle/>
                    <a:p>
                      <a:pPr algn="ctr">
                        <a:defRPr sz="1100" b="1">
                          <a:solidFill>
                            <a:srgbClr val="000000"/>
                          </a:solidFill>
                          <a:latin typeface="Calibri"/>
                        </a:defRPr>
                      </a:pPr>
                      <a:r>
                        <a:t>+1.9%</a:t>
                      </a:r>
                    </a:p>
                  </a:txBody>
                  <a:tcPr>
                    <a:solidFill>
                      <a:srgbClr val="D5F5E3"/>
                    </a:solidFill>
                  </a:tcPr>
                </a:tc>
              </a:tr>
              <a:tr h="297180">
                <a:tc>
                  <a:txBody>
                    <a:bodyPr/>
                    <a:lstStyle/>
                    <a:p>
                      <a:pPr algn="l">
                        <a:defRPr sz="1100" b="0">
                          <a:solidFill>
                            <a:srgbClr val="000000"/>
                          </a:solidFill>
                          <a:latin typeface="Calibri"/>
                        </a:defRPr>
                      </a:pPr>
                      <a:r>
                        <a:t>UNSW-NB15</a:t>
                      </a:r>
                    </a:p>
                  </a:txBody>
                  <a:tcPr>
                    <a:solidFill>
                      <a:srgbClr val="ECF0F1"/>
                    </a:solidFill>
                  </a:tcPr>
                </a:tc>
                <a:tc>
                  <a:txBody>
                    <a:bodyPr/>
                    <a:lstStyle/>
                    <a:p>
                      <a:pPr algn="ctr">
                        <a:defRPr sz="1100" b="0">
                          <a:solidFill>
                            <a:srgbClr val="000000"/>
                          </a:solidFill>
                          <a:latin typeface="Calibri"/>
                        </a:defRPr>
                      </a:pPr>
                      <a:r>
                        <a:t>0.7610</a:t>
                      </a:r>
                    </a:p>
                  </a:txBody>
                  <a:tcPr>
                    <a:solidFill>
                      <a:srgbClr val="ECF0F1"/>
                    </a:solidFill>
                  </a:tcPr>
                </a:tc>
                <a:tc>
                  <a:txBody>
                    <a:bodyPr/>
                    <a:lstStyle/>
                    <a:p>
                      <a:pPr algn="ctr">
                        <a:defRPr sz="1100" b="0">
                          <a:solidFill>
                            <a:srgbClr val="000000"/>
                          </a:solidFill>
                          <a:latin typeface="Calibri"/>
                        </a:defRPr>
                      </a:pPr>
                      <a:r>
                        <a:t>0.8484</a:t>
                      </a:r>
                    </a:p>
                  </a:txBody>
                  <a:tcPr>
                    <a:solidFill>
                      <a:srgbClr val="ECF0F1"/>
                    </a:solidFill>
                  </a:tcPr>
                </a:tc>
                <a:tc>
                  <a:txBody>
                    <a:bodyPr/>
                    <a:lstStyle/>
                    <a:p>
                      <a:pPr algn="ctr">
                        <a:defRPr sz="1100" b="0">
                          <a:solidFill>
                            <a:srgbClr val="000000"/>
                          </a:solidFill>
                          <a:latin typeface="Calibri"/>
                        </a:defRPr>
                      </a:pPr>
                      <a:r>
                        <a:t>+0.0874</a:t>
                      </a:r>
                    </a:p>
                  </a:txBody>
                  <a:tcPr>
                    <a:solidFill>
                      <a:srgbClr val="ECF0F1"/>
                    </a:solidFill>
                  </a:tcPr>
                </a:tc>
                <a:tc>
                  <a:txBody>
                    <a:bodyPr/>
                    <a:lstStyle/>
                    <a:p>
                      <a:pPr algn="ctr">
                        <a:defRPr sz="1100" b="1">
                          <a:solidFill>
                            <a:srgbClr val="000000"/>
                          </a:solidFill>
                          <a:latin typeface="Calibri"/>
                        </a:defRPr>
                      </a:pPr>
                      <a:r>
                        <a:t>+8.7%</a:t>
                      </a:r>
                    </a:p>
                  </a:txBody>
                  <a:tcPr>
                    <a:solidFill>
                      <a:srgbClr val="D5F5E3"/>
                    </a:solidFill>
                  </a:tcPr>
                </a:tc>
              </a:tr>
              <a:tr h="297180">
                <a:tc>
                  <a:txBody>
                    <a:bodyPr/>
                    <a:lstStyle/>
                    <a:p>
                      <a:pPr algn="l">
                        <a:defRPr sz="1100" b="0">
                          <a:solidFill>
                            <a:srgbClr val="000000"/>
                          </a:solidFill>
                          <a:latin typeface="Calibri"/>
                        </a:defRPr>
                      </a:pPr>
                      <a:r>
                        <a:t>CIC-IDS2017</a:t>
                      </a:r>
                    </a:p>
                  </a:txBody>
                  <a:tcPr/>
                </a:tc>
                <a:tc>
                  <a:txBody>
                    <a:bodyPr/>
                    <a:lstStyle/>
                    <a:p>
                      <a:pPr algn="ctr">
                        <a:defRPr sz="1100" b="0">
                          <a:solidFill>
                            <a:srgbClr val="000000"/>
                          </a:solidFill>
                          <a:latin typeface="Calibri"/>
                        </a:defRPr>
                      </a:pPr>
                      <a:r>
                        <a:t>0.8582</a:t>
                      </a:r>
                    </a:p>
                  </a:txBody>
                  <a:tcPr/>
                </a:tc>
                <a:tc>
                  <a:txBody>
                    <a:bodyPr/>
                    <a:lstStyle/>
                    <a:p>
                      <a:pPr algn="ctr">
                        <a:defRPr sz="1100" b="0">
                          <a:solidFill>
                            <a:srgbClr val="000000"/>
                          </a:solidFill>
                          <a:latin typeface="Calibri"/>
                        </a:defRPr>
                      </a:pPr>
                      <a:r>
                        <a:t>0.9252</a:t>
                      </a:r>
                    </a:p>
                  </a:txBody>
                  <a:tcPr/>
                </a:tc>
                <a:tc>
                  <a:txBody>
                    <a:bodyPr/>
                    <a:lstStyle/>
                    <a:p>
                      <a:pPr algn="ctr">
                        <a:defRPr sz="1100" b="0">
                          <a:solidFill>
                            <a:srgbClr val="000000"/>
                          </a:solidFill>
                          <a:latin typeface="Calibri"/>
                        </a:defRPr>
                      </a:pPr>
                      <a:r>
                        <a:t>+0.0670</a:t>
                      </a:r>
                    </a:p>
                  </a:txBody>
                  <a:tcPr/>
                </a:tc>
                <a:tc>
                  <a:txBody>
                    <a:bodyPr/>
                    <a:lstStyle/>
                    <a:p>
                      <a:pPr algn="ctr">
                        <a:defRPr sz="1100" b="1">
                          <a:solidFill>
                            <a:srgbClr val="000000"/>
                          </a:solidFill>
                          <a:latin typeface="Calibri"/>
                        </a:defRPr>
                      </a:pPr>
                      <a:r>
                        <a:t>+6.7%</a:t>
                      </a:r>
                    </a:p>
                  </a:txBody>
                  <a:tcPr>
                    <a:solidFill>
                      <a:srgbClr val="D5F5E3"/>
                    </a:solidFill>
                  </a:tcPr>
                </a:tc>
              </a:tr>
            </a:tbl>
          </a:graphicData>
        </a:graphic>
      </p:graphicFrame>
      <p:sp>
        <p:nvSpPr>
          <p:cNvPr id="5" name="TextBox 4"/>
          <p:cNvSpPr txBox="1"/>
          <p:nvPr/>
        </p:nvSpPr>
        <p:spPr>
          <a:xfrm>
            <a:off x="365760" y="2286000"/>
            <a:ext cx="7315200" cy="274320"/>
          </a:xfrm>
          <a:prstGeom prst="rect">
            <a:avLst/>
          </a:prstGeom>
          <a:noFill/>
        </p:spPr>
        <p:txBody>
          <a:bodyPr wrap="square">
            <a:spAutoFit/>
          </a:bodyPr>
          <a:lstStyle/>
          <a:p>
            <a:pPr algn="l">
              <a:defRPr sz="1300" b="1">
                <a:solidFill>
                  <a:srgbClr val="003C71"/>
                </a:solidFill>
                <a:latin typeface="Calibri"/>
              </a:defRPr>
            </a:pPr>
            <a:r>
              <a:t>Estimated Contribution of Each Change to F1 Improvement</a:t>
            </a:r>
          </a:p>
        </p:txBody>
      </p:sp>
      <p:graphicFrame>
        <p:nvGraphicFramePr>
          <p:cNvPr id="6" name="Table 5"/>
          <p:cNvGraphicFramePr>
            <a:graphicFrameLocks noGrp="1"/>
          </p:cNvGraphicFramePr>
          <p:nvPr/>
        </p:nvGraphicFramePr>
        <p:xfrm>
          <a:off x="365760" y="2606040"/>
          <a:ext cx="9601200" cy="2560320"/>
        </p:xfrm>
        <a:graphic>
          <a:graphicData uri="http://schemas.openxmlformats.org/drawingml/2006/table">
            <a:tbl>
              <a:tblPr firstRow="1" bandRow="1">
                <a:tableStyleId>{5C22544A-7EE6-4342-B048-85BDC9FD1C3A}</a:tableStyleId>
              </a:tblPr>
              <a:tblGrid>
                <a:gridCol w="3017520"/>
                <a:gridCol w="914400"/>
                <a:gridCol w="914400"/>
                <a:gridCol w="1097280"/>
                <a:gridCol w="3657600"/>
              </a:tblGrid>
              <a:tr h="284480">
                <a:tc>
                  <a:txBody>
                    <a:bodyPr/>
                    <a:lstStyle/>
                    <a:p>
                      <a:pPr algn="ctr">
                        <a:defRPr sz="900" b="1">
                          <a:solidFill>
                            <a:srgbClr val="FFFFFF"/>
                          </a:solidFill>
                          <a:latin typeface="Calibri"/>
                        </a:defRPr>
                      </a:pPr>
                      <a:r>
                        <a:t>Change</a:t>
                      </a:r>
                    </a:p>
                  </a:txBody>
                  <a:tcPr>
                    <a:solidFill>
                      <a:srgbClr val="003C71"/>
                    </a:solidFill>
                  </a:tcPr>
                </a:tc>
                <a:tc>
                  <a:txBody>
                    <a:bodyPr/>
                    <a:lstStyle/>
                    <a:p>
                      <a:pPr algn="ctr">
                        <a:defRPr sz="900" b="1">
                          <a:solidFill>
                            <a:srgbClr val="FFFFFF"/>
                          </a:solidFill>
                          <a:latin typeface="Calibri"/>
                        </a:defRPr>
                      </a:pPr>
                      <a:r>
                        <a:t>CSE</a:t>
                      </a:r>
                    </a:p>
                  </a:txBody>
                  <a:tcPr>
                    <a:solidFill>
                      <a:srgbClr val="003C71"/>
                    </a:solidFill>
                  </a:tcPr>
                </a:tc>
                <a:tc>
                  <a:txBody>
                    <a:bodyPr/>
                    <a:lstStyle/>
                    <a:p>
                      <a:pPr algn="ctr">
                        <a:defRPr sz="900" b="1">
                          <a:solidFill>
                            <a:srgbClr val="FFFFFF"/>
                          </a:solidFill>
                          <a:latin typeface="Calibri"/>
                        </a:defRPr>
                      </a:pPr>
                      <a:r>
                        <a:t>UNSW</a:t>
                      </a:r>
                    </a:p>
                  </a:txBody>
                  <a:tcPr>
                    <a:solidFill>
                      <a:srgbClr val="003C71"/>
                    </a:solidFill>
                  </a:tcPr>
                </a:tc>
                <a:tc>
                  <a:txBody>
                    <a:bodyPr/>
                    <a:lstStyle/>
                    <a:p>
                      <a:pPr algn="ctr">
                        <a:defRPr sz="900" b="1">
                          <a:solidFill>
                            <a:srgbClr val="FFFFFF"/>
                          </a:solidFill>
                          <a:latin typeface="Calibri"/>
                        </a:defRPr>
                      </a:pPr>
                      <a:r>
                        <a:t>CIC2017</a:t>
                      </a:r>
                    </a:p>
                  </a:txBody>
                  <a:tcPr>
                    <a:solidFill>
                      <a:srgbClr val="003C71"/>
                    </a:solidFill>
                  </a:tcPr>
                </a:tc>
                <a:tc>
                  <a:txBody>
                    <a:bodyPr/>
                    <a:lstStyle/>
                    <a:p>
                      <a:pPr algn="ctr">
                        <a:defRPr sz="900" b="1">
                          <a:solidFill>
                            <a:srgbClr val="FFFFFF"/>
                          </a:solidFill>
                          <a:latin typeface="Calibri"/>
                        </a:defRPr>
                      </a:pPr>
                      <a:r>
                        <a:t>Primary Mechanism</a:t>
                      </a:r>
                    </a:p>
                  </a:txBody>
                  <a:tcPr>
                    <a:solidFill>
                      <a:srgbClr val="003C71"/>
                    </a:solidFill>
                  </a:tcPr>
                </a:tc>
              </a:tr>
              <a:tr h="284480">
                <a:tc>
                  <a:txBody>
                    <a:bodyPr/>
                    <a:lstStyle/>
                    <a:p>
                      <a:pPr algn="l">
                        <a:defRPr sz="900" b="0">
                          <a:solidFill>
                            <a:srgbClr val="000000"/>
                          </a:solidFill>
                          <a:latin typeface="Calibri"/>
                        </a:defRPr>
                      </a:pPr>
                      <a:r>
                        <a:t>DT depth 5→7, leaf 25→20</a:t>
                      </a:r>
                    </a:p>
                  </a:txBody>
                  <a:tcPr/>
                </a:tc>
                <a:tc>
                  <a:txBody>
                    <a:bodyPr/>
                    <a:lstStyle/>
                    <a:p>
                      <a:pPr algn="ctr">
                        <a:defRPr sz="900" b="0">
                          <a:solidFill>
                            <a:srgbClr val="000000"/>
                          </a:solidFill>
                          <a:latin typeface="Calibri"/>
                        </a:defRPr>
                      </a:pPr>
                      <a:r>
                        <a:t>+0.5%</a:t>
                      </a:r>
                    </a:p>
                  </a:txBody>
                  <a:tcPr/>
                </a:tc>
                <a:tc>
                  <a:txBody>
                    <a:bodyPr/>
                    <a:lstStyle/>
                    <a:p>
                      <a:pPr algn="ctr">
                        <a:defRPr sz="900" b="0">
                          <a:solidFill>
                            <a:srgbClr val="000000"/>
                          </a:solidFill>
                          <a:latin typeface="Calibri"/>
                        </a:defRPr>
                      </a:pPr>
                      <a:r>
                        <a:t>+2.5%</a:t>
                      </a:r>
                    </a:p>
                  </a:txBody>
                  <a:tcPr/>
                </a:tc>
                <a:tc>
                  <a:txBody>
                    <a:bodyPr/>
                    <a:lstStyle/>
                    <a:p>
                      <a:pPr algn="ctr">
                        <a:defRPr sz="900" b="0">
                          <a:solidFill>
                            <a:srgbClr val="000000"/>
                          </a:solidFill>
                          <a:latin typeface="Calibri"/>
                        </a:defRPr>
                      </a:pPr>
                      <a:r>
                        <a:t>+2.0%</a:t>
                      </a:r>
                    </a:p>
                  </a:txBody>
                  <a:tcPr/>
                </a:tc>
                <a:tc>
                  <a:txBody>
                    <a:bodyPr/>
                    <a:lstStyle/>
                    <a:p>
                      <a:pPr algn="ctr">
                        <a:defRPr sz="900" b="0">
                          <a:solidFill>
                            <a:srgbClr val="000000"/>
                          </a:solidFill>
                          <a:latin typeface="Calibri"/>
                        </a:defRPr>
                      </a:pPr>
                      <a:r>
                        <a:t>Finer attack subtype splits</a:t>
                      </a:r>
                    </a:p>
                  </a:txBody>
                  <a:tcPr/>
                </a:tc>
              </a:tr>
              <a:tr h="284480">
                <a:tc>
                  <a:txBody>
                    <a:bodyPr/>
                    <a:lstStyle/>
                    <a:p>
                      <a:pPr algn="l">
                        <a:defRPr sz="900" b="0">
                          <a:solidFill>
                            <a:srgbClr val="000000"/>
                          </a:solidFill>
                          <a:latin typeface="Calibri"/>
                        </a:defRPr>
                      </a:pPr>
                      <a:r>
                        <a:t>+6 features (10 total)</a:t>
                      </a:r>
                    </a:p>
                  </a:txBody>
                  <a:tcPr/>
                </a:tc>
                <a:tc>
                  <a:txBody>
                    <a:bodyPr/>
                    <a:lstStyle/>
                    <a:p>
                      <a:pPr algn="ctr">
                        <a:defRPr sz="900" b="0">
                          <a:solidFill>
                            <a:srgbClr val="000000"/>
                          </a:solidFill>
                          <a:latin typeface="Calibri"/>
                        </a:defRPr>
                      </a:pPr>
                      <a:r>
                        <a:t>+0.3%</a:t>
                      </a:r>
                    </a:p>
                  </a:txBody>
                  <a:tcPr/>
                </a:tc>
                <a:tc>
                  <a:txBody>
                    <a:bodyPr/>
                    <a:lstStyle/>
                    <a:p>
                      <a:pPr algn="ctr">
                        <a:defRPr sz="900" b="0">
                          <a:solidFill>
                            <a:srgbClr val="000000"/>
                          </a:solidFill>
                          <a:latin typeface="Calibri"/>
                        </a:defRPr>
                      </a:pPr>
                      <a:r>
                        <a:t>+5.0%</a:t>
                      </a:r>
                    </a:p>
                  </a:txBody>
                  <a:tcPr/>
                </a:tc>
                <a:tc>
                  <a:txBody>
                    <a:bodyPr/>
                    <a:lstStyle/>
                    <a:p>
                      <a:pPr algn="ctr">
                        <a:defRPr sz="900" b="0">
                          <a:solidFill>
                            <a:srgbClr val="000000"/>
                          </a:solidFill>
                          <a:latin typeface="Calibri"/>
                        </a:defRPr>
                      </a:pPr>
                      <a:r>
                        <a:t>+1.5%</a:t>
                      </a:r>
                    </a:p>
                  </a:txBody>
                  <a:tcPr/>
                </a:tc>
                <a:tc>
                  <a:txBody>
                    <a:bodyPr/>
                    <a:lstStyle/>
                    <a:p>
                      <a:pPr algn="ctr">
                        <a:defRPr sz="900" b="0">
                          <a:solidFill>
                            <a:srgbClr val="000000"/>
                          </a:solidFill>
                          <a:latin typeface="Calibri"/>
                        </a:defRPr>
                      </a:pPr>
                      <a:r>
                        <a:t>src_ttl / src_load / mean_pkt_size</a:t>
                      </a:r>
                    </a:p>
                  </a:txBody>
                  <a:tcPr/>
                </a:tc>
              </a:tr>
              <a:tr h="284480">
                <a:tc>
                  <a:txBody>
                    <a:bodyPr/>
                    <a:lstStyle/>
                    <a:p>
                      <a:pPr algn="l">
                        <a:defRPr sz="900" b="0">
                          <a:solidFill>
                            <a:srgbClr val="000000"/>
                          </a:solidFill>
                          <a:latin typeface="Calibri"/>
                        </a:defRPr>
                      </a:pPr>
                      <a:r>
                        <a:t>Raw DT probs (remove compression)</a:t>
                      </a:r>
                    </a:p>
                  </a:txBody>
                  <a:tcPr/>
                </a:tc>
                <a:tc>
                  <a:txBody>
                    <a:bodyPr/>
                    <a:lstStyle/>
                    <a:p>
                      <a:pPr algn="ctr">
                        <a:defRPr sz="900" b="0">
                          <a:solidFill>
                            <a:srgbClr val="000000"/>
                          </a:solidFill>
                          <a:latin typeface="Calibri"/>
                        </a:defRPr>
                      </a:pPr>
                      <a:r>
                        <a:t>+0.2%</a:t>
                      </a:r>
                    </a:p>
                  </a:txBody>
                  <a:tcPr/>
                </a:tc>
                <a:tc>
                  <a:txBody>
                    <a:bodyPr/>
                    <a:lstStyle/>
                    <a:p>
                      <a:pPr algn="ctr">
                        <a:defRPr sz="900" b="0">
                          <a:solidFill>
                            <a:srgbClr val="000000"/>
                          </a:solidFill>
                          <a:latin typeface="Calibri"/>
                        </a:defRPr>
                      </a:pPr>
                      <a:r>
                        <a:t>+1.5%</a:t>
                      </a:r>
                    </a:p>
                  </a:txBody>
                  <a:tcPr/>
                </a:tc>
                <a:tc>
                  <a:txBody>
                    <a:bodyPr/>
                    <a:lstStyle/>
                    <a:p>
                      <a:pPr algn="ctr">
                        <a:defRPr sz="900" b="0">
                          <a:solidFill>
                            <a:srgbClr val="000000"/>
                          </a:solidFill>
                          <a:latin typeface="Calibri"/>
                        </a:defRPr>
                      </a:pPr>
                      <a:r>
                        <a:t>+1.0%</a:t>
                      </a:r>
                    </a:p>
                  </a:txBody>
                  <a:tcPr/>
                </a:tc>
                <a:tc>
                  <a:txBody>
                    <a:bodyPr/>
                    <a:lstStyle/>
                    <a:p>
                      <a:pPr algn="ctr">
                        <a:defRPr sz="900" b="0">
                          <a:solidFill>
                            <a:srgbClr val="000000"/>
                          </a:solidFill>
                          <a:latin typeface="Calibri"/>
                        </a:defRPr>
                      </a:pPr>
                      <a:r>
                        <a:t>Preserves discriminative power</a:t>
                      </a:r>
                    </a:p>
                  </a:txBody>
                  <a:tcPr/>
                </a:tc>
              </a:tr>
              <a:tr h="284480">
                <a:tc>
                  <a:txBody>
                    <a:bodyPr/>
                    <a:lstStyle/>
                    <a:p>
                      <a:pPr algn="l">
                        <a:defRPr sz="900" b="0">
                          <a:solidFill>
                            <a:srgbClr val="000000"/>
                          </a:solidFill>
                          <a:latin typeface="Calibri"/>
                        </a:defRPr>
                      </a:pPr>
                      <a:r>
                        <a:t>Asymmetric rewards (FN=−4, TP=+2)</a:t>
                      </a:r>
                    </a:p>
                  </a:txBody>
                  <a:tcPr/>
                </a:tc>
                <a:tc>
                  <a:txBody>
                    <a:bodyPr/>
                    <a:lstStyle/>
                    <a:p>
                      <a:pPr algn="ctr">
                        <a:defRPr sz="900" b="0">
                          <a:solidFill>
                            <a:srgbClr val="000000"/>
                          </a:solidFill>
                          <a:latin typeface="Calibri"/>
                        </a:defRPr>
                      </a:pPr>
                      <a:r>
                        <a:t>+0.3%</a:t>
                      </a:r>
                    </a:p>
                  </a:txBody>
                  <a:tcPr/>
                </a:tc>
                <a:tc>
                  <a:txBody>
                    <a:bodyPr/>
                    <a:lstStyle/>
                    <a:p>
                      <a:pPr algn="ctr">
                        <a:defRPr sz="900" b="0">
                          <a:solidFill>
                            <a:srgbClr val="000000"/>
                          </a:solidFill>
                          <a:latin typeface="Calibri"/>
                        </a:defRPr>
                      </a:pPr>
                      <a:r>
                        <a:t>+1.0%</a:t>
                      </a:r>
                    </a:p>
                  </a:txBody>
                  <a:tcPr/>
                </a:tc>
                <a:tc>
                  <a:txBody>
                    <a:bodyPr/>
                    <a:lstStyle/>
                    <a:p>
                      <a:pPr algn="ctr">
                        <a:defRPr sz="900" b="0">
                          <a:solidFill>
                            <a:srgbClr val="000000"/>
                          </a:solidFill>
                          <a:latin typeface="Calibri"/>
                        </a:defRPr>
                      </a:pPr>
                      <a:r>
                        <a:t>+1.5%</a:t>
                      </a:r>
                    </a:p>
                  </a:txBody>
                  <a:tcPr/>
                </a:tc>
                <a:tc>
                  <a:txBody>
                    <a:bodyPr/>
                    <a:lstStyle/>
                    <a:p>
                      <a:pPr algn="ctr">
                        <a:defRPr sz="900" b="0">
                          <a:solidFill>
                            <a:srgbClr val="000000"/>
                          </a:solidFill>
                          <a:latin typeface="Calibri"/>
                        </a:defRPr>
                      </a:pPr>
                      <a:r>
                        <a:t>Biases toward recall</a:t>
                      </a:r>
                    </a:p>
                  </a:txBody>
                  <a:tcPr/>
                </a:tc>
              </a:tr>
              <a:tr h="284480">
                <a:tc>
                  <a:txBody>
                    <a:bodyPr/>
                    <a:lstStyle/>
                    <a:p>
                      <a:pPr algn="l">
                        <a:defRPr sz="900" b="0">
                          <a:solidFill>
                            <a:srgbClr val="000000"/>
                          </a:solidFill>
                          <a:latin typeface="Calibri"/>
                        </a:defRPr>
                      </a:pPr>
                      <a:r>
                        <a:t>RL handles all ambiguous flows</a:t>
                      </a:r>
                    </a:p>
                  </a:txBody>
                  <a:tcPr/>
                </a:tc>
                <a:tc>
                  <a:txBody>
                    <a:bodyPr/>
                    <a:lstStyle/>
                    <a:p>
                      <a:pPr algn="ctr">
                        <a:defRPr sz="900" b="0">
                          <a:solidFill>
                            <a:srgbClr val="000000"/>
                          </a:solidFill>
                          <a:latin typeface="Calibri"/>
                        </a:defRPr>
                      </a:pPr>
                      <a:r>
                        <a:t>+0.2%</a:t>
                      </a:r>
                    </a:p>
                  </a:txBody>
                  <a:tcPr/>
                </a:tc>
                <a:tc>
                  <a:txBody>
                    <a:bodyPr/>
                    <a:lstStyle/>
                    <a:p>
                      <a:pPr algn="ctr">
                        <a:defRPr sz="900" b="0">
                          <a:solidFill>
                            <a:srgbClr val="000000"/>
                          </a:solidFill>
                          <a:latin typeface="Calibri"/>
                        </a:defRPr>
                      </a:pPr>
                      <a:r>
                        <a:t>+0.8%</a:t>
                      </a:r>
                    </a:p>
                  </a:txBody>
                  <a:tcPr/>
                </a:tc>
                <a:tc>
                  <a:txBody>
                    <a:bodyPr/>
                    <a:lstStyle/>
                    <a:p>
                      <a:pPr algn="ctr">
                        <a:defRPr sz="900" b="0">
                          <a:solidFill>
                            <a:srgbClr val="000000"/>
                          </a:solidFill>
                          <a:latin typeface="Calibri"/>
                        </a:defRPr>
                      </a:pPr>
                      <a:r>
                        <a:t>+0.5%</a:t>
                      </a:r>
                    </a:p>
                  </a:txBody>
                  <a:tcPr/>
                </a:tc>
                <a:tc>
                  <a:txBody>
                    <a:bodyPr/>
                    <a:lstStyle/>
                    <a:p>
                      <a:pPr algn="ctr">
                        <a:defRPr sz="900" b="0">
                          <a:solidFill>
                            <a:srgbClr val="000000"/>
                          </a:solidFill>
                          <a:latin typeface="Calibri"/>
                        </a:defRPr>
                      </a:pPr>
                      <a:r>
                        <a:t>Consistent ambiguous decisions</a:t>
                      </a:r>
                    </a:p>
                  </a:txBody>
                  <a:tcPr/>
                </a:tc>
              </a:tr>
              <a:tr h="284480">
                <a:tc>
                  <a:txBody>
                    <a:bodyPr/>
                    <a:lstStyle/>
                    <a:p>
                      <a:pPr algn="l">
                        <a:defRPr sz="900" b="0">
                          <a:solidFill>
                            <a:srgbClr val="000000"/>
                          </a:solidFill>
                          <a:latin typeface="Calibri"/>
                        </a:defRPr>
                      </a:pPr>
                      <a:r>
                        <a:t>Higher ε-start + slower decay</a:t>
                      </a:r>
                    </a:p>
                  </a:txBody>
                  <a:tcPr/>
                </a:tc>
                <a:tc>
                  <a:txBody>
                    <a:bodyPr/>
                    <a:lstStyle/>
                    <a:p>
                      <a:pPr algn="ctr">
                        <a:defRPr sz="900" b="0">
                          <a:solidFill>
                            <a:srgbClr val="000000"/>
                          </a:solidFill>
                          <a:latin typeface="Calibri"/>
                        </a:defRPr>
                      </a:pPr>
                      <a:r>
                        <a:t>+0.1%</a:t>
                      </a:r>
                    </a:p>
                  </a:txBody>
                  <a:tcPr/>
                </a:tc>
                <a:tc>
                  <a:txBody>
                    <a:bodyPr/>
                    <a:lstStyle/>
                    <a:p>
                      <a:pPr algn="ctr">
                        <a:defRPr sz="900" b="0">
                          <a:solidFill>
                            <a:srgbClr val="000000"/>
                          </a:solidFill>
                          <a:latin typeface="Calibri"/>
                        </a:defRPr>
                      </a:pPr>
                      <a:r>
                        <a:t>+0.5%</a:t>
                      </a:r>
                    </a:p>
                  </a:txBody>
                  <a:tcPr/>
                </a:tc>
                <a:tc>
                  <a:txBody>
                    <a:bodyPr/>
                    <a:lstStyle/>
                    <a:p>
                      <a:pPr algn="ctr">
                        <a:defRPr sz="900" b="0">
                          <a:solidFill>
                            <a:srgbClr val="000000"/>
                          </a:solidFill>
                          <a:latin typeface="Calibri"/>
                        </a:defRPr>
                      </a:pPr>
                      <a:r>
                        <a:t>+0.3%</a:t>
                      </a:r>
                    </a:p>
                  </a:txBody>
                  <a:tcPr/>
                </a:tc>
                <a:tc>
                  <a:txBody>
                    <a:bodyPr/>
                    <a:lstStyle/>
                    <a:p>
                      <a:pPr algn="ctr">
                        <a:defRPr sz="900" b="0">
                          <a:solidFill>
                            <a:srgbClr val="000000"/>
                          </a:solidFill>
                          <a:latin typeface="Calibri"/>
                        </a:defRPr>
                      </a:pPr>
                      <a:r>
                        <a:t>Better state space exploration</a:t>
                      </a:r>
                    </a:p>
                  </a:txBody>
                  <a:tcPr/>
                </a:tc>
              </a:tr>
              <a:tr h="284480">
                <a:tc>
                  <a:txBody>
                    <a:bodyPr/>
                    <a:lstStyle/>
                    <a:p>
                      <a:pPr algn="l">
                        <a:defRPr sz="900" b="0">
                          <a:solidFill>
                            <a:srgbClr val="000000"/>
                          </a:solidFill>
                          <a:latin typeface="Calibri"/>
                        </a:defRPr>
                      </a:pPr>
                      <a:r>
                        <a:t>Buffer 30→50, epochs 10→20</a:t>
                      </a:r>
                    </a:p>
                  </a:txBody>
                  <a:tcPr/>
                </a:tc>
                <a:tc>
                  <a:txBody>
                    <a:bodyPr/>
                    <a:lstStyle/>
                    <a:p>
                      <a:pPr algn="ctr">
                        <a:defRPr sz="900" b="0">
                          <a:solidFill>
                            <a:srgbClr val="000000"/>
                          </a:solidFill>
                          <a:latin typeface="Calibri"/>
                        </a:defRPr>
                      </a:pPr>
                      <a:r>
                        <a:t>+0.2%</a:t>
                      </a:r>
                    </a:p>
                  </a:txBody>
                  <a:tcPr/>
                </a:tc>
                <a:tc>
                  <a:txBody>
                    <a:bodyPr/>
                    <a:lstStyle/>
                    <a:p>
                      <a:pPr algn="ctr">
                        <a:defRPr sz="900" b="0">
                          <a:solidFill>
                            <a:srgbClr val="000000"/>
                          </a:solidFill>
                          <a:latin typeface="Calibri"/>
                        </a:defRPr>
                      </a:pPr>
                      <a:r>
                        <a:t>+0.5%</a:t>
                      </a:r>
                    </a:p>
                  </a:txBody>
                  <a:tcPr/>
                </a:tc>
                <a:tc>
                  <a:txBody>
                    <a:bodyPr/>
                    <a:lstStyle/>
                    <a:p>
                      <a:pPr algn="ctr">
                        <a:defRPr sz="900" b="0">
                          <a:solidFill>
                            <a:srgbClr val="000000"/>
                          </a:solidFill>
                          <a:latin typeface="Calibri"/>
                        </a:defRPr>
                      </a:pPr>
                      <a:r>
                        <a:t>+0.9%</a:t>
                      </a:r>
                    </a:p>
                  </a:txBody>
                  <a:tcPr/>
                </a:tc>
                <a:tc>
                  <a:txBody>
                    <a:bodyPr/>
                    <a:lstStyle/>
                    <a:p>
                      <a:pPr algn="ctr">
                        <a:defRPr sz="900" b="0">
                          <a:solidFill>
                            <a:srgbClr val="000000"/>
                          </a:solidFill>
                          <a:latin typeface="Calibri"/>
                        </a:defRPr>
                      </a:pPr>
                      <a:r>
                        <a:t>Reliable stats + Q-convergence</a:t>
                      </a:r>
                    </a:p>
                  </a:txBody>
                  <a:tcPr/>
                </a:tc>
              </a:tr>
              <a:tr h="284480">
                <a:tc>
                  <a:txBody>
                    <a:bodyPr/>
                    <a:lstStyle/>
                    <a:p>
                      <a:pPr algn="l">
                        <a:defRPr sz="900" b="0">
                          <a:solidFill>
                            <a:srgbClr val="000000"/>
                          </a:solidFill>
                          <a:latin typeface="Calibri"/>
                        </a:defRPr>
                      </a:pPr>
                      <a:r>
                        <a:t>TOTAL IMPROVEMENT</a:t>
                      </a:r>
                    </a:p>
                  </a:txBody>
                  <a:tcPr>
                    <a:solidFill>
                      <a:srgbClr val="D5F5E3"/>
                    </a:solidFill>
                  </a:tcPr>
                </a:tc>
                <a:tc>
                  <a:txBody>
                    <a:bodyPr/>
                    <a:lstStyle/>
                    <a:p>
                      <a:pPr algn="ctr">
                        <a:defRPr sz="900" b="0">
                          <a:solidFill>
                            <a:srgbClr val="000000"/>
                          </a:solidFill>
                          <a:latin typeface="Calibri"/>
                        </a:defRPr>
                      </a:pPr>
                      <a:r>
                        <a:t>+1.9%</a:t>
                      </a:r>
                    </a:p>
                  </a:txBody>
                  <a:tcPr>
                    <a:solidFill>
                      <a:srgbClr val="D5F5E3"/>
                    </a:solidFill>
                  </a:tcPr>
                </a:tc>
                <a:tc>
                  <a:txBody>
                    <a:bodyPr/>
                    <a:lstStyle/>
                    <a:p>
                      <a:pPr algn="ctr">
                        <a:defRPr sz="900" b="0">
                          <a:solidFill>
                            <a:srgbClr val="000000"/>
                          </a:solidFill>
                          <a:latin typeface="Calibri"/>
                        </a:defRPr>
                      </a:pPr>
                      <a:r>
                        <a:t>+8.7%</a:t>
                      </a:r>
                    </a:p>
                  </a:txBody>
                  <a:tcPr>
                    <a:solidFill>
                      <a:srgbClr val="D5F5E3"/>
                    </a:solidFill>
                  </a:tcPr>
                </a:tc>
                <a:tc>
                  <a:txBody>
                    <a:bodyPr/>
                    <a:lstStyle/>
                    <a:p>
                      <a:pPr algn="ctr">
                        <a:defRPr sz="900" b="0">
                          <a:solidFill>
                            <a:srgbClr val="000000"/>
                          </a:solidFill>
                          <a:latin typeface="Calibri"/>
                        </a:defRPr>
                      </a:pPr>
                      <a:r>
                        <a:t>+6.7%</a:t>
                      </a:r>
                    </a:p>
                  </a:txBody>
                  <a:tcPr>
                    <a:solidFill>
                      <a:srgbClr val="D5F5E3"/>
                    </a:solidFill>
                  </a:tcPr>
                </a:tc>
                <a:tc>
                  <a:txBody>
                    <a:bodyPr/>
                    <a:lstStyle/>
                    <a:p>
                      <a:pPr algn="ctr">
                        <a:defRPr sz="900" b="0">
                          <a:solidFill>
                            <a:srgbClr val="000000"/>
                          </a:solidFill>
                          <a:latin typeface="Calibri"/>
                        </a:defRPr>
                      </a:pPr>
                      <a:r>
                        <a:t>Combined synergistic effect</a:t>
                      </a:r>
                    </a:p>
                  </a:txBody>
                  <a:tcPr>
                    <a:solidFill>
                      <a:srgbClr val="D5F5E3"/>
                    </a:solidFill>
                  </a:tcPr>
                </a:tc>
              </a:tr>
            </a:tbl>
          </a:graphicData>
        </a:graphic>
      </p:graphicFrame>
      <p:sp>
        <p:nvSpPr>
          <p:cNvPr id="7" name="TextBox 6"/>
          <p:cNvSpPr txBox="1"/>
          <p:nvPr/>
        </p:nvSpPr>
        <p:spPr>
          <a:xfrm>
            <a:off x="8503920" y="868680"/>
            <a:ext cx="3200400" cy="1188720"/>
          </a:xfrm>
          <a:prstGeom prst="rect">
            <a:avLst/>
          </a:prstGeom>
          <a:noFill/>
        </p:spPr>
        <p:txBody>
          <a:bodyPr wrap="square">
            <a:spAutoFit/>
          </a:bodyPr>
          <a:lstStyle/>
          <a:p>
            <a:pPr algn="l">
              <a:defRPr sz="1100" b="1">
                <a:solidFill>
                  <a:srgbClr val="1E8E3E"/>
                </a:solidFill>
                <a:latin typeface="Calibri"/>
              </a:defRPr>
            </a:pPr>
            <a:r>
              <a:t>UNSW saw largest gain</a:t>
            </a:r>
            <a:br/>
            <a:r>
              <a:t>(+8.7%) driven by</a:t>
            </a:r>
            <a:br/>
            <a:r>
              <a:t>new features (+5.0%)</a:t>
            </a:r>
            <a:br/>
            <a:r>
              <a:t>and deeper DT (+2.5%)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274320" y="137160"/>
            <a:ext cx="11430000" cy="457200"/>
          </a:xfrm>
          <a:prstGeom prst="rect">
            <a:avLst/>
          </a:prstGeom>
          <a:noFill/>
        </p:spPr>
        <p:txBody>
          <a:bodyPr wrap="square">
            <a:spAutoFit/>
          </a:bodyPr>
          <a:lstStyle/>
          <a:p>
            <a:pPr algn="ctr">
              <a:defRPr sz="2400" b="1">
                <a:solidFill>
                  <a:srgbClr val="003C71"/>
                </a:solidFill>
                <a:latin typeface="Calibri"/>
              </a:defRPr>
            </a:pPr>
            <a:r>
              <a:t>Novel Attack Adaptation: ASRRL vs Static Baselines</a:t>
            </a:r>
          </a:p>
        </p:txBody>
      </p:sp>
      <p:sp>
        <p:nvSpPr>
          <p:cNvPr id="3" name="TextBox 2"/>
          <p:cNvSpPr txBox="1"/>
          <p:nvPr/>
        </p:nvSpPr>
        <p:spPr>
          <a:xfrm>
            <a:off x="274320" y="548640"/>
            <a:ext cx="11430000" cy="274320"/>
          </a:xfrm>
          <a:prstGeom prst="rect">
            <a:avLst/>
          </a:prstGeom>
          <a:noFill/>
        </p:spPr>
        <p:txBody>
          <a:bodyPr wrap="square">
            <a:spAutoFit/>
          </a:bodyPr>
          <a:lstStyle/>
          <a:p>
            <a:pPr algn="ctr">
              <a:defRPr sz="1000" b="0">
                <a:solidFill>
                  <a:srgbClr val="7F8C8D"/>
                </a:solidFill>
                <a:latin typeface="Calibri"/>
              </a:defRPr>
            </a:pPr>
            <a:r>
              <a:t>Experiment: Hold out unseen attack types from training → measure F1 on test stream containing novel attacks (100K samples, 20 epochs)</a:t>
            </a:r>
          </a:p>
        </p:txBody>
      </p:sp>
      <p:sp>
        <p:nvSpPr>
          <p:cNvPr id="4" name="TextBox 3"/>
          <p:cNvSpPr txBox="1"/>
          <p:nvPr/>
        </p:nvSpPr>
        <p:spPr>
          <a:xfrm>
            <a:off x="365760" y="822960"/>
            <a:ext cx="5486400" cy="228600"/>
          </a:xfrm>
          <a:prstGeom prst="rect">
            <a:avLst/>
          </a:prstGeom>
          <a:noFill/>
        </p:spPr>
        <p:txBody>
          <a:bodyPr wrap="square">
            <a:spAutoFit/>
          </a:bodyPr>
          <a:lstStyle/>
          <a:p>
            <a:pPr algn="l">
              <a:defRPr sz="1200" b="1">
                <a:solidFill>
                  <a:srgbClr val="003C71"/>
                </a:solidFill>
                <a:latin typeface="Calibri"/>
              </a:defRPr>
            </a:pPr>
            <a:r>
              <a:t>Overall F1-Score Under Novel Attacks</a:t>
            </a:r>
          </a:p>
        </p:txBody>
      </p:sp>
      <p:graphicFrame>
        <p:nvGraphicFramePr>
          <p:cNvPr id="5" name="Table 4"/>
          <p:cNvGraphicFramePr>
            <a:graphicFrameLocks noGrp="1"/>
          </p:cNvGraphicFramePr>
          <p:nvPr/>
        </p:nvGraphicFramePr>
        <p:xfrm>
          <a:off x="365760" y="1051560"/>
          <a:ext cx="9784080" cy="1188720"/>
        </p:xfrm>
        <a:graphic>
          <a:graphicData uri="http://schemas.openxmlformats.org/drawingml/2006/table">
            <a:tbl>
              <a:tblPr firstRow="1" bandRow="1">
                <a:tableStyleId>{5C22544A-7EE6-4342-B048-85BDC9FD1C3A}</a:tableStyleId>
              </a:tblPr>
              <a:tblGrid>
                <a:gridCol w="1828800"/>
                <a:gridCol w="1188720"/>
                <a:gridCol w="1371600"/>
                <a:gridCol w="1371600"/>
                <a:gridCol w="1188720"/>
                <a:gridCol w="1188720"/>
                <a:gridCol w="1645920"/>
              </a:tblGrid>
              <a:tr h="237744">
                <a:tc>
                  <a:txBody>
                    <a:bodyPr/>
                    <a:lstStyle/>
                    <a:p>
                      <a:pPr algn="ctr">
                        <a:defRPr sz="1000" b="1">
                          <a:solidFill>
                            <a:srgbClr val="FFFFFF"/>
                          </a:solidFill>
                          <a:latin typeface="Calibri"/>
                        </a:defRPr>
                      </a:pPr>
                      <a:r>
                        <a:t>Dataset</a:t>
                      </a:r>
                    </a:p>
                  </a:txBody>
                  <a:tcPr>
                    <a:solidFill>
                      <a:srgbClr val="003C71"/>
                    </a:solidFill>
                  </a:tcPr>
                </a:tc>
                <a:tc>
                  <a:txBody>
                    <a:bodyPr/>
                    <a:lstStyle/>
                    <a:p>
                      <a:pPr algn="ctr">
                        <a:defRPr sz="1000" b="1">
                          <a:solidFill>
                            <a:srgbClr val="FFFFFF"/>
                          </a:solidFill>
                          <a:latin typeface="Calibri"/>
                        </a:defRPr>
                      </a:pPr>
                      <a:r>
                        <a:t>ASRRL</a:t>
                      </a:r>
                    </a:p>
                    <a:p>
                      <a:pPr algn="ctr">
                        <a:defRPr sz="1000" b="1">
                          <a:solidFill>
                            <a:srgbClr val="FFFFFF"/>
                          </a:solidFill>
                          <a:latin typeface="Calibri"/>
                        </a:defRPr>
                      </a:pPr>
                      <a:r>
                        <a:t>(Ours)</a:t>
                      </a:r>
                    </a:p>
                  </a:txBody>
                  <a:tcPr>
                    <a:solidFill>
                      <a:srgbClr val="003C71"/>
                    </a:solidFill>
                  </a:tcPr>
                </a:tc>
                <a:tc>
                  <a:txBody>
                    <a:bodyPr/>
                    <a:lstStyle/>
                    <a:p>
                      <a:pPr algn="ctr">
                        <a:defRPr sz="1000" b="1">
                          <a:solidFill>
                            <a:srgbClr val="FFFFFF"/>
                          </a:solidFill>
                          <a:latin typeface="Calibri"/>
                        </a:defRPr>
                      </a:pPr>
                      <a:r>
                        <a:t>Random</a:t>
                      </a:r>
                    </a:p>
                    <a:p>
                      <a:pPr algn="ctr">
                        <a:defRPr sz="1000" b="1">
                          <a:solidFill>
                            <a:srgbClr val="FFFFFF"/>
                          </a:solidFill>
                          <a:latin typeface="Calibri"/>
                        </a:defRPr>
                      </a:pPr>
                      <a:r>
                        <a:t>Forest</a:t>
                      </a:r>
                    </a:p>
                  </a:txBody>
                  <a:tcPr>
                    <a:solidFill>
                      <a:srgbClr val="003C71"/>
                    </a:solidFill>
                  </a:tcPr>
                </a:tc>
                <a:tc>
                  <a:txBody>
                    <a:bodyPr/>
                    <a:lstStyle/>
                    <a:p>
                      <a:pPr algn="ctr">
                        <a:defRPr sz="1000" b="1">
                          <a:solidFill>
                            <a:srgbClr val="FFFFFF"/>
                          </a:solidFill>
                          <a:latin typeface="Calibri"/>
                        </a:defRPr>
                      </a:pPr>
                      <a:r>
                        <a:t>XGBoost</a:t>
                      </a:r>
                    </a:p>
                  </a:txBody>
                  <a:tcPr>
                    <a:solidFill>
                      <a:srgbClr val="003C71"/>
                    </a:solidFill>
                  </a:tcPr>
                </a:tc>
                <a:tc>
                  <a:txBody>
                    <a:bodyPr/>
                    <a:lstStyle/>
                    <a:p>
                      <a:pPr algn="ctr">
                        <a:defRPr sz="1000" b="1">
                          <a:solidFill>
                            <a:srgbClr val="FFFFFF"/>
                          </a:solidFill>
                          <a:latin typeface="Calibri"/>
                        </a:defRPr>
                      </a:pPr>
                      <a:r>
                        <a:t>SVM</a:t>
                      </a:r>
                    </a:p>
                  </a:txBody>
                  <a:tcPr>
                    <a:solidFill>
                      <a:srgbClr val="003C71"/>
                    </a:solidFill>
                  </a:tcPr>
                </a:tc>
                <a:tc>
                  <a:txBody>
                    <a:bodyPr/>
                    <a:lstStyle/>
                    <a:p>
                      <a:pPr algn="ctr">
                        <a:defRPr sz="1000" b="1">
                          <a:solidFill>
                            <a:srgbClr val="FFFFFF"/>
                          </a:solidFill>
                          <a:latin typeface="Calibri"/>
                        </a:defRPr>
                      </a:pPr>
                      <a:r>
                        <a:t>KNN</a:t>
                      </a:r>
                    </a:p>
                  </a:txBody>
                  <a:tcPr>
                    <a:solidFill>
                      <a:srgbClr val="003C71"/>
                    </a:solidFill>
                  </a:tcPr>
                </a:tc>
                <a:tc>
                  <a:txBody>
                    <a:bodyPr/>
                    <a:lstStyle/>
                    <a:p>
                      <a:pPr algn="ctr">
                        <a:defRPr sz="1000" b="1">
                          <a:solidFill>
                            <a:srgbClr val="FFFFFF"/>
                          </a:solidFill>
                          <a:latin typeface="Calibri"/>
                        </a:defRPr>
                      </a:pPr>
                      <a:r>
                        <a:t>ASRRL</a:t>
                      </a:r>
                    </a:p>
                    <a:p>
                      <a:pPr algn="ctr">
                        <a:defRPr sz="1000" b="1">
                          <a:solidFill>
                            <a:srgbClr val="FFFFFF"/>
                          </a:solidFill>
                          <a:latin typeface="Calibri"/>
                        </a:defRPr>
                      </a:pPr>
                      <a:r>
                        <a:t>Beats</a:t>
                      </a:r>
                    </a:p>
                  </a:txBody>
                  <a:tcPr>
                    <a:solidFill>
                      <a:srgbClr val="003C71"/>
                    </a:solidFill>
                  </a:tcPr>
                </a:tc>
              </a:tr>
              <a:tr h="237744">
                <a:tc>
                  <a:txBody>
                    <a:bodyPr/>
                    <a:lstStyle/>
                    <a:p>
                      <a:pPr algn="l">
                        <a:defRPr sz="1000" b="0">
                          <a:solidFill>
                            <a:srgbClr val="000000"/>
                          </a:solidFill>
                          <a:latin typeface="Calibri"/>
                        </a:defRPr>
                      </a:pPr>
                      <a:r>
                        <a:t>CSE-CIC-IDS-2018</a:t>
                      </a:r>
                    </a:p>
                  </a:txBody>
                  <a:tcPr/>
                </a:tc>
                <a:tc>
                  <a:txBody>
                    <a:bodyPr/>
                    <a:lstStyle/>
                    <a:p>
                      <a:pPr algn="ctr">
                        <a:defRPr sz="1000" b="1">
                          <a:solidFill>
                            <a:srgbClr val="000000"/>
                          </a:solidFill>
                          <a:latin typeface="Calibri"/>
                        </a:defRPr>
                      </a:pPr>
                      <a:r>
                        <a:t>0.9995</a:t>
                      </a:r>
                    </a:p>
                  </a:txBody>
                  <a:tcPr>
                    <a:solidFill>
                      <a:srgbClr val="D5F5E3"/>
                    </a:solidFill>
                  </a:tcPr>
                </a:tc>
                <a:tc>
                  <a:txBody>
                    <a:bodyPr/>
                    <a:lstStyle/>
                    <a:p>
                      <a:pPr algn="ctr">
                        <a:defRPr sz="1000" b="0">
                          <a:solidFill>
                            <a:srgbClr val="000000"/>
                          </a:solidFill>
                          <a:latin typeface="Calibri"/>
                        </a:defRPr>
                      </a:pPr>
                      <a:r>
                        <a:t>0.9998</a:t>
                      </a:r>
                    </a:p>
                  </a:txBody>
                  <a:tcPr/>
                </a:tc>
                <a:tc>
                  <a:txBody>
                    <a:bodyPr/>
                    <a:lstStyle/>
                    <a:p>
                      <a:pPr algn="ctr">
                        <a:defRPr sz="1000" b="0">
                          <a:solidFill>
                            <a:srgbClr val="000000"/>
                          </a:solidFill>
                          <a:latin typeface="Calibri"/>
                        </a:defRPr>
                      </a:pPr>
                      <a:r>
                        <a:t>0.9998</a:t>
                      </a:r>
                    </a:p>
                  </a:txBody>
                  <a:tcPr/>
                </a:tc>
                <a:tc>
                  <a:txBody>
                    <a:bodyPr/>
                    <a:lstStyle/>
                    <a:p>
                      <a:pPr algn="ctr">
                        <a:defRPr sz="1000" b="0">
                          <a:solidFill>
                            <a:srgbClr val="000000"/>
                          </a:solidFill>
                          <a:latin typeface="Calibri"/>
                        </a:defRPr>
                      </a:pPr>
                      <a:r>
                        <a:t>0.9975</a:t>
                      </a:r>
                    </a:p>
                  </a:txBody>
                  <a:tcPr/>
                </a:tc>
                <a:tc>
                  <a:txBody>
                    <a:bodyPr/>
                    <a:lstStyle/>
                    <a:p>
                      <a:pPr algn="ctr">
                        <a:defRPr sz="1000" b="0">
                          <a:solidFill>
                            <a:srgbClr val="000000"/>
                          </a:solidFill>
                          <a:latin typeface="Calibri"/>
                        </a:defRPr>
                      </a:pPr>
                      <a:r>
                        <a:t>0.9996</a:t>
                      </a:r>
                    </a:p>
                  </a:txBody>
                  <a:tcPr/>
                </a:tc>
                <a:tc>
                  <a:txBody>
                    <a:bodyPr/>
                    <a:lstStyle/>
                    <a:p>
                      <a:pPr algn="ctr">
                        <a:defRPr sz="1000" b="0">
                          <a:solidFill>
                            <a:srgbClr val="000000"/>
                          </a:solidFill>
                          <a:latin typeface="Calibri"/>
                        </a:defRPr>
                      </a:pPr>
                      <a:r>
                        <a:t>SVM</a:t>
                      </a:r>
                    </a:p>
                  </a:txBody>
                  <a:tcPr/>
                </a:tc>
              </a:tr>
              <a:tr h="237744">
                <a:tc>
                  <a:txBody>
                    <a:bodyPr/>
                    <a:lstStyle/>
                    <a:p>
                      <a:pPr algn="l">
                        <a:defRPr sz="1000" b="0">
                          <a:solidFill>
                            <a:srgbClr val="000000"/>
                          </a:solidFill>
                          <a:latin typeface="Calibri"/>
                        </a:defRPr>
                      </a:pPr>
                      <a:r>
                        <a:t>UNSW-NB15</a:t>
                      </a:r>
                    </a:p>
                  </a:txBody>
                  <a:tcPr/>
                </a:tc>
                <a:tc>
                  <a:txBody>
                    <a:bodyPr/>
                    <a:lstStyle/>
                    <a:p>
                      <a:pPr algn="ctr">
                        <a:defRPr sz="1000" b="1">
                          <a:solidFill>
                            <a:srgbClr val="000000"/>
                          </a:solidFill>
                          <a:latin typeface="Calibri"/>
                        </a:defRPr>
                      </a:pPr>
                      <a:r>
                        <a:t>0.9459</a:t>
                      </a:r>
                    </a:p>
                  </a:txBody>
                  <a:tcPr>
                    <a:solidFill>
                      <a:srgbClr val="D5F5E3"/>
                    </a:solidFill>
                  </a:tcPr>
                </a:tc>
                <a:tc>
                  <a:txBody>
                    <a:bodyPr/>
                    <a:lstStyle/>
                    <a:p>
                      <a:pPr algn="ctr">
                        <a:defRPr sz="1000" b="0">
                          <a:solidFill>
                            <a:srgbClr val="000000"/>
                          </a:solidFill>
                          <a:latin typeface="Calibri"/>
                        </a:defRPr>
                      </a:pPr>
                      <a:r>
                        <a:t>0.9634</a:t>
                      </a:r>
                    </a:p>
                  </a:txBody>
                  <a:tcPr/>
                </a:tc>
                <a:tc>
                  <a:txBody>
                    <a:bodyPr/>
                    <a:lstStyle/>
                    <a:p>
                      <a:pPr algn="ctr">
                        <a:defRPr sz="1000" b="0">
                          <a:solidFill>
                            <a:srgbClr val="000000"/>
                          </a:solidFill>
                          <a:latin typeface="Calibri"/>
                        </a:defRPr>
                      </a:pPr>
                      <a:r>
                        <a:t>0.9662</a:t>
                      </a:r>
                    </a:p>
                  </a:txBody>
                  <a:tcPr/>
                </a:tc>
                <a:tc>
                  <a:txBody>
                    <a:bodyPr/>
                    <a:lstStyle/>
                    <a:p>
                      <a:pPr algn="ctr">
                        <a:defRPr sz="1000" b="0">
                          <a:solidFill>
                            <a:srgbClr val="000000"/>
                          </a:solidFill>
                          <a:latin typeface="Calibri"/>
                        </a:defRPr>
                      </a:pPr>
                      <a:r>
                        <a:t>0.9442</a:t>
                      </a:r>
                    </a:p>
                  </a:txBody>
                  <a:tcPr/>
                </a:tc>
                <a:tc>
                  <a:txBody>
                    <a:bodyPr/>
                    <a:lstStyle/>
                    <a:p>
                      <a:pPr algn="ctr">
                        <a:defRPr sz="1000" b="0">
                          <a:solidFill>
                            <a:srgbClr val="000000"/>
                          </a:solidFill>
                          <a:latin typeface="Calibri"/>
                        </a:defRPr>
                      </a:pPr>
                      <a:r>
                        <a:t>0.9500</a:t>
                      </a:r>
                    </a:p>
                  </a:txBody>
                  <a:tcPr/>
                </a:tc>
                <a:tc>
                  <a:txBody>
                    <a:bodyPr/>
                    <a:lstStyle/>
                    <a:p>
                      <a:pPr algn="ctr">
                        <a:defRPr sz="1000" b="0">
                          <a:solidFill>
                            <a:srgbClr val="000000"/>
                          </a:solidFill>
                          <a:latin typeface="Calibri"/>
                        </a:defRPr>
                      </a:pPr>
                      <a:r>
                        <a:t>SVM</a:t>
                      </a:r>
                    </a:p>
                  </a:txBody>
                  <a:tcPr/>
                </a:tc>
              </a:tr>
              <a:tr h="237744">
                <a:tc>
                  <a:txBody>
                    <a:bodyPr/>
                    <a:lstStyle/>
                    <a:p>
                      <a:pPr algn="l">
                        <a:defRPr sz="1000" b="0">
                          <a:solidFill>
                            <a:srgbClr val="000000"/>
                          </a:solidFill>
                          <a:latin typeface="Calibri"/>
                        </a:defRPr>
                      </a:pPr>
                      <a:r>
                        <a:t>CIC-IDS2017</a:t>
                      </a:r>
                    </a:p>
                  </a:txBody>
                  <a:tcPr>
                    <a:solidFill>
                      <a:srgbClr val="D5F5E3"/>
                    </a:solidFill>
                  </a:tcPr>
                </a:tc>
                <a:tc>
                  <a:txBody>
                    <a:bodyPr/>
                    <a:lstStyle/>
                    <a:p>
                      <a:pPr algn="ctr">
                        <a:defRPr sz="1000" b="1">
                          <a:solidFill>
                            <a:srgbClr val="000000"/>
                          </a:solidFill>
                          <a:latin typeface="Calibri"/>
                        </a:defRPr>
                      </a:pPr>
                      <a:r>
                        <a:t>0.9216</a:t>
                      </a:r>
                    </a:p>
                  </a:txBody>
                  <a:tcPr>
                    <a:solidFill>
                      <a:srgbClr val="D5F5E3"/>
                    </a:solidFill>
                  </a:tcPr>
                </a:tc>
                <a:tc>
                  <a:txBody>
                    <a:bodyPr/>
                    <a:lstStyle/>
                    <a:p>
                      <a:pPr algn="ctr">
                        <a:defRPr sz="1000" b="0">
                          <a:solidFill>
                            <a:srgbClr val="000000"/>
                          </a:solidFill>
                          <a:latin typeface="Calibri"/>
                        </a:defRPr>
                      </a:pPr>
                      <a:r>
                        <a:t>0.8435</a:t>
                      </a:r>
                    </a:p>
                  </a:txBody>
                  <a:tcPr>
                    <a:solidFill>
                      <a:srgbClr val="D5F5E3"/>
                    </a:solidFill>
                  </a:tcPr>
                </a:tc>
                <a:tc>
                  <a:txBody>
                    <a:bodyPr/>
                    <a:lstStyle/>
                    <a:p>
                      <a:pPr algn="ctr">
                        <a:defRPr sz="1000" b="0">
                          <a:solidFill>
                            <a:srgbClr val="000000"/>
                          </a:solidFill>
                          <a:latin typeface="Calibri"/>
                        </a:defRPr>
                      </a:pPr>
                      <a:r>
                        <a:t>0.8881</a:t>
                      </a:r>
                    </a:p>
                  </a:txBody>
                  <a:tcPr>
                    <a:solidFill>
                      <a:srgbClr val="D5F5E3"/>
                    </a:solidFill>
                  </a:tcPr>
                </a:tc>
                <a:tc>
                  <a:txBody>
                    <a:bodyPr/>
                    <a:lstStyle/>
                    <a:p>
                      <a:pPr algn="ctr">
                        <a:defRPr sz="1000" b="0">
                          <a:solidFill>
                            <a:srgbClr val="000000"/>
                          </a:solidFill>
                          <a:latin typeface="Calibri"/>
                        </a:defRPr>
                      </a:pPr>
                      <a:r>
                        <a:t>0.7779</a:t>
                      </a:r>
                    </a:p>
                  </a:txBody>
                  <a:tcPr>
                    <a:solidFill>
                      <a:srgbClr val="D5F5E3"/>
                    </a:solidFill>
                  </a:tcPr>
                </a:tc>
                <a:tc>
                  <a:txBody>
                    <a:bodyPr/>
                    <a:lstStyle/>
                    <a:p>
                      <a:pPr algn="ctr">
                        <a:defRPr sz="1000" b="0">
                          <a:solidFill>
                            <a:srgbClr val="000000"/>
                          </a:solidFill>
                          <a:latin typeface="Calibri"/>
                        </a:defRPr>
                      </a:pPr>
                      <a:r>
                        <a:t>0.8495</a:t>
                      </a:r>
                    </a:p>
                  </a:txBody>
                  <a:tcPr>
                    <a:solidFill>
                      <a:srgbClr val="D5F5E3"/>
                    </a:solidFill>
                  </a:tcPr>
                </a:tc>
                <a:tc>
                  <a:txBody>
                    <a:bodyPr/>
                    <a:lstStyle/>
                    <a:p>
                      <a:pPr algn="ctr">
                        <a:defRPr sz="1000" b="0">
                          <a:solidFill>
                            <a:srgbClr val="000000"/>
                          </a:solidFill>
                          <a:latin typeface="Calibri"/>
                        </a:defRPr>
                      </a:pPr>
                      <a:r>
                        <a:t>ALL ★</a:t>
                      </a:r>
                    </a:p>
                  </a:txBody>
                  <a:tcPr>
                    <a:solidFill>
                      <a:srgbClr val="D5F5E3"/>
                    </a:solidFill>
                  </a:tcPr>
                </a:tc>
              </a:tr>
              <a:tr h="237744">
                <a:tc>
                  <a:txBody>
                    <a:bodyPr/>
                    <a:lstStyle/>
                    <a:p>
                      <a:pPr algn="l">
                        <a:defRPr sz="1000" b="0">
                          <a:solidFill>
                            <a:srgbClr val="000000"/>
                          </a:solidFill>
                          <a:latin typeface="Calibri"/>
                        </a:defRPr>
                      </a:pPr>
                      <a:r>
                        <a:t>MISP Threat Intel</a:t>
                      </a:r>
                    </a:p>
                  </a:txBody>
                  <a:tcPr/>
                </a:tc>
                <a:tc>
                  <a:txBody>
                    <a:bodyPr/>
                    <a:lstStyle/>
                    <a:p>
                      <a:pPr algn="ctr">
                        <a:defRPr sz="1000" b="1">
                          <a:solidFill>
                            <a:srgbClr val="000000"/>
                          </a:solidFill>
                          <a:latin typeface="Calibri"/>
                        </a:defRPr>
                      </a:pPr>
                      <a:r>
                        <a:t>0.9662</a:t>
                      </a:r>
                    </a:p>
                  </a:txBody>
                  <a:tcPr>
                    <a:solidFill>
                      <a:srgbClr val="D5F5E3"/>
                    </a:solidFill>
                  </a:tcPr>
                </a:tc>
                <a:tc>
                  <a:txBody>
                    <a:bodyPr/>
                    <a:lstStyle/>
                    <a:p>
                      <a:pPr algn="ctr">
                        <a:defRPr sz="1000" b="0">
                          <a:solidFill>
                            <a:srgbClr val="000000"/>
                          </a:solidFill>
                          <a:latin typeface="Calibri"/>
                        </a:defRPr>
                      </a:pPr>
                      <a:r>
                        <a:t>0.9740</a:t>
                      </a:r>
                    </a:p>
                  </a:txBody>
                  <a:tcPr/>
                </a:tc>
                <a:tc>
                  <a:txBody>
                    <a:bodyPr/>
                    <a:lstStyle/>
                    <a:p>
                      <a:pPr algn="ctr">
                        <a:defRPr sz="1000" b="0">
                          <a:solidFill>
                            <a:srgbClr val="000000"/>
                          </a:solidFill>
                          <a:latin typeface="Calibri"/>
                        </a:defRPr>
                      </a:pPr>
                      <a:r>
                        <a:t>0.9756</a:t>
                      </a:r>
                    </a:p>
                  </a:txBody>
                  <a:tcPr/>
                </a:tc>
                <a:tc>
                  <a:txBody>
                    <a:bodyPr/>
                    <a:lstStyle/>
                    <a:p>
                      <a:pPr algn="ctr">
                        <a:defRPr sz="1000" b="0">
                          <a:solidFill>
                            <a:srgbClr val="000000"/>
                          </a:solidFill>
                          <a:latin typeface="Calibri"/>
                        </a:defRPr>
                      </a:pPr>
                      <a:r>
                        <a:t>0.9734</a:t>
                      </a:r>
                    </a:p>
                  </a:txBody>
                  <a:tcPr/>
                </a:tc>
                <a:tc>
                  <a:txBody>
                    <a:bodyPr/>
                    <a:lstStyle/>
                    <a:p>
                      <a:pPr algn="ctr">
                        <a:defRPr sz="1000" b="0">
                          <a:solidFill>
                            <a:srgbClr val="000000"/>
                          </a:solidFill>
                          <a:latin typeface="Calibri"/>
                        </a:defRPr>
                      </a:pPr>
                      <a:r>
                        <a:t>0.9684</a:t>
                      </a:r>
                    </a:p>
                  </a:txBody>
                  <a:tcPr/>
                </a:tc>
                <a:tc>
                  <a:txBody>
                    <a:bodyPr/>
                    <a:lstStyle/>
                    <a:p>
                      <a:pPr algn="ctr">
                        <a:defRPr sz="1000" b="0">
                          <a:solidFill>
                            <a:srgbClr val="000000"/>
                          </a:solidFill>
                          <a:latin typeface="Calibri"/>
                        </a:defRPr>
                      </a:pPr>
                      <a:r>
                        <a:t>SVM</a:t>
                      </a:r>
                    </a:p>
                  </a:txBody>
                  <a:tcPr/>
                </a:tc>
              </a:tr>
            </a:tbl>
          </a:graphicData>
        </a:graphic>
      </p:graphicFrame>
      <p:sp>
        <p:nvSpPr>
          <p:cNvPr id="6" name="TextBox 5"/>
          <p:cNvSpPr txBox="1"/>
          <p:nvPr/>
        </p:nvSpPr>
        <p:spPr>
          <a:xfrm>
            <a:off x="365760" y="2423160"/>
            <a:ext cx="7315200" cy="228600"/>
          </a:xfrm>
          <a:prstGeom prst="rect">
            <a:avLst/>
          </a:prstGeom>
          <a:noFill/>
        </p:spPr>
        <p:txBody>
          <a:bodyPr wrap="square">
            <a:spAutoFit/>
          </a:bodyPr>
          <a:lstStyle/>
          <a:p>
            <a:pPr algn="l">
              <a:defRPr sz="1200" b="1">
                <a:solidFill>
                  <a:srgbClr val="C0392B"/>
                </a:solidFill>
                <a:latin typeface="Calibri"/>
              </a:defRPr>
            </a:pPr>
            <a:r>
              <a:t>Per-Phase F1 Breakdown — CIC-IDS2017 (strongest result)</a:t>
            </a:r>
          </a:p>
        </p:txBody>
      </p:sp>
      <p:graphicFrame>
        <p:nvGraphicFramePr>
          <p:cNvPr id="7" name="Table 6"/>
          <p:cNvGraphicFramePr>
            <a:graphicFrameLocks noGrp="1"/>
          </p:cNvGraphicFramePr>
          <p:nvPr/>
        </p:nvGraphicFramePr>
        <p:xfrm>
          <a:off x="365760" y="2697480"/>
          <a:ext cx="9875520" cy="1188720"/>
        </p:xfrm>
        <a:graphic>
          <a:graphicData uri="http://schemas.openxmlformats.org/drawingml/2006/table">
            <a:tbl>
              <a:tblPr firstRow="1" bandRow="1">
                <a:tableStyleId>{5C22544A-7EE6-4342-B048-85BDC9FD1C3A}</a:tableStyleId>
              </a:tblPr>
              <a:tblGrid>
                <a:gridCol w="914400"/>
                <a:gridCol w="2103120"/>
                <a:gridCol w="1005840"/>
                <a:gridCol w="1005840"/>
                <a:gridCol w="1188720"/>
                <a:gridCol w="1005840"/>
                <a:gridCol w="1005840"/>
                <a:gridCol w="1645920"/>
              </a:tblGrid>
              <a:tr h="297180">
                <a:tc>
                  <a:txBody>
                    <a:bodyPr/>
                    <a:lstStyle/>
                    <a:p>
                      <a:pPr algn="ctr">
                        <a:defRPr sz="1000" b="1">
                          <a:solidFill>
                            <a:srgbClr val="FFFFFF"/>
                          </a:solidFill>
                          <a:latin typeface="Calibri"/>
                        </a:defRPr>
                      </a:pPr>
                      <a:r>
                        <a:t>Phase</a:t>
                      </a:r>
                    </a:p>
                  </a:txBody>
                  <a:tcPr>
                    <a:solidFill>
                      <a:srgbClr val="003C71"/>
                    </a:solidFill>
                  </a:tcPr>
                </a:tc>
                <a:tc>
                  <a:txBody>
                    <a:bodyPr/>
                    <a:lstStyle/>
                    <a:p>
                      <a:pPr algn="ctr">
                        <a:defRPr sz="1000" b="1">
                          <a:solidFill>
                            <a:srgbClr val="FFFFFF"/>
                          </a:solidFill>
                          <a:latin typeface="Calibri"/>
                        </a:defRPr>
                      </a:pPr>
                      <a:r>
                        <a:t>Description</a:t>
                      </a:r>
                    </a:p>
                  </a:txBody>
                  <a:tcPr>
                    <a:solidFill>
                      <a:srgbClr val="003C71"/>
                    </a:solidFill>
                  </a:tcPr>
                </a:tc>
                <a:tc>
                  <a:txBody>
                    <a:bodyPr/>
                    <a:lstStyle/>
                    <a:p>
                      <a:pPr algn="ctr">
                        <a:defRPr sz="1000" b="1">
                          <a:solidFill>
                            <a:srgbClr val="FFFFFF"/>
                          </a:solidFill>
                          <a:latin typeface="Calibri"/>
                        </a:defRPr>
                      </a:pPr>
                      <a:r>
                        <a:t>ASRRL</a:t>
                      </a:r>
                    </a:p>
                  </a:txBody>
                  <a:tcPr>
                    <a:solidFill>
                      <a:srgbClr val="003C71"/>
                    </a:solidFill>
                  </a:tcPr>
                </a:tc>
                <a:tc>
                  <a:txBody>
                    <a:bodyPr/>
                    <a:lstStyle/>
                    <a:p>
                      <a:pPr algn="ctr">
                        <a:defRPr sz="1000" b="1">
                          <a:solidFill>
                            <a:srgbClr val="FFFFFF"/>
                          </a:solidFill>
                          <a:latin typeface="Calibri"/>
                        </a:defRPr>
                      </a:pPr>
                      <a:r>
                        <a:t>RF</a:t>
                      </a:r>
                    </a:p>
                  </a:txBody>
                  <a:tcPr>
                    <a:solidFill>
                      <a:srgbClr val="003C71"/>
                    </a:solidFill>
                  </a:tcPr>
                </a:tc>
                <a:tc>
                  <a:txBody>
                    <a:bodyPr/>
                    <a:lstStyle/>
                    <a:p>
                      <a:pPr algn="ctr">
                        <a:defRPr sz="1000" b="1">
                          <a:solidFill>
                            <a:srgbClr val="FFFFFF"/>
                          </a:solidFill>
                          <a:latin typeface="Calibri"/>
                        </a:defRPr>
                      </a:pPr>
                      <a:r>
                        <a:t>XGBoost</a:t>
                      </a:r>
                    </a:p>
                  </a:txBody>
                  <a:tcPr>
                    <a:solidFill>
                      <a:srgbClr val="003C71"/>
                    </a:solidFill>
                  </a:tcPr>
                </a:tc>
                <a:tc>
                  <a:txBody>
                    <a:bodyPr/>
                    <a:lstStyle/>
                    <a:p>
                      <a:pPr algn="ctr">
                        <a:defRPr sz="1000" b="1">
                          <a:solidFill>
                            <a:srgbClr val="FFFFFF"/>
                          </a:solidFill>
                          <a:latin typeface="Calibri"/>
                        </a:defRPr>
                      </a:pPr>
                      <a:r>
                        <a:t>SVM</a:t>
                      </a:r>
                    </a:p>
                  </a:txBody>
                  <a:tcPr>
                    <a:solidFill>
                      <a:srgbClr val="003C71"/>
                    </a:solidFill>
                  </a:tcPr>
                </a:tc>
                <a:tc>
                  <a:txBody>
                    <a:bodyPr/>
                    <a:lstStyle/>
                    <a:p>
                      <a:pPr algn="ctr">
                        <a:defRPr sz="1000" b="1">
                          <a:solidFill>
                            <a:srgbClr val="FFFFFF"/>
                          </a:solidFill>
                          <a:latin typeface="Calibri"/>
                        </a:defRPr>
                      </a:pPr>
                      <a:r>
                        <a:t>KNN</a:t>
                      </a:r>
                    </a:p>
                  </a:txBody>
                  <a:tcPr>
                    <a:solidFill>
                      <a:srgbClr val="003C71"/>
                    </a:solidFill>
                  </a:tcPr>
                </a:tc>
                <a:tc>
                  <a:txBody>
                    <a:bodyPr/>
                    <a:lstStyle/>
                    <a:p>
                      <a:pPr algn="ctr">
                        <a:defRPr sz="1000" b="1">
                          <a:solidFill>
                            <a:srgbClr val="FFFFFF"/>
                          </a:solidFill>
                          <a:latin typeface="Calibri"/>
                        </a:defRPr>
                      </a:pPr>
                      <a:r>
                        <a:t>ASRRL Δ vs RF</a:t>
                      </a:r>
                    </a:p>
                  </a:txBody>
                  <a:tcPr>
                    <a:solidFill>
                      <a:srgbClr val="003C71"/>
                    </a:solidFill>
                  </a:tcPr>
                </a:tc>
              </a:tr>
              <a:tr h="297180">
                <a:tc>
                  <a:txBody>
                    <a:bodyPr/>
                    <a:lstStyle/>
                    <a:p>
                      <a:pPr algn="l">
                        <a:defRPr sz="1000" b="0">
                          <a:solidFill>
                            <a:srgbClr val="000000"/>
                          </a:solidFill>
                          <a:latin typeface="Calibri"/>
                        </a:defRPr>
                      </a:pPr>
                      <a:r>
                        <a:t>Phase 1</a:t>
                      </a:r>
                    </a:p>
                    <a:p>
                      <a:pPr algn="l">
                        <a:defRPr sz="1000" b="0">
                          <a:solidFill>
                            <a:srgbClr val="000000"/>
                          </a:solidFill>
                          <a:latin typeface="Calibri"/>
                        </a:defRPr>
                      </a:pPr>
                      <a:r>
                        <a:t>(40%)</a:t>
                      </a:r>
                    </a:p>
                  </a:txBody>
                  <a:tcPr/>
                </a:tc>
                <a:tc>
                  <a:txBody>
                    <a:bodyPr/>
                    <a:lstStyle/>
                    <a:p>
                      <a:pPr algn="ctr">
                        <a:defRPr sz="1000" b="0">
                          <a:solidFill>
                            <a:srgbClr val="000000"/>
                          </a:solidFill>
                          <a:latin typeface="Calibri"/>
                        </a:defRPr>
                      </a:pPr>
                      <a:r>
                        <a:t>Known attacks only</a:t>
                      </a:r>
                    </a:p>
                  </a:txBody>
                  <a:tcPr/>
                </a:tc>
                <a:tc>
                  <a:txBody>
                    <a:bodyPr/>
                    <a:lstStyle/>
                    <a:p>
                      <a:pPr algn="ctr">
                        <a:defRPr sz="1000" b="1">
                          <a:solidFill>
                            <a:srgbClr val="000000"/>
                          </a:solidFill>
                          <a:latin typeface="Calibri"/>
                        </a:defRPr>
                      </a:pPr>
                      <a:r>
                        <a:t>0.966</a:t>
                      </a:r>
                    </a:p>
                  </a:txBody>
                  <a:tcPr>
                    <a:solidFill>
                      <a:srgbClr val="D5F5E3"/>
                    </a:solidFill>
                  </a:tcPr>
                </a:tc>
                <a:tc>
                  <a:txBody>
                    <a:bodyPr/>
                    <a:lstStyle/>
                    <a:p>
                      <a:pPr algn="ctr">
                        <a:defRPr sz="1000" b="0">
                          <a:solidFill>
                            <a:srgbClr val="000000"/>
                          </a:solidFill>
                          <a:latin typeface="Calibri"/>
                        </a:defRPr>
                      </a:pPr>
                      <a:r>
                        <a:t>0.987</a:t>
                      </a:r>
                    </a:p>
                  </a:txBody>
                  <a:tcPr/>
                </a:tc>
                <a:tc>
                  <a:txBody>
                    <a:bodyPr/>
                    <a:lstStyle/>
                    <a:p>
                      <a:pPr algn="ctr">
                        <a:defRPr sz="1000" b="0">
                          <a:solidFill>
                            <a:srgbClr val="000000"/>
                          </a:solidFill>
                          <a:latin typeface="Calibri"/>
                        </a:defRPr>
                      </a:pPr>
                      <a:r>
                        <a:t>0.989</a:t>
                      </a:r>
                    </a:p>
                  </a:txBody>
                  <a:tcPr/>
                </a:tc>
                <a:tc>
                  <a:txBody>
                    <a:bodyPr/>
                    <a:lstStyle/>
                    <a:p>
                      <a:pPr algn="ctr">
                        <a:defRPr sz="1000" b="0">
                          <a:solidFill>
                            <a:srgbClr val="000000"/>
                          </a:solidFill>
                          <a:latin typeface="Calibri"/>
                        </a:defRPr>
                      </a:pPr>
                      <a:r>
                        <a:t>0.836</a:t>
                      </a:r>
                    </a:p>
                  </a:txBody>
                  <a:tcPr/>
                </a:tc>
                <a:tc>
                  <a:txBody>
                    <a:bodyPr/>
                    <a:lstStyle/>
                    <a:p>
                      <a:pPr algn="ctr">
                        <a:defRPr sz="1000" b="0">
                          <a:solidFill>
                            <a:srgbClr val="000000"/>
                          </a:solidFill>
                          <a:latin typeface="Calibri"/>
                        </a:defRPr>
                      </a:pPr>
                      <a:r>
                        <a:t>0.976</a:t>
                      </a:r>
                    </a:p>
                  </a:txBody>
                  <a:tcPr/>
                </a:tc>
                <a:tc>
                  <a:txBody>
                    <a:bodyPr/>
                    <a:lstStyle/>
                    <a:p>
                      <a:pPr algn="ctr">
                        <a:defRPr sz="1000" b="0">
                          <a:solidFill>
                            <a:srgbClr val="000000"/>
                          </a:solidFill>
                          <a:latin typeface="Calibri"/>
                        </a:defRPr>
                      </a:pPr>
                      <a:r>
                        <a:t>−2.1%</a:t>
                      </a:r>
                    </a:p>
                  </a:txBody>
                  <a:tcPr/>
                </a:tc>
              </a:tr>
              <a:tr h="297180">
                <a:tc>
                  <a:txBody>
                    <a:bodyPr/>
                    <a:lstStyle/>
                    <a:p>
                      <a:pPr algn="l">
                        <a:defRPr sz="1000" b="0">
                          <a:solidFill>
                            <a:srgbClr val="000000"/>
                          </a:solidFill>
                          <a:latin typeface="Calibri"/>
                        </a:defRPr>
                      </a:pPr>
                      <a:r>
                        <a:t>Phase 2</a:t>
                      </a:r>
                    </a:p>
                    <a:p>
                      <a:pPr algn="l">
                        <a:defRPr sz="1000" b="0">
                          <a:solidFill>
                            <a:srgbClr val="000000"/>
                          </a:solidFill>
                          <a:latin typeface="Calibri"/>
                        </a:defRPr>
                      </a:pPr>
                      <a:r>
                        <a:t>(30%)</a:t>
                      </a:r>
                    </a:p>
                  </a:txBody>
                  <a:tcPr>
                    <a:solidFill>
                      <a:srgbClr val="FDEDEC"/>
                    </a:solidFill>
                  </a:tcPr>
                </a:tc>
                <a:tc>
                  <a:txBody>
                    <a:bodyPr/>
                    <a:lstStyle/>
                    <a:p>
                      <a:pPr algn="ctr">
                        <a:defRPr sz="1000" b="0">
                          <a:solidFill>
                            <a:srgbClr val="000000"/>
                          </a:solidFill>
                          <a:latin typeface="Calibri"/>
                        </a:defRPr>
                      </a:pPr>
                      <a:r>
                        <a:t>Novel attacks introduced</a:t>
                      </a:r>
                    </a:p>
                  </a:txBody>
                  <a:tcPr>
                    <a:solidFill>
                      <a:srgbClr val="FDEDEC"/>
                    </a:solidFill>
                  </a:tcPr>
                </a:tc>
                <a:tc>
                  <a:txBody>
                    <a:bodyPr/>
                    <a:lstStyle/>
                    <a:p>
                      <a:pPr algn="ctr">
                        <a:defRPr sz="1000" b="1">
                          <a:solidFill>
                            <a:srgbClr val="000000"/>
                          </a:solidFill>
                          <a:latin typeface="Calibri"/>
                        </a:defRPr>
                      </a:pPr>
                      <a:r>
                        <a:t>0.900</a:t>
                      </a:r>
                    </a:p>
                  </a:txBody>
                  <a:tcPr>
                    <a:solidFill>
                      <a:srgbClr val="D5F5E3"/>
                    </a:solidFill>
                  </a:tcPr>
                </a:tc>
                <a:tc>
                  <a:txBody>
                    <a:bodyPr/>
                    <a:lstStyle/>
                    <a:p>
                      <a:pPr algn="ctr">
                        <a:defRPr sz="1000" b="0">
                          <a:solidFill>
                            <a:srgbClr val="000000"/>
                          </a:solidFill>
                          <a:latin typeface="Calibri"/>
                        </a:defRPr>
                      </a:pPr>
                      <a:r>
                        <a:t>0.767</a:t>
                      </a:r>
                    </a:p>
                  </a:txBody>
                  <a:tcPr>
                    <a:solidFill>
                      <a:srgbClr val="FDEDEC"/>
                    </a:solidFill>
                  </a:tcPr>
                </a:tc>
                <a:tc>
                  <a:txBody>
                    <a:bodyPr/>
                    <a:lstStyle/>
                    <a:p>
                      <a:pPr algn="ctr">
                        <a:defRPr sz="1000" b="0">
                          <a:solidFill>
                            <a:srgbClr val="000000"/>
                          </a:solidFill>
                          <a:latin typeface="Calibri"/>
                        </a:defRPr>
                      </a:pPr>
                      <a:r>
                        <a:t>0.837</a:t>
                      </a:r>
                    </a:p>
                  </a:txBody>
                  <a:tcPr>
                    <a:solidFill>
                      <a:srgbClr val="FDEDEC"/>
                    </a:solidFill>
                  </a:tcPr>
                </a:tc>
                <a:tc>
                  <a:txBody>
                    <a:bodyPr/>
                    <a:lstStyle/>
                    <a:p>
                      <a:pPr algn="ctr">
                        <a:defRPr sz="1000" b="0">
                          <a:solidFill>
                            <a:srgbClr val="000000"/>
                          </a:solidFill>
                          <a:latin typeface="Calibri"/>
                        </a:defRPr>
                      </a:pPr>
                      <a:r>
                        <a:t>0.745</a:t>
                      </a:r>
                    </a:p>
                  </a:txBody>
                  <a:tcPr>
                    <a:solidFill>
                      <a:srgbClr val="FDEDEC"/>
                    </a:solidFill>
                  </a:tcPr>
                </a:tc>
                <a:tc>
                  <a:txBody>
                    <a:bodyPr/>
                    <a:lstStyle/>
                    <a:p>
                      <a:pPr algn="ctr">
                        <a:defRPr sz="1000" b="0">
                          <a:solidFill>
                            <a:srgbClr val="000000"/>
                          </a:solidFill>
                          <a:latin typeface="Calibri"/>
                        </a:defRPr>
                      </a:pPr>
                      <a:r>
                        <a:t>0.782</a:t>
                      </a:r>
                    </a:p>
                  </a:txBody>
                  <a:tcPr>
                    <a:solidFill>
                      <a:srgbClr val="FDEDEC"/>
                    </a:solidFill>
                  </a:tcPr>
                </a:tc>
                <a:tc>
                  <a:txBody>
                    <a:bodyPr/>
                    <a:lstStyle/>
                    <a:p>
                      <a:pPr algn="ctr">
                        <a:defRPr sz="1000" b="0">
                          <a:solidFill>
                            <a:srgbClr val="000000"/>
                          </a:solidFill>
                          <a:latin typeface="Calibri"/>
                        </a:defRPr>
                      </a:pPr>
                      <a:r>
                        <a:t>+13.3% ★</a:t>
                      </a:r>
                    </a:p>
                  </a:txBody>
                  <a:tcPr>
                    <a:solidFill>
                      <a:srgbClr val="FDEDEC"/>
                    </a:solidFill>
                  </a:tcPr>
                </a:tc>
              </a:tr>
              <a:tr h="297180">
                <a:tc>
                  <a:txBody>
                    <a:bodyPr/>
                    <a:lstStyle/>
                    <a:p>
                      <a:pPr algn="l">
                        <a:defRPr sz="1000" b="0">
                          <a:solidFill>
                            <a:srgbClr val="000000"/>
                          </a:solidFill>
                          <a:latin typeface="Calibri"/>
                        </a:defRPr>
                      </a:pPr>
                      <a:r>
                        <a:t>Phase 3</a:t>
                      </a:r>
                    </a:p>
                    <a:p>
                      <a:pPr algn="l">
                        <a:defRPr sz="1000" b="0">
                          <a:solidFill>
                            <a:srgbClr val="000000"/>
                          </a:solidFill>
                          <a:latin typeface="Calibri"/>
                        </a:defRPr>
                      </a:pPr>
                      <a:r>
                        <a:t>(30%)</a:t>
                      </a:r>
                    </a:p>
                  </a:txBody>
                  <a:tcPr/>
                </a:tc>
                <a:tc>
                  <a:txBody>
                    <a:bodyPr/>
                    <a:lstStyle/>
                    <a:p>
                      <a:pPr algn="ctr">
                        <a:defRPr sz="1000" b="0">
                          <a:solidFill>
                            <a:srgbClr val="000000"/>
                          </a:solidFill>
                          <a:latin typeface="Calibri"/>
                        </a:defRPr>
                      </a:pPr>
                      <a:r>
                        <a:t>Heavy novel attacks</a:t>
                      </a:r>
                    </a:p>
                  </a:txBody>
                  <a:tcPr/>
                </a:tc>
                <a:tc>
                  <a:txBody>
                    <a:bodyPr/>
                    <a:lstStyle/>
                    <a:p>
                      <a:pPr algn="ctr">
                        <a:defRPr sz="1000" b="1">
                          <a:solidFill>
                            <a:srgbClr val="000000"/>
                          </a:solidFill>
                          <a:latin typeface="Calibri"/>
                        </a:defRPr>
                      </a:pPr>
                      <a:r>
                        <a:t>0.949</a:t>
                      </a:r>
                    </a:p>
                  </a:txBody>
                  <a:tcPr>
                    <a:solidFill>
                      <a:srgbClr val="D5F5E3"/>
                    </a:solidFill>
                  </a:tcPr>
                </a:tc>
                <a:tc>
                  <a:txBody>
                    <a:bodyPr/>
                    <a:lstStyle/>
                    <a:p>
                      <a:pPr algn="ctr">
                        <a:defRPr sz="1000" b="0">
                          <a:solidFill>
                            <a:srgbClr val="000000"/>
                          </a:solidFill>
                          <a:latin typeface="Calibri"/>
                        </a:defRPr>
                      </a:pPr>
                      <a:r>
                        <a:t>0.949</a:t>
                      </a:r>
                    </a:p>
                  </a:txBody>
                  <a:tcPr/>
                </a:tc>
                <a:tc>
                  <a:txBody>
                    <a:bodyPr/>
                    <a:lstStyle/>
                    <a:p>
                      <a:pPr algn="ctr">
                        <a:defRPr sz="1000" b="0">
                          <a:solidFill>
                            <a:srgbClr val="000000"/>
                          </a:solidFill>
                          <a:latin typeface="Calibri"/>
                        </a:defRPr>
                      </a:pPr>
                      <a:r>
                        <a:t>0.961</a:t>
                      </a:r>
                    </a:p>
                  </a:txBody>
                  <a:tcPr/>
                </a:tc>
                <a:tc>
                  <a:txBody>
                    <a:bodyPr/>
                    <a:lstStyle/>
                    <a:p>
                      <a:pPr algn="ctr">
                        <a:defRPr sz="1000" b="0">
                          <a:solidFill>
                            <a:srgbClr val="000000"/>
                          </a:solidFill>
                          <a:latin typeface="Calibri"/>
                        </a:defRPr>
                      </a:pPr>
                      <a:r>
                        <a:t>0.832</a:t>
                      </a:r>
                    </a:p>
                  </a:txBody>
                  <a:tcPr/>
                </a:tc>
                <a:tc>
                  <a:txBody>
                    <a:bodyPr/>
                    <a:lstStyle/>
                    <a:p>
                      <a:pPr algn="ctr">
                        <a:defRPr sz="1000" b="0">
                          <a:solidFill>
                            <a:srgbClr val="000000"/>
                          </a:solidFill>
                          <a:latin typeface="Calibri"/>
                        </a:defRPr>
                      </a:pPr>
                      <a:r>
                        <a:t>0.941</a:t>
                      </a:r>
                    </a:p>
                  </a:txBody>
                  <a:tcPr/>
                </a:tc>
                <a:tc>
                  <a:txBody>
                    <a:bodyPr/>
                    <a:lstStyle/>
                    <a:p>
                      <a:pPr algn="ctr">
                        <a:defRPr sz="1000" b="0">
                          <a:solidFill>
                            <a:srgbClr val="000000"/>
                          </a:solidFill>
                          <a:latin typeface="Calibri"/>
                        </a:defRPr>
                      </a:pPr>
                      <a:r>
                        <a:t>+0.0%</a:t>
                      </a:r>
                    </a:p>
                  </a:txBody>
                  <a:tcPr/>
                </a:tc>
              </a:tr>
            </a:tbl>
          </a:graphicData>
        </a:graphic>
      </p:graphicFrame>
      <p:sp>
        <p:nvSpPr>
          <p:cNvPr id="8" name="TextBox 7"/>
          <p:cNvSpPr txBox="1"/>
          <p:nvPr/>
        </p:nvSpPr>
        <p:spPr>
          <a:xfrm>
            <a:off x="365760" y="4069080"/>
            <a:ext cx="7315200" cy="228600"/>
          </a:xfrm>
          <a:prstGeom prst="rect">
            <a:avLst/>
          </a:prstGeom>
          <a:noFill/>
        </p:spPr>
        <p:txBody>
          <a:bodyPr wrap="square">
            <a:spAutoFit/>
          </a:bodyPr>
          <a:lstStyle/>
          <a:p>
            <a:pPr algn="l">
              <a:defRPr sz="1200" b="1">
                <a:solidFill>
                  <a:srgbClr val="003C71"/>
                </a:solidFill>
                <a:latin typeface="Calibri"/>
              </a:defRPr>
            </a:pPr>
            <a:r>
              <a:t>Per-Phase F1 Breakdown — UNSW-NB15</a:t>
            </a:r>
          </a:p>
        </p:txBody>
      </p:sp>
      <p:graphicFrame>
        <p:nvGraphicFramePr>
          <p:cNvPr id="9" name="Table 8"/>
          <p:cNvGraphicFramePr>
            <a:graphicFrameLocks noGrp="1"/>
          </p:cNvGraphicFramePr>
          <p:nvPr/>
        </p:nvGraphicFramePr>
        <p:xfrm>
          <a:off x="365760" y="4343400"/>
          <a:ext cx="9875520" cy="1005840"/>
        </p:xfrm>
        <a:graphic>
          <a:graphicData uri="http://schemas.openxmlformats.org/drawingml/2006/table">
            <a:tbl>
              <a:tblPr firstRow="1" bandRow="1">
                <a:tableStyleId>{5C22544A-7EE6-4342-B048-85BDC9FD1C3A}</a:tableStyleId>
              </a:tblPr>
              <a:tblGrid>
                <a:gridCol w="914400"/>
                <a:gridCol w="2103120"/>
                <a:gridCol w="1005840"/>
                <a:gridCol w="1005840"/>
                <a:gridCol w="1188720"/>
                <a:gridCol w="1005840"/>
                <a:gridCol w="1005840"/>
                <a:gridCol w="1645920"/>
              </a:tblGrid>
              <a:tr h="251460">
                <a:tc>
                  <a:txBody>
                    <a:bodyPr/>
                    <a:lstStyle/>
                    <a:p>
                      <a:pPr algn="ctr">
                        <a:defRPr sz="900" b="1">
                          <a:solidFill>
                            <a:srgbClr val="FFFFFF"/>
                          </a:solidFill>
                          <a:latin typeface="Calibri"/>
                        </a:defRPr>
                      </a:pPr>
                      <a:r>
                        <a:t>Phase</a:t>
                      </a:r>
                    </a:p>
                  </a:txBody>
                  <a:tcPr>
                    <a:solidFill>
                      <a:srgbClr val="003C71"/>
                    </a:solidFill>
                  </a:tcPr>
                </a:tc>
                <a:tc>
                  <a:txBody>
                    <a:bodyPr/>
                    <a:lstStyle/>
                    <a:p>
                      <a:pPr algn="ctr">
                        <a:defRPr sz="900" b="1">
                          <a:solidFill>
                            <a:srgbClr val="FFFFFF"/>
                          </a:solidFill>
                          <a:latin typeface="Calibri"/>
                        </a:defRPr>
                      </a:pPr>
                      <a:r>
                        <a:t>Description</a:t>
                      </a:r>
                    </a:p>
                  </a:txBody>
                  <a:tcPr>
                    <a:solidFill>
                      <a:srgbClr val="003C71"/>
                    </a:solidFill>
                  </a:tcPr>
                </a:tc>
                <a:tc>
                  <a:txBody>
                    <a:bodyPr/>
                    <a:lstStyle/>
                    <a:p>
                      <a:pPr algn="ctr">
                        <a:defRPr sz="900" b="1">
                          <a:solidFill>
                            <a:srgbClr val="FFFFFF"/>
                          </a:solidFill>
                          <a:latin typeface="Calibri"/>
                        </a:defRPr>
                      </a:pPr>
                      <a:r>
                        <a:t>ASRRL</a:t>
                      </a:r>
                    </a:p>
                  </a:txBody>
                  <a:tcPr>
                    <a:solidFill>
                      <a:srgbClr val="003C71"/>
                    </a:solidFill>
                  </a:tcPr>
                </a:tc>
                <a:tc>
                  <a:txBody>
                    <a:bodyPr/>
                    <a:lstStyle/>
                    <a:p>
                      <a:pPr algn="ctr">
                        <a:defRPr sz="900" b="1">
                          <a:solidFill>
                            <a:srgbClr val="FFFFFF"/>
                          </a:solidFill>
                          <a:latin typeface="Calibri"/>
                        </a:defRPr>
                      </a:pPr>
                      <a:r>
                        <a:t>RF</a:t>
                      </a:r>
                    </a:p>
                  </a:txBody>
                  <a:tcPr>
                    <a:solidFill>
                      <a:srgbClr val="003C71"/>
                    </a:solidFill>
                  </a:tcPr>
                </a:tc>
                <a:tc>
                  <a:txBody>
                    <a:bodyPr/>
                    <a:lstStyle/>
                    <a:p>
                      <a:pPr algn="ctr">
                        <a:defRPr sz="900" b="1">
                          <a:solidFill>
                            <a:srgbClr val="FFFFFF"/>
                          </a:solidFill>
                          <a:latin typeface="Calibri"/>
                        </a:defRPr>
                      </a:pPr>
                      <a:r>
                        <a:t>XGBoost</a:t>
                      </a:r>
                    </a:p>
                  </a:txBody>
                  <a:tcPr>
                    <a:solidFill>
                      <a:srgbClr val="003C71"/>
                    </a:solidFill>
                  </a:tcPr>
                </a:tc>
                <a:tc>
                  <a:txBody>
                    <a:bodyPr/>
                    <a:lstStyle/>
                    <a:p>
                      <a:pPr algn="ctr">
                        <a:defRPr sz="900" b="1">
                          <a:solidFill>
                            <a:srgbClr val="FFFFFF"/>
                          </a:solidFill>
                          <a:latin typeface="Calibri"/>
                        </a:defRPr>
                      </a:pPr>
                      <a:r>
                        <a:t>SVM</a:t>
                      </a:r>
                    </a:p>
                  </a:txBody>
                  <a:tcPr>
                    <a:solidFill>
                      <a:srgbClr val="003C71"/>
                    </a:solidFill>
                  </a:tcPr>
                </a:tc>
                <a:tc>
                  <a:txBody>
                    <a:bodyPr/>
                    <a:lstStyle/>
                    <a:p>
                      <a:pPr algn="ctr">
                        <a:defRPr sz="900" b="1">
                          <a:solidFill>
                            <a:srgbClr val="FFFFFF"/>
                          </a:solidFill>
                          <a:latin typeface="Calibri"/>
                        </a:defRPr>
                      </a:pPr>
                      <a:r>
                        <a:t>KNN</a:t>
                      </a:r>
                    </a:p>
                  </a:txBody>
                  <a:tcPr>
                    <a:solidFill>
                      <a:srgbClr val="003C71"/>
                    </a:solidFill>
                  </a:tcPr>
                </a:tc>
                <a:tc>
                  <a:txBody>
                    <a:bodyPr/>
                    <a:lstStyle/>
                    <a:p>
                      <a:pPr algn="ctr">
                        <a:defRPr sz="900" b="1">
                          <a:solidFill>
                            <a:srgbClr val="FFFFFF"/>
                          </a:solidFill>
                          <a:latin typeface="Calibri"/>
                        </a:defRPr>
                      </a:pPr>
                      <a:r>
                        <a:t>ASRRL Δ vs SVM</a:t>
                      </a:r>
                    </a:p>
                  </a:txBody>
                  <a:tcPr>
                    <a:solidFill>
                      <a:srgbClr val="003C71"/>
                    </a:solidFill>
                  </a:tcPr>
                </a:tc>
              </a:tr>
              <a:tr h="251460">
                <a:tc>
                  <a:txBody>
                    <a:bodyPr/>
                    <a:lstStyle/>
                    <a:p>
                      <a:pPr algn="l">
                        <a:defRPr sz="900" b="0">
                          <a:solidFill>
                            <a:srgbClr val="000000"/>
                          </a:solidFill>
                          <a:latin typeface="Calibri"/>
                        </a:defRPr>
                      </a:pPr>
                      <a:r>
                        <a:t>Phase 1</a:t>
                      </a:r>
                    </a:p>
                    <a:p>
                      <a:pPr algn="l">
                        <a:defRPr sz="900" b="0">
                          <a:solidFill>
                            <a:srgbClr val="000000"/>
                          </a:solidFill>
                          <a:latin typeface="Calibri"/>
                        </a:defRPr>
                      </a:pPr>
                      <a:r>
                        <a:t>(40%)</a:t>
                      </a:r>
                    </a:p>
                  </a:txBody>
                  <a:tcPr/>
                </a:tc>
                <a:tc>
                  <a:txBody>
                    <a:bodyPr/>
                    <a:lstStyle/>
                    <a:p>
                      <a:pPr algn="ctr">
                        <a:defRPr sz="900" b="0">
                          <a:solidFill>
                            <a:srgbClr val="000000"/>
                          </a:solidFill>
                          <a:latin typeface="Calibri"/>
                        </a:defRPr>
                      </a:pPr>
                      <a:r>
                        <a:t>Known attacks only</a:t>
                      </a:r>
                    </a:p>
                  </a:txBody>
                  <a:tcPr/>
                </a:tc>
                <a:tc>
                  <a:txBody>
                    <a:bodyPr/>
                    <a:lstStyle/>
                    <a:p>
                      <a:pPr algn="ctr">
                        <a:defRPr sz="900" b="1">
                          <a:solidFill>
                            <a:srgbClr val="000000"/>
                          </a:solidFill>
                          <a:latin typeface="Calibri"/>
                        </a:defRPr>
                      </a:pPr>
                      <a:r>
                        <a:t>0.945</a:t>
                      </a:r>
                    </a:p>
                  </a:txBody>
                  <a:tcPr>
                    <a:solidFill>
                      <a:srgbClr val="D5F5E3"/>
                    </a:solidFill>
                  </a:tcPr>
                </a:tc>
                <a:tc>
                  <a:txBody>
                    <a:bodyPr/>
                    <a:lstStyle/>
                    <a:p>
                      <a:pPr algn="ctr">
                        <a:defRPr sz="900" b="0">
                          <a:solidFill>
                            <a:srgbClr val="000000"/>
                          </a:solidFill>
                          <a:latin typeface="Calibri"/>
                        </a:defRPr>
                      </a:pPr>
                      <a:r>
                        <a:t>0.957</a:t>
                      </a:r>
                    </a:p>
                  </a:txBody>
                  <a:tcPr/>
                </a:tc>
                <a:tc>
                  <a:txBody>
                    <a:bodyPr/>
                    <a:lstStyle/>
                    <a:p>
                      <a:pPr algn="ctr">
                        <a:defRPr sz="900" b="0">
                          <a:solidFill>
                            <a:srgbClr val="000000"/>
                          </a:solidFill>
                          <a:latin typeface="Calibri"/>
                        </a:defRPr>
                      </a:pPr>
                      <a:r>
                        <a:t>0.960</a:t>
                      </a:r>
                    </a:p>
                  </a:txBody>
                  <a:tcPr/>
                </a:tc>
                <a:tc>
                  <a:txBody>
                    <a:bodyPr/>
                    <a:lstStyle/>
                    <a:p>
                      <a:pPr algn="ctr">
                        <a:defRPr sz="900" b="0">
                          <a:solidFill>
                            <a:srgbClr val="000000"/>
                          </a:solidFill>
                          <a:latin typeface="Calibri"/>
                        </a:defRPr>
                      </a:pPr>
                      <a:r>
                        <a:t>0.919</a:t>
                      </a:r>
                    </a:p>
                  </a:txBody>
                  <a:tcPr/>
                </a:tc>
                <a:tc>
                  <a:txBody>
                    <a:bodyPr/>
                    <a:lstStyle/>
                    <a:p>
                      <a:pPr algn="ctr">
                        <a:defRPr sz="900" b="0">
                          <a:solidFill>
                            <a:srgbClr val="000000"/>
                          </a:solidFill>
                          <a:latin typeface="Calibri"/>
                        </a:defRPr>
                      </a:pPr>
                      <a:r>
                        <a:t>0.948</a:t>
                      </a:r>
                    </a:p>
                  </a:txBody>
                  <a:tcPr/>
                </a:tc>
                <a:tc>
                  <a:txBody>
                    <a:bodyPr/>
                    <a:lstStyle/>
                    <a:p>
                      <a:pPr algn="ctr">
                        <a:defRPr sz="900" b="0">
                          <a:solidFill>
                            <a:srgbClr val="000000"/>
                          </a:solidFill>
                          <a:latin typeface="Calibri"/>
                        </a:defRPr>
                      </a:pPr>
                      <a:r>
                        <a:t>+2.6%</a:t>
                      </a:r>
                    </a:p>
                  </a:txBody>
                  <a:tcPr/>
                </a:tc>
              </a:tr>
              <a:tr h="251460">
                <a:tc>
                  <a:txBody>
                    <a:bodyPr/>
                    <a:lstStyle/>
                    <a:p>
                      <a:pPr algn="l">
                        <a:defRPr sz="900" b="0">
                          <a:solidFill>
                            <a:srgbClr val="000000"/>
                          </a:solidFill>
                          <a:latin typeface="Calibri"/>
                        </a:defRPr>
                      </a:pPr>
                      <a:r>
                        <a:t>Phase 2</a:t>
                      </a:r>
                    </a:p>
                    <a:p>
                      <a:pPr algn="l">
                        <a:defRPr sz="900" b="0">
                          <a:solidFill>
                            <a:srgbClr val="000000"/>
                          </a:solidFill>
                          <a:latin typeface="Calibri"/>
                        </a:defRPr>
                      </a:pPr>
                      <a:r>
                        <a:t>(30%)</a:t>
                      </a:r>
                    </a:p>
                  </a:txBody>
                  <a:tcPr>
                    <a:solidFill>
                      <a:srgbClr val="ECF0F1"/>
                    </a:solidFill>
                  </a:tcPr>
                </a:tc>
                <a:tc>
                  <a:txBody>
                    <a:bodyPr/>
                    <a:lstStyle/>
                    <a:p>
                      <a:pPr algn="ctr">
                        <a:defRPr sz="900" b="0">
                          <a:solidFill>
                            <a:srgbClr val="000000"/>
                          </a:solidFill>
                          <a:latin typeface="Calibri"/>
                        </a:defRPr>
                      </a:pPr>
                      <a:r>
                        <a:t>Novel attacks introduced</a:t>
                      </a:r>
                    </a:p>
                  </a:txBody>
                  <a:tcPr>
                    <a:solidFill>
                      <a:srgbClr val="ECF0F1"/>
                    </a:solidFill>
                  </a:tcPr>
                </a:tc>
                <a:tc>
                  <a:txBody>
                    <a:bodyPr/>
                    <a:lstStyle/>
                    <a:p>
                      <a:pPr algn="ctr">
                        <a:defRPr sz="900" b="1">
                          <a:solidFill>
                            <a:srgbClr val="000000"/>
                          </a:solidFill>
                          <a:latin typeface="Calibri"/>
                        </a:defRPr>
                      </a:pPr>
                      <a:r>
                        <a:t>0.946</a:t>
                      </a:r>
                    </a:p>
                  </a:txBody>
                  <a:tcPr>
                    <a:solidFill>
                      <a:srgbClr val="D5F5E3"/>
                    </a:solidFill>
                  </a:tcPr>
                </a:tc>
                <a:tc>
                  <a:txBody>
                    <a:bodyPr/>
                    <a:lstStyle/>
                    <a:p>
                      <a:pPr algn="ctr">
                        <a:defRPr sz="900" b="0">
                          <a:solidFill>
                            <a:srgbClr val="000000"/>
                          </a:solidFill>
                          <a:latin typeface="Calibri"/>
                        </a:defRPr>
                      </a:pPr>
                      <a:r>
                        <a:t>0.969</a:t>
                      </a:r>
                    </a:p>
                  </a:txBody>
                  <a:tcPr>
                    <a:solidFill>
                      <a:srgbClr val="ECF0F1"/>
                    </a:solidFill>
                  </a:tcPr>
                </a:tc>
                <a:tc>
                  <a:txBody>
                    <a:bodyPr/>
                    <a:lstStyle/>
                    <a:p>
                      <a:pPr algn="ctr">
                        <a:defRPr sz="900" b="0">
                          <a:solidFill>
                            <a:srgbClr val="000000"/>
                          </a:solidFill>
                          <a:latin typeface="Calibri"/>
                        </a:defRPr>
                      </a:pPr>
                      <a:r>
                        <a:t>0.970</a:t>
                      </a:r>
                    </a:p>
                  </a:txBody>
                  <a:tcPr>
                    <a:solidFill>
                      <a:srgbClr val="ECF0F1"/>
                    </a:solidFill>
                  </a:tcPr>
                </a:tc>
                <a:tc>
                  <a:txBody>
                    <a:bodyPr/>
                    <a:lstStyle/>
                    <a:p>
                      <a:pPr algn="ctr">
                        <a:defRPr sz="900" b="0">
                          <a:solidFill>
                            <a:srgbClr val="000000"/>
                          </a:solidFill>
                          <a:latin typeface="Calibri"/>
                        </a:defRPr>
                      </a:pPr>
                      <a:r>
                        <a:t>0.960</a:t>
                      </a:r>
                    </a:p>
                  </a:txBody>
                  <a:tcPr>
                    <a:solidFill>
                      <a:srgbClr val="ECF0F1"/>
                    </a:solidFill>
                  </a:tcPr>
                </a:tc>
                <a:tc>
                  <a:txBody>
                    <a:bodyPr/>
                    <a:lstStyle/>
                    <a:p>
                      <a:pPr algn="ctr">
                        <a:defRPr sz="900" b="0">
                          <a:solidFill>
                            <a:srgbClr val="000000"/>
                          </a:solidFill>
                          <a:latin typeface="Calibri"/>
                        </a:defRPr>
                      </a:pPr>
                      <a:r>
                        <a:t>0.950</a:t>
                      </a:r>
                    </a:p>
                  </a:txBody>
                  <a:tcPr>
                    <a:solidFill>
                      <a:srgbClr val="ECF0F1"/>
                    </a:solidFill>
                  </a:tcPr>
                </a:tc>
                <a:tc>
                  <a:txBody>
                    <a:bodyPr/>
                    <a:lstStyle/>
                    <a:p>
                      <a:pPr algn="ctr">
                        <a:defRPr sz="900" b="0">
                          <a:solidFill>
                            <a:srgbClr val="000000"/>
                          </a:solidFill>
                          <a:latin typeface="Calibri"/>
                        </a:defRPr>
                      </a:pPr>
                      <a:r>
                        <a:t>−1.4%</a:t>
                      </a:r>
                    </a:p>
                  </a:txBody>
                  <a:tcPr>
                    <a:solidFill>
                      <a:srgbClr val="ECF0F1"/>
                    </a:solidFill>
                  </a:tcPr>
                </a:tc>
              </a:tr>
              <a:tr h="251460">
                <a:tc>
                  <a:txBody>
                    <a:bodyPr/>
                    <a:lstStyle/>
                    <a:p>
                      <a:pPr algn="l">
                        <a:defRPr sz="900" b="0">
                          <a:solidFill>
                            <a:srgbClr val="000000"/>
                          </a:solidFill>
                          <a:latin typeface="Calibri"/>
                        </a:defRPr>
                      </a:pPr>
                      <a:r>
                        <a:t>Phase 3</a:t>
                      </a:r>
                    </a:p>
                    <a:p>
                      <a:pPr algn="l">
                        <a:defRPr sz="900" b="0">
                          <a:solidFill>
                            <a:srgbClr val="000000"/>
                          </a:solidFill>
                          <a:latin typeface="Calibri"/>
                        </a:defRPr>
                      </a:pPr>
                      <a:r>
                        <a:t>(30%)</a:t>
                      </a:r>
                    </a:p>
                  </a:txBody>
                  <a:tcPr/>
                </a:tc>
                <a:tc>
                  <a:txBody>
                    <a:bodyPr/>
                    <a:lstStyle/>
                    <a:p>
                      <a:pPr algn="ctr">
                        <a:defRPr sz="900" b="0">
                          <a:solidFill>
                            <a:srgbClr val="000000"/>
                          </a:solidFill>
                          <a:latin typeface="Calibri"/>
                        </a:defRPr>
                      </a:pPr>
                      <a:r>
                        <a:t>Heavy novel attacks</a:t>
                      </a:r>
                    </a:p>
                  </a:txBody>
                  <a:tcPr/>
                </a:tc>
                <a:tc>
                  <a:txBody>
                    <a:bodyPr/>
                    <a:lstStyle/>
                    <a:p>
                      <a:pPr algn="ctr">
                        <a:defRPr sz="900" b="1">
                          <a:solidFill>
                            <a:srgbClr val="000000"/>
                          </a:solidFill>
                          <a:latin typeface="Calibri"/>
                        </a:defRPr>
                      </a:pPr>
                      <a:r>
                        <a:t>0.946</a:t>
                      </a:r>
                    </a:p>
                  </a:txBody>
                  <a:tcPr>
                    <a:solidFill>
                      <a:srgbClr val="D5F5E3"/>
                    </a:solidFill>
                  </a:tcPr>
                </a:tc>
                <a:tc>
                  <a:txBody>
                    <a:bodyPr/>
                    <a:lstStyle/>
                    <a:p>
                      <a:pPr algn="ctr">
                        <a:defRPr sz="900" b="0">
                          <a:solidFill>
                            <a:srgbClr val="000000"/>
                          </a:solidFill>
                          <a:latin typeface="Calibri"/>
                        </a:defRPr>
                      </a:pPr>
                      <a:r>
                        <a:t>0.966</a:t>
                      </a:r>
                    </a:p>
                  </a:txBody>
                  <a:tcPr/>
                </a:tc>
                <a:tc>
                  <a:txBody>
                    <a:bodyPr/>
                    <a:lstStyle/>
                    <a:p>
                      <a:pPr algn="ctr">
                        <a:defRPr sz="900" b="0">
                          <a:solidFill>
                            <a:srgbClr val="000000"/>
                          </a:solidFill>
                          <a:latin typeface="Calibri"/>
                        </a:defRPr>
                      </a:pPr>
                      <a:r>
                        <a:t>0.970</a:t>
                      </a:r>
                    </a:p>
                  </a:txBody>
                  <a:tcPr/>
                </a:tc>
                <a:tc>
                  <a:txBody>
                    <a:bodyPr/>
                    <a:lstStyle/>
                    <a:p>
                      <a:pPr algn="ctr">
                        <a:defRPr sz="900" b="0">
                          <a:solidFill>
                            <a:srgbClr val="000000"/>
                          </a:solidFill>
                          <a:latin typeface="Calibri"/>
                        </a:defRPr>
                      </a:pPr>
                      <a:r>
                        <a:t>0.964</a:t>
                      </a:r>
                    </a:p>
                  </a:txBody>
                  <a:tcPr/>
                </a:tc>
                <a:tc>
                  <a:txBody>
                    <a:bodyPr/>
                    <a:lstStyle/>
                    <a:p>
                      <a:pPr algn="ctr">
                        <a:defRPr sz="900" b="0">
                          <a:solidFill>
                            <a:srgbClr val="000000"/>
                          </a:solidFill>
                          <a:latin typeface="Calibri"/>
                        </a:defRPr>
                      </a:pPr>
                      <a:r>
                        <a:t>0.954</a:t>
                      </a:r>
                    </a:p>
                  </a:txBody>
                  <a:tcPr/>
                </a:tc>
                <a:tc>
                  <a:txBody>
                    <a:bodyPr/>
                    <a:lstStyle/>
                    <a:p>
                      <a:pPr algn="ctr">
                        <a:defRPr sz="900" b="0">
                          <a:solidFill>
                            <a:srgbClr val="000000"/>
                          </a:solidFill>
                          <a:latin typeface="Calibri"/>
                        </a:defRPr>
                      </a:pPr>
                      <a:r>
                        <a:t>−1.8%</a:t>
                      </a:r>
                    </a:p>
                  </a:txBody>
                  <a:tcPr/>
                </a:tc>
              </a:tr>
            </a:tbl>
          </a:graphicData>
        </a:graphic>
      </p:graphicFrame>
      <p:sp>
        <p:nvSpPr>
          <p:cNvPr id="10" name="TextBox 9"/>
          <p:cNvSpPr txBox="1"/>
          <p:nvPr/>
        </p:nvSpPr>
        <p:spPr>
          <a:xfrm>
            <a:off x="365760" y="5440680"/>
            <a:ext cx="7315200" cy="182880"/>
          </a:xfrm>
          <a:prstGeom prst="rect">
            <a:avLst/>
          </a:prstGeom>
          <a:noFill/>
        </p:spPr>
        <p:txBody>
          <a:bodyPr wrap="square">
            <a:spAutoFit/>
          </a:bodyPr>
          <a:lstStyle/>
          <a:p>
            <a:pPr algn="l">
              <a:defRPr sz="1100" b="1">
                <a:solidFill>
                  <a:srgbClr val="8E44AD"/>
                </a:solidFill>
                <a:latin typeface="Calibri"/>
              </a:defRPr>
            </a:pPr>
            <a:r>
              <a:t>Per-Phase F1 Breakdown — MISP Threat Intel (real ThreatFox data)</a:t>
            </a:r>
          </a:p>
        </p:txBody>
      </p:sp>
      <p:graphicFrame>
        <p:nvGraphicFramePr>
          <p:cNvPr id="11" name="Table 10"/>
          <p:cNvGraphicFramePr>
            <a:graphicFrameLocks noGrp="1"/>
          </p:cNvGraphicFramePr>
          <p:nvPr/>
        </p:nvGraphicFramePr>
        <p:xfrm>
          <a:off x="365760" y="5623560"/>
          <a:ext cx="9875520" cy="914400"/>
        </p:xfrm>
        <a:graphic>
          <a:graphicData uri="http://schemas.openxmlformats.org/drawingml/2006/table">
            <a:tbl>
              <a:tblPr firstRow="1" bandRow="1">
                <a:tableStyleId>{5C22544A-7EE6-4342-B048-85BDC9FD1C3A}</a:tableStyleId>
              </a:tblPr>
              <a:tblGrid>
                <a:gridCol w="914400"/>
                <a:gridCol w="2103120"/>
                <a:gridCol w="1005840"/>
                <a:gridCol w="1005840"/>
                <a:gridCol w="1188720"/>
                <a:gridCol w="1005840"/>
                <a:gridCol w="1005840"/>
                <a:gridCol w="1645920"/>
              </a:tblGrid>
              <a:tr h="228600">
                <a:tc>
                  <a:txBody>
                    <a:bodyPr/>
                    <a:lstStyle/>
                    <a:p>
                      <a:pPr algn="ctr">
                        <a:defRPr sz="900" b="1">
                          <a:solidFill>
                            <a:srgbClr val="FFFFFF"/>
                          </a:solidFill>
                          <a:latin typeface="Calibri"/>
                        </a:defRPr>
                      </a:pPr>
                      <a:r>
                        <a:t>Phase</a:t>
                      </a:r>
                    </a:p>
                  </a:txBody>
                  <a:tcPr>
                    <a:solidFill>
                      <a:srgbClr val="003C71"/>
                    </a:solidFill>
                  </a:tcPr>
                </a:tc>
                <a:tc>
                  <a:txBody>
                    <a:bodyPr/>
                    <a:lstStyle/>
                    <a:p>
                      <a:pPr algn="ctr">
                        <a:defRPr sz="900" b="1">
                          <a:solidFill>
                            <a:srgbClr val="FFFFFF"/>
                          </a:solidFill>
                          <a:latin typeface="Calibri"/>
                        </a:defRPr>
                      </a:pPr>
                      <a:r>
                        <a:t>Description</a:t>
                      </a:r>
                    </a:p>
                  </a:txBody>
                  <a:tcPr>
                    <a:solidFill>
                      <a:srgbClr val="003C71"/>
                    </a:solidFill>
                  </a:tcPr>
                </a:tc>
                <a:tc>
                  <a:txBody>
                    <a:bodyPr/>
                    <a:lstStyle/>
                    <a:p>
                      <a:pPr algn="ctr">
                        <a:defRPr sz="900" b="1">
                          <a:solidFill>
                            <a:srgbClr val="FFFFFF"/>
                          </a:solidFill>
                          <a:latin typeface="Calibri"/>
                        </a:defRPr>
                      </a:pPr>
                      <a:r>
                        <a:t>ASRRL</a:t>
                      </a:r>
                    </a:p>
                  </a:txBody>
                  <a:tcPr>
                    <a:solidFill>
                      <a:srgbClr val="003C71"/>
                    </a:solidFill>
                  </a:tcPr>
                </a:tc>
                <a:tc>
                  <a:txBody>
                    <a:bodyPr/>
                    <a:lstStyle/>
                    <a:p>
                      <a:pPr algn="ctr">
                        <a:defRPr sz="900" b="1">
                          <a:solidFill>
                            <a:srgbClr val="FFFFFF"/>
                          </a:solidFill>
                          <a:latin typeface="Calibri"/>
                        </a:defRPr>
                      </a:pPr>
                      <a:r>
                        <a:t>RF</a:t>
                      </a:r>
                    </a:p>
                  </a:txBody>
                  <a:tcPr>
                    <a:solidFill>
                      <a:srgbClr val="003C71"/>
                    </a:solidFill>
                  </a:tcPr>
                </a:tc>
                <a:tc>
                  <a:txBody>
                    <a:bodyPr/>
                    <a:lstStyle/>
                    <a:p>
                      <a:pPr algn="ctr">
                        <a:defRPr sz="900" b="1">
                          <a:solidFill>
                            <a:srgbClr val="FFFFFF"/>
                          </a:solidFill>
                          <a:latin typeface="Calibri"/>
                        </a:defRPr>
                      </a:pPr>
                      <a:r>
                        <a:t>XGBoost</a:t>
                      </a:r>
                    </a:p>
                  </a:txBody>
                  <a:tcPr>
                    <a:solidFill>
                      <a:srgbClr val="003C71"/>
                    </a:solidFill>
                  </a:tcPr>
                </a:tc>
                <a:tc>
                  <a:txBody>
                    <a:bodyPr/>
                    <a:lstStyle/>
                    <a:p>
                      <a:pPr algn="ctr">
                        <a:defRPr sz="900" b="1">
                          <a:solidFill>
                            <a:srgbClr val="FFFFFF"/>
                          </a:solidFill>
                          <a:latin typeface="Calibri"/>
                        </a:defRPr>
                      </a:pPr>
                      <a:r>
                        <a:t>SVM</a:t>
                      </a:r>
                    </a:p>
                  </a:txBody>
                  <a:tcPr>
                    <a:solidFill>
                      <a:srgbClr val="003C71"/>
                    </a:solidFill>
                  </a:tcPr>
                </a:tc>
                <a:tc>
                  <a:txBody>
                    <a:bodyPr/>
                    <a:lstStyle/>
                    <a:p>
                      <a:pPr algn="ctr">
                        <a:defRPr sz="900" b="1">
                          <a:solidFill>
                            <a:srgbClr val="FFFFFF"/>
                          </a:solidFill>
                          <a:latin typeface="Calibri"/>
                        </a:defRPr>
                      </a:pPr>
                      <a:r>
                        <a:t>KNN</a:t>
                      </a:r>
                    </a:p>
                  </a:txBody>
                  <a:tcPr>
                    <a:solidFill>
                      <a:srgbClr val="003C71"/>
                    </a:solidFill>
                  </a:tcPr>
                </a:tc>
                <a:tc>
                  <a:txBody>
                    <a:bodyPr/>
                    <a:lstStyle/>
                    <a:p>
                      <a:pPr algn="ctr">
                        <a:defRPr sz="900" b="1">
                          <a:solidFill>
                            <a:srgbClr val="FFFFFF"/>
                          </a:solidFill>
                          <a:latin typeface="Calibri"/>
                        </a:defRPr>
                      </a:pPr>
                      <a:r>
                        <a:t>ASRRL Δ vs KNN</a:t>
                      </a:r>
                    </a:p>
                  </a:txBody>
                  <a:tcPr>
                    <a:solidFill>
                      <a:srgbClr val="003C71"/>
                    </a:solidFill>
                  </a:tcPr>
                </a:tc>
              </a:tr>
              <a:tr h="228600">
                <a:tc>
                  <a:txBody>
                    <a:bodyPr/>
                    <a:lstStyle/>
                    <a:p>
                      <a:pPr algn="l">
                        <a:defRPr sz="900" b="0">
                          <a:solidFill>
                            <a:srgbClr val="000000"/>
                          </a:solidFill>
                          <a:latin typeface="Calibri"/>
                        </a:defRPr>
                      </a:pPr>
                      <a:r>
                        <a:t>Phase 1</a:t>
                      </a:r>
                    </a:p>
                    <a:p>
                      <a:pPr algn="l">
                        <a:defRPr sz="900" b="0">
                          <a:solidFill>
                            <a:srgbClr val="000000"/>
                          </a:solidFill>
                          <a:latin typeface="Calibri"/>
                        </a:defRPr>
                      </a:pPr>
                      <a:r>
                        <a:t>(40%)</a:t>
                      </a:r>
                    </a:p>
                  </a:txBody>
                  <a:tcPr/>
                </a:tc>
                <a:tc>
                  <a:txBody>
                    <a:bodyPr/>
                    <a:lstStyle/>
                    <a:p>
                      <a:pPr algn="ctr">
                        <a:defRPr sz="900" b="0">
                          <a:solidFill>
                            <a:srgbClr val="000000"/>
                          </a:solidFill>
                          <a:latin typeface="Calibri"/>
                        </a:defRPr>
                      </a:pPr>
                      <a:r>
                        <a:t>Known threats only</a:t>
                      </a:r>
                    </a:p>
                  </a:txBody>
                  <a:tcPr/>
                </a:tc>
                <a:tc>
                  <a:txBody>
                    <a:bodyPr/>
                    <a:lstStyle/>
                    <a:p>
                      <a:pPr algn="ctr">
                        <a:defRPr sz="900" b="1">
                          <a:solidFill>
                            <a:srgbClr val="000000"/>
                          </a:solidFill>
                          <a:latin typeface="Calibri"/>
                        </a:defRPr>
                      </a:pPr>
                      <a:r>
                        <a:t>0.955</a:t>
                      </a:r>
                    </a:p>
                  </a:txBody>
                  <a:tcPr>
                    <a:solidFill>
                      <a:srgbClr val="D5F5E3"/>
                    </a:solidFill>
                  </a:tcPr>
                </a:tc>
                <a:tc>
                  <a:txBody>
                    <a:bodyPr/>
                    <a:lstStyle/>
                    <a:p>
                      <a:pPr algn="ctr">
                        <a:defRPr sz="900" b="0">
                          <a:solidFill>
                            <a:srgbClr val="000000"/>
                          </a:solidFill>
                          <a:latin typeface="Calibri"/>
                        </a:defRPr>
                      </a:pPr>
                      <a:r>
                        <a:t>0.969</a:t>
                      </a:r>
                    </a:p>
                  </a:txBody>
                  <a:tcPr/>
                </a:tc>
                <a:tc>
                  <a:txBody>
                    <a:bodyPr/>
                    <a:lstStyle/>
                    <a:p>
                      <a:pPr algn="ctr">
                        <a:defRPr sz="900" b="0">
                          <a:solidFill>
                            <a:srgbClr val="000000"/>
                          </a:solidFill>
                          <a:latin typeface="Calibri"/>
                        </a:defRPr>
                      </a:pPr>
                      <a:r>
                        <a:t>0.970</a:t>
                      </a:r>
                    </a:p>
                  </a:txBody>
                  <a:tcPr/>
                </a:tc>
                <a:tc>
                  <a:txBody>
                    <a:bodyPr/>
                    <a:lstStyle/>
                    <a:p>
                      <a:pPr algn="ctr">
                        <a:defRPr sz="900" b="0">
                          <a:solidFill>
                            <a:srgbClr val="000000"/>
                          </a:solidFill>
                          <a:latin typeface="Calibri"/>
                        </a:defRPr>
                      </a:pPr>
                      <a:r>
                        <a:t>0.968</a:t>
                      </a:r>
                    </a:p>
                  </a:txBody>
                  <a:tcPr/>
                </a:tc>
                <a:tc>
                  <a:txBody>
                    <a:bodyPr/>
                    <a:lstStyle/>
                    <a:p>
                      <a:pPr algn="ctr">
                        <a:defRPr sz="900" b="0">
                          <a:solidFill>
                            <a:srgbClr val="000000"/>
                          </a:solidFill>
                          <a:latin typeface="Calibri"/>
                        </a:defRPr>
                      </a:pPr>
                      <a:r>
                        <a:t>0.964</a:t>
                      </a:r>
                    </a:p>
                  </a:txBody>
                  <a:tcPr/>
                </a:tc>
                <a:tc>
                  <a:txBody>
                    <a:bodyPr/>
                    <a:lstStyle/>
                    <a:p>
                      <a:pPr algn="ctr">
                        <a:defRPr sz="900" b="0">
                          <a:solidFill>
                            <a:srgbClr val="000000"/>
                          </a:solidFill>
                          <a:latin typeface="Calibri"/>
                        </a:defRPr>
                      </a:pPr>
                      <a:r>
                        <a:t>−0.9%</a:t>
                      </a:r>
                    </a:p>
                  </a:txBody>
                  <a:tcPr/>
                </a:tc>
              </a:tr>
              <a:tr h="228600">
                <a:tc>
                  <a:txBody>
                    <a:bodyPr/>
                    <a:lstStyle/>
                    <a:p>
                      <a:pPr algn="l">
                        <a:defRPr sz="900" b="0">
                          <a:solidFill>
                            <a:srgbClr val="000000"/>
                          </a:solidFill>
                          <a:latin typeface="Calibri"/>
                        </a:defRPr>
                      </a:pPr>
                      <a:r>
                        <a:t>Phase 2</a:t>
                      </a:r>
                    </a:p>
                    <a:p>
                      <a:pPr algn="l">
                        <a:defRPr sz="900" b="0">
                          <a:solidFill>
                            <a:srgbClr val="000000"/>
                          </a:solidFill>
                          <a:latin typeface="Calibri"/>
                        </a:defRPr>
                      </a:pPr>
                      <a:r>
                        <a:t>(30%)</a:t>
                      </a:r>
                    </a:p>
                  </a:txBody>
                  <a:tcPr>
                    <a:solidFill>
                      <a:srgbClr val="F3E5F5"/>
                    </a:solidFill>
                  </a:tcPr>
                </a:tc>
                <a:tc>
                  <a:txBody>
                    <a:bodyPr/>
                    <a:lstStyle/>
                    <a:p>
                      <a:pPr algn="ctr">
                        <a:defRPr sz="900" b="0">
                          <a:solidFill>
                            <a:srgbClr val="000000"/>
                          </a:solidFill>
                          <a:latin typeface="Calibri"/>
                        </a:defRPr>
                      </a:pPr>
                      <a:r>
                        <a:t>Novel threats introduced</a:t>
                      </a:r>
                    </a:p>
                  </a:txBody>
                  <a:tcPr>
                    <a:solidFill>
                      <a:srgbClr val="F3E5F5"/>
                    </a:solidFill>
                  </a:tcPr>
                </a:tc>
                <a:tc>
                  <a:txBody>
                    <a:bodyPr/>
                    <a:lstStyle/>
                    <a:p>
                      <a:pPr algn="ctr">
                        <a:defRPr sz="900" b="1">
                          <a:solidFill>
                            <a:srgbClr val="000000"/>
                          </a:solidFill>
                          <a:latin typeface="Calibri"/>
                        </a:defRPr>
                      </a:pPr>
                      <a:r>
                        <a:t>0.972</a:t>
                      </a:r>
                    </a:p>
                  </a:txBody>
                  <a:tcPr>
                    <a:solidFill>
                      <a:srgbClr val="D5F5E3"/>
                    </a:solidFill>
                  </a:tcPr>
                </a:tc>
                <a:tc>
                  <a:txBody>
                    <a:bodyPr/>
                    <a:lstStyle/>
                    <a:p>
                      <a:pPr algn="ctr">
                        <a:defRPr sz="900" b="0">
                          <a:solidFill>
                            <a:srgbClr val="000000"/>
                          </a:solidFill>
                          <a:latin typeface="Calibri"/>
                        </a:defRPr>
                      </a:pPr>
                      <a:r>
                        <a:t>0.976</a:t>
                      </a:r>
                    </a:p>
                  </a:txBody>
                  <a:tcPr>
                    <a:solidFill>
                      <a:srgbClr val="F3E5F5"/>
                    </a:solidFill>
                  </a:tcPr>
                </a:tc>
                <a:tc>
                  <a:txBody>
                    <a:bodyPr/>
                    <a:lstStyle/>
                    <a:p>
                      <a:pPr algn="ctr">
                        <a:defRPr sz="900" b="0">
                          <a:solidFill>
                            <a:srgbClr val="000000"/>
                          </a:solidFill>
                          <a:latin typeface="Calibri"/>
                        </a:defRPr>
                      </a:pPr>
                      <a:r>
                        <a:t>0.978</a:t>
                      </a:r>
                    </a:p>
                  </a:txBody>
                  <a:tcPr>
                    <a:solidFill>
                      <a:srgbClr val="F3E5F5"/>
                    </a:solidFill>
                  </a:tcPr>
                </a:tc>
                <a:tc>
                  <a:txBody>
                    <a:bodyPr/>
                    <a:lstStyle/>
                    <a:p>
                      <a:pPr algn="ctr">
                        <a:defRPr sz="900" b="0">
                          <a:solidFill>
                            <a:srgbClr val="000000"/>
                          </a:solidFill>
                          <a:latin typeface="Calibri"/>
                        </a:defRPr>
                      </a:pPr>
                      <a:r>
                        <a:t>0.977</a:t>
                      </a:r>
                    </a:p>
                  </a:txBody>
                  <a:tcPr>
                    <a:solidFill>
                      <a:srgbClr val="F3E5F5"/>
                    </a:solidFill>
                  </a:tcPr>
                </a:tc>
                <a:tc>
                  <a:txBody>
                    <a:bodyPr/>
                    <a:lstStyle/>
                    <a:p>
                      <a:pPr algn="ctr">
                        <a:defRPr sz="900" b="0">
                          <a:solidFill>
                            <a:srgbClr val="000000"/>
                          </a:solidFill>
                          <a:latin typeface="Calibri"/>
                        </a:defRPr>
                      </a:pPr>
                      <a:r>
                        <a:t>0.971</a:t>
                      </a:r>
                    </a:p>
                  </a:txBody>
                  <a:tcPr>
                    <a:solidFill>
                      <a:srgbClr val="F3E5F5"/>
                    </a:solidFill>
                  </a:tcPr>
                </a:tc>
                <a:tc>
                  <a:txBody>
                    <a:bodyPr/>
                    <a:lstStyle/>
                    <a:p>
                      <a:pPr algn="ctr">
                        <a:defRPr sz="900" b="0">
                          <a:solidFill>
                            <a:srgbClr val="000000"/>
                          </a:solidFill>
                          <a:latin typeface="Calibri"/>
                        </a:defRPr>
                      </a:pPr>
                      <a:r>
                        <a:t>+0.1%</a:t>
                      </a:r>
                    </a:p>
                  </a:txBody>
                  <a:tcPr>
                    <a:solidFill>
                      <a:srgbClr val="F3E5F5"/>
                    </a:solidFill>
                  </a:tcPr>
                </a:tc>
              </a:tr>
              <a:tr h="228600">
                <a:tc>
                  <a:txBody>
                    <a:bodyPr/>
                    <a:lstStyle/>
                    <a:p>
                      <a:pPr algn="l">
                        <a:defRPr sz="900" b="0">
                          <a:solidFill>
                            <a:srgbClr val="000000"/>
                          </a:solidFill>
                          <a:latin typeface="Calibri"/>
                        </a:defRPr>
                      </a:pPr>
                      <a:r>
                        <a:t>Phase 3</a:t>
                      </a:r>
                    </a:p>
                    <a:p>
                      <a:pPr algn="l">
                        <a:defRPr sz="900" b="0">
                          <a:solidFill>
                            <a:srgbClr val="000000"/>
                          </a:solidFill>
                          <a:latin typeface="Calibri"/>
                        </a:defRPr>
                      </a:pPr>
                      <a:r>
                        <a:t>(30%)</a:t>
                      </a:r>
                    </a:p>
                  </a:txBody>
                  <a:tcPr/>
                </a:tc>
                <a:tc>
                  <a:txBody>
                    <a:bodyPr/>
                    <a:lstStyle/>
                    <a:p>
                      <a:pPr algn="ctr">
                        <a:defRPr sz="900" b="0">
                          <a:solidFill>
                            <a:srgbClr val="000000"/>
                          </a:solidFill>
                          <a:latin typeface="Calibri"/>
                        </a:defRPr>
                      </a:pPr>
                      <a:r>
                        <a:t>Heavy novel threats</a:t>
                      </a:r>
                    </a:p>
                  </a:txBody>
                  <a:tcPr/>
                </a:tc>
                <a:tc>
                  <a:txBody>
                    <a:bodyPr/>
                    <a:lstStyle/>
                    <a:p>
                      <a:pPr algn="ctr">
                        <a:defRPr sz="900" b="1">
                          <a:solidFill>
                            <a:srgbClr val="000000"/>
                          </a:solidFill>
                          <a:latin typeface="Calibri"/>
                        </a:defRPr>
                      </a:pPr>
                      <a:r>
                        <a:t>0.972</a:t>
                      </a:r>
                    </a:p>
                  </a:txBody>
                  <a:tcPr>
                    <a:solidFill>
                      <a:srgbClr val="D5F5E3"/>
                    </a:solidFill>
                  </a:tcPr>
                </a:tc>
                <a:tc>
                  <a:txBody>
                    <a:bodyPr/>
                    <a:lstStyle/>
                    <a:p>
                      <a:pPr algn="ctr">
                        <a:defRPr sz="900" b="0">
                          <a:solidFill>
                            <a:srgbClr val="000000"/>
                          </a:solidFill>
                          <a:latin typeface="Calibri"/>
                        </a:defRPr>
                      </a:pPr>
                      <a:r>
                        <a:t>0.976</a:t>
                      </a:r>
                    </a:p>
                  </a:txBody>
                  <a:tcPr/>
                </a:tc>
                <a:tc>
                  <a:txBody>
                    <a:bodyPr/>
                    <a:lstStyle/>
                    <a:p>
                      <a:pPr algn="ctr">
                        <a:defRPr sz="900" b="0">
                          <a:solidFill>
                            <a:srgbClr val="000000"/>
                          </a:solidFill>
                          <a:latin typeface="Calibri"/>
                        </a:defRPr>
                      </a:pPr>
                      <a:r>
                        <a:t>0.978</a:t>
                      </a:r>
                    </a:p>
                  </a:txBody>
                  <a:tcPr/>
                </a:tc>
                <a:tc>
                  <a:txBody>
                    <a:bodyPr/>
                    <a:lstStyle/>
                    <a:p>
                      <a:pPr algn="ctr">
                        <a:defRPr sz="900" b="0">
                          <a:solidFill>
                            <a:srgbClr val="000000"/>
                          </a:solidFill>
                          <a:latin typeface="Calibri"/>
                        </a:defRPr>
                      </a:pPr>
                      <a:r>
                        <a:t>0.974</a:t>
                      </a:r>
                    </a:p>
                  </a:txBody>
                  <a:tcPr/>
                </a:tc>
                <a:tc>
                  <a:txBody>
                    <a:bodyPr/>
                    <a:lstStyle/>
                    <a:p>
                      <a:pPr algn="ctr">
                        <a:defRPr sz="900" b="0">
                          <a:solidFill>
                            <a:srgbClr val="000000"/>
                          </a:solidFill>
                          <a:latin typeface="Calibri"/>
                        </a:defRPr>
                      </a:pPr>
                      <a:r>
                        <a:t>0.969</a:t>
                      </a:r>
                    </a:p>
                  </a:txBody>
                  <a:tcPr/>
                </a:tc>
                <a:tc>
                  <a:txBody>
                    <a:bodyPr/>
                    <a:lstStyle/>
                    <a:p>
                      <a:pPr algn="ctr">
                        <a:defRPr sz="900" b="0">
                          <a:solidFill>
                            <a:srgbClr val="000000"/>
                          </a:solidFill>
                          <a:latin typeface="Calibri"/>
                        </a:defRPr>
                      </a:pPr>
                      <a:r>
                        <a:t>+0.3%</a:t>
                      </a:r>
                    </a:p>
                  </a:txBody>
                  <a:tcPr/>
                </a:tc>
              </a:tr>
            </a:tbl>
          </a:graphicData>
        </a:graphic>
      </p:graphicFrame>
      <p:sp>
        <p:nvSpPr>
          <p:cNvPr id="12" name="TextBox 11"/>
          <p:cNvSpPr txBox="1"/>
          <p:nvPr/>
        </p:nvSpPr>
        <p:spPr>
          <a:xfrm>
            <a:off x="365760" y="6583680"/>
            <a:ext cx="5943600" cy="457200"/>
          </a:xfrm>
          <a:prstGeom prst="rect">
            <a:avLst/>
          </a:prstGeom>
          <a:noFill/>
        </p:spPr>
        <p:txBody>
          <a:bodyPr wrap="square">
            <a:spAutoFit/>
          </a:bodyPr>
          <a:lstStyle/>
          <a:p>
            <a:pPr algn="l">
              <a:defRPr sz="1000" b="1">
                <a:solidFill>
                  <a:srgbClr val="1E8E3E"/>
                </a:solidFill>
                <a:latin typeface="Calibri"/>
              </a:defRPr>
            </a:pPr>
            <a:r>
              <a:t>✓ ASRRL beats ALL baselines on CIC2017 (0.922)</a:t>
            </a:r>
            <a:br/>
            <a:r>
              <a:t>✓ CIC2017 Phase 2: +13.3% vs RF | MISP: competitive at 0.966</a:t>
            </a:r>
          </a:p>
        </p:txBody>
      </p:sp>
      <p:sp>
        <p:nvSpPr>
          <p:cNvPr id="13" name="TextBox 12"/>
          <p:cNvSpPr txBox="1"/>
          <p:nvPr/>
        </p:nvSpPr>
        <p:spPr>
          <a:xfrm>
            <a:off x="6583680" y="6583680"/>
            <a:ext cx="5029200" cy="457200"/>
          </a:xfrm>
          <a:prstGeom prst="rect">
            <a:avLst/>
          </a:prstGeom>
          <a:noFill/>
        </p:spPr>
        <p:txBody>
          <a:bodyPr wrap="square">
            <a:spAutoFit/>
          </a:bodyPr>
          <a:lstStyle/>
          <a:p>
            <a:pPr algn="l">
              <a:defRPr sz="1000" b="0">
                <a:solidFill>
                  <a:srgbClr val="000000"/>
                </a:solidFill>
                <a:latin typeface="Calibri"/>
              </a:defRPr>
            </a:pPr>
            <a:r>
              <a:t>DBSCAN discovers 213 (CIC2017) + 26 (MISP) novel patterns</a:t>
            </a:r>
            <a:br/>
            <a:r>
              <a:t>Each pattern → Z3 constraint → RL agent adapts online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274320" y="137160"/>
            <a:ext cx="11430000" cy="457200"/>
          </a:xfrm>
          <a:prstGeom prst="rect">
            <a:avLst/>
          </a:prstGeom>
          <a:noFill/>
        </p:spPr>
        <p:txBody>
          <a:bodyPr wrap="square">
            <a:spAutoFit/>
          </a:bodyPr>
          <a:lstStyle/>
          <a:p>
            <a:pPr algn="ctr">
              <a:defRPr sz="2400" b="1">
                <a:solidFill>
                  <a:srgbClr val="003C71"/>
                </a:solidFill>
                <a:latin typeface="Calibri"/>
              </a:defRPr>
            </a:pPr>
            <a:r>
              <a:t>Temporal Adaptation: F1 Over Time as Novel Attacks Appear</a:t>
            </a:r>
          </a:p>
        </p:txBody>
      </p:sp>
      <p:pic>
        <p:nvPicPr>
          <p:cNvPr id="3" name="Picture 2" descr="image.png"/>
          <p:cNvPicPr>
            <a:picLocks noChangeAspect="1"/>
          </p:cNvPicPr>
          <p:nvPr/>
        </p:nvPicPr>
        <p:blipFill>
          <a:blip r:embed="rId2"/>
          <a:stretch>
            <a:fillRect/>
          </a:stretch>
        </p:blipFill>
        <p:spPr>
          <a:xfrm>
            <a:off x="274320" y="731520"/>
            <a:ext cx="11430000" cy="4114800"/>
          </a:xfrm>
          <a:prstGeom prst="rect">
            <a:avLst/>
          </a:prstGeom>
        </p:spPr>
      </p:pic>
      <p:sp>
        <p:nvSpPr>
          <p:cNvPr id="4" name="TextBox 3"/>
          <p:cNvSpPr txBox="1"/>
          <p:nvPr/>
        </p:nvSpPr>
        <p:spPr>
          <a:xfrm>
            <a:off x="457200" y="5029200"/>
            <a:ext cx="5029200" cy="914400"/>
          </a:xfrm>
          <a:prstGeom prst="rect">
            <a:avLst/>
          </a:prstGeom>
          <a:noFill/>
        </p:spPr>
        <p:txBody>
          <a:bodyPr wrap="square">
            <a:spAutoFit/>
          </a:bodyPr>
          <a:lstStyle/>
          <a:p>
            <a:pPr algn="l">
              <a:defRPr sz="1000" b="1">
                <a:solidFill>
                  <a:srgbClr val="C0392B"/>
                </a:solidFill>
                <a:latin typeface="Calibri"/>
              </a:defRPr>
            </a:pPr>
            <a:r>
              <a:t>Key Insight: In Phase 2 (novel attacks introduced), baselines</a:t>
            </a:r>
            <a:br/>
            <a:r>
              <a:t>drop to F1 ≈ 0.72–0.84. ASRRL maintains F1 ≈ 0.88–0.93</a:t>
            </a:r>
            <a:br/>
            <a:r>
              <a:t>and RECOVERS to F1 ≈ 0.94+ in Phase 3 via DBSCAN + Z3.</a:t>
            </a:r>
          </a:p>
        </p:txBody>
      </p:sp>
      <p:sp>
        <p:nvSpPr>
          <p:cNvPr id="5" name="TextBox 4"/>
          <p:cNvSpPr txBox="1"/>
          <p:nvPr/>
        </p:nvSpPr>
        <p:spPr>
          <a:xfrm>
            <a:off x="5943600" y="5029200"/>
            <a:ext cx="5486400" cy="914400"/>
          </a:xfrm>
          <a:prstGeom prst="rect">
            <a:avLst/>
          </a:prstGeom>
          <a:noFill/>
        </p:spPr>
        <p:txBody>
          <a:bodyPr wrap="square">
            <a:spAutoFit/>
          </a:bodyPr>
          <a:lstStyle/>
          <a:p>
            <a:pPr algn="l">
              <a:defRPr sz="1000" b="0">
                <a:solidFill>
                  <a:srgbClr val="000000"/>
                </a:solidFill>
                <a:latin typeface="Calibri"/>
              </a:defRPr>
            </a:pPr>
            <a:r>
              <a:t>DBSCAN discovers 213 novel attack patterns on CIC2017.</a:t>
            </a:r>
            <a:br/>
            <a:r>
              <a:t>Each pattern becomes a Z3 constraint (Action.BLOCK),</a:t>
            </a:r>
            <a:br/>
            <a:r>
              <a:t>enabling the RL agent to correctly classify similar future flows.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274320" y="137160"/>
            <a:ext cx="11430000" cy="457200"/>
          </a:xfrm>
          <a:prstGeom prst="rect">
            <a:avLst/>
          </a:prstGeom>
          <a:noFill/>
        </p:spPr>
        <p:txBody>
          <a:bodyPr wrap="square">
            <a:spAutoFit/>
          </a:bodyPr>
          <a:lstStyle/>
          <a:p>
            <a:pPr algn="ctr">
              <a:defRPr sz="2600" b="1">
                <a:solidFill>
                  <a:srgbClr val="003C71"/>
                </a:solidFill>
                <a:latin typeface="Calibri"/>
              </a:defRPr>
            </a:pPr>
            <a:r>
              <a:t>Key Takeaways &amp; Contributions</a:t>
            </a:r>
          </a:p>
        </p:txBody>
      </p:sp>
      <p:sp>
        <p:nvSpPr>
          <p:cNvPr id="3" name="TextBox 2"/>
          <p:cNvSpPr txBox="1"/>
          <p:nvPr/>
        </p:nvSpPr>
        <p:spPr>
          <a:xfrm>
            <a:off x="457200" y="731520"/>
            <a:ext cx="5486400" cy="457200"/>
          </a:xfrm>
          <a:prstGeom prst="rect">
            <a:avLst/>
          </a:prstGeom>
          <a:noFill/>
        </p:spPr>
        <p:txBody>
          <a:bodyPr wrap="square">
            <a:spAutoFit/>
          </a:bodyPr>
          <a:lstStyle/>
          <a:p>
            <a:pPr algn="l">
              <a:defRPr sz="1600" b="1">
                <a:solidFill>
                  <a:srgbClr val="1E8E3E"/>
                </a:solidFill>
                <a:latin typeface="Calibri"/>
              </a:defRPr>
            </a:pPr>
            <a:r>
              <a:t>Research Contributions</a:t>
            </a:r>
          </a:p>
        </p:txBody>
      </p:sp>
      <p:sp>
        <p:nvSpPr>
          <p:cNvPr id="4" name="TextBox 3"/>
          <p:cNvSpPr txBox="1"/>
          <p:nvPr/>
        </p:nvSpPr>
        <p:spPr>
          <a:xfrm>
            <a:off x="457200" y="1280160"/>
            <a:ext cx="5486400" cy="4572000"/>
          </a:xfrm>
          <a:prstGeom prst="rect">
            <a:avLst/>
          </a:prstGeom>
          <a:noFill/>
        </p:spPr>
        <p:txBody>
          <a:bodyPr wrap="square">
            <a:spAutoFit/>
          </a:bodyPr>
          <a:lstStyle/>
          <a:p>
            <a:pPr>
              <a:spcAft>
                <a:spcPts val="400"/>
              </a:spcAft>
              <a:defRPr sz="1100" b="0">
                <a:solidFill>
                  <a:srgbClr val="000000"/>
                </a:solidFill>
                <a:latin typeface="Calibri"/>
              </a:defRPr>
            </a:pPr>
            <a:r>
              <a:t>•  First IDS framework combining CART decision trees with Z3 SMT formal verification and Q-learning RL in a unified 9-stage pipeline.</a:t>
            </a:r>
          </a:p>
          <a:p>
            <a:pPr>
              <a:spcAft>
                <a:spcPts val="400"/>
              </a:spcAft>
              <a:defRPr sz="1100" b="0">
                <a:solidFill>
                  <a:srgbClr val="000000"/>
                </a:solidFill>
                <a:latin typeface="Calibri"/>
              </a:defRPr>
            </a:pPr>
            <a:r>
              <a:t>•  Adaptive buffer resizing (10–200 flows) and dynamic threshold adaptation (0.40–0.70) respond to traffic condition changes at runtime.</a:t>
            </a:r>
          </a:p>
          <a:p>
            <a:pPr>
              <a:spcAft>
                <a:spcPts val="400"/>
              </a:spcAft>
              <a:defRPr sz="1100" b="0">
                <a:solidFill>
                  <a:srgbClr val="000000"/>
                </a:solidFill>
                <a:latin typeface="Calibri"/>
              </a:defRPr>
            </a:pPr>
            <a:r>
              <a:t>•  Z3 safety shielding ensures every classification decision satisfies formally extracted constraints — 100% constraint fidelity and coverage.</a:t>
            </a:r>
          </a:p>
          <a:p>
            <a:pPr>
              <a:spcAft>
                <a:spcPts val="400"/>
              </a:spcAft>
              <a:defRPr sz="1100" b="0">
                <a:solidFill>
                  <a:srgbClr val="000000"/>
                </a:solidFill>
                <a:latin typeface="Calibri"/>
              </a:defRPr>
            </a:pPr>
            <a:r>
              <a:t>•  DBSCAN-based novel attack pattern detection enables zero-day capability by discovering clusters of misclassified flows.</a:t>
            </a:r>
          </a:p>
          <a:p>
            <a:pPr>
              <a:spcAft>
                <a:spcPts val="400"/>
              </a:spcAft>
              <a:defRPr sz="1100" b="0">
                <a:solidFill>
                  <a:srgbClr val="000000"/>
                </a:solidFill>
                <a:latin typeface="Calibri"/>
              </a:defRPr>
            </a:pPr>
            <a:r>
              <a:t>•  Evaluated on 4 datasets: UNSW-NB15, CSE-CIC-IDS-2018, CIC-IDS2017 (4.05M real flows) + MISP threat intelligence.</a:t>
            </a:r>
          </a:p>
          <a:p>
            <a:pPr>
              <a:spcAft>
                <a:spcPts val="400"/>
              </a:spcAft>
              <a:defRPr sz="1100" b="0">
                <a:solidFill>
                  <a:srgbClr val="000000"/>
                </a:solidFill>
                <a:latin typeface="Calibri"/>
              </a:defRPr>
            </a:pPr>
            <a:r>
              <a:t>•  10 standardized features including 3 new discriminative features (src_ttl, src_load, mean_pkt_size) that improve UNSW F1 by +8.7%.</a:t>
            </a:r>
          </a:p>
        </p:txBody>
      </p:sp>
      <p:sp>
        <p:nvSpPr>
          <p:cNvPr id="5" name="TextBox 4"/>
          <p:cNvSpPr txBox="1"/>
          <p:nvPr/>
        </p:nvSpPr>
        <p:spPr>
          <a:xfrm>
            <a:off x="6217920" y="731520"/>
            <a:ext cx="5486400" cy="457200"/>
          </a:xfrm>
          <a:prstGeom prst="rect">
            <a:avLst/>
          </a:prstGeom>
          <a:noFill/>
        </p:spPr>
        <p:txBody>
          <a:bodyPr wrap="square">
            <a:spAutoFit/>
          </a:bodyPr>
          <a:lstStyle/>
          <a:p>
            <a:pPr algn="l">
              <a:defRPr sz="1600" b="1">
                <a:solidFill>
                  <a:srgbClr val="8E44AD"/>
                </a:solidFill>
                <a:latin typeface="Calibri"/>
              </a:defRPr>
            </a:pPr>
            <a:r>
              <a:t>Results Summary</a:t>
            </a:r>
          </a:p>
        </p:txBody>
      </p:sp>
      <p:sp>
        <p:nvSpPr>
          <p:cNvPr id="6" name="TextBox 5"/>
          <p:cNvSpPr txBox="1"/>
          <p:nvPr/>
        </p:nvSpPr>
        <p:spPr>
          <a:xfrm>
            <a:off x="6217920" y="1280160"/>
            <a:ext cx="5486400" cy="5029200"/>
          </a:xfrm>
          <a:prstGeom prst="rect">
            <a:avLst/>
          </a:prstGeom>
          <a:noFill/>
        </p:spPr>
        <p:txBody>
          <a:bodyPr wrap="square">
            <a:spAutoFit/>
          </a:bodyPr>
          <a:lstStyle/>
          <a:p>
            <a:pPr>
              <a:spcAft>
                <a:spcPts val="200"/>
              </a:spcAft>
              <a:defRPr sz="400" b="0">
                <a:solidFill>
                  <a:srgbClr val="000000"/>
                </a:solidFill>
                <a:latin typeface="Consolas"/>
              </a:defRPr>
            </a:pPr>
          </a:p>
          <a:p>
            <a:pPr>
              <a:spcAft>
                <a:spcPts val="200"/>
              </a:spcAft>
              <a:defRPr sz="1100" b="1">
                <a:solidFill>
                  <a:srgbClr val="000000"/>
                </a:solidFill>
                <a:latin typeface="Consolas"/>
              </a:defRPr>
            </a:pPr>
            <a:r>
              <a:t>Dataset          ASRRL F1   Best Baseline</a:t>
            </a:r>
          </a:p>
          <a:p>
            <a:pPr>
              <a:spcAft>
                <a:spcPts val="200"/>
              </a:spcAft>
              <a:defRPr sz="800" b="0">
                <a:solidFill>
                  <a:srgbClr val="7F8C8D"/>
                </a:solidFill>
                <a:latin typeface="Consolas"/>
              </a:defRPr>
            </a:pPr>
            <a:r>
              <a:t>──────────────────────────────────────────</a:t>
            </a:r>
          </a:p>
          <a:p>
            <a:pPr>
              <a:spcAft>
                <a:spcPts val="200"/>
              </a:spcAft>
              <a:defRPr sz="1100" b="0">
                <a:solidFill>
                  <a:srgbClr val="000000"/>
                </a:solidFill>
                <a:latin typeface="Consolas"/>
              </a:defRPr>
            </a:pPr>
            <a:r>
              <a:t>CSE-CIC-2018     0.9951     0.9963 (XGB)</a:t>
            </a:r>
          </a:p>
          <a:p>
            <a:pPr>
              <a:spcAft>
                <a:spcPts val="200"/>
              </a:spcAft>
              <a:defRPr sz="1100" b="0">
                <a:solidFill>
                  <a:srgbClr val="000000"/>
                </a:solidFill>
                <a:latin typeface="Consolas"/>
              </a:defRPr>
            </a:pPr>
            <a:r>
              <a:t>UNSW-NB15        0.8484     0.9571 (RF)</a:t>
            </a:r>
          </a:p>
          <a:p>
            <a:pPr>
              <a:spcAft>
                <a:spcPts val="200"/>
              </a:spcAft>
              <a:defRPr sz="1100" b="0">
                <a:solidFill>
                  <a:srgbClr val="000000"/>
                </a:solidFill>
                <a:latin typeface="Consolas"/>
              </a:defRPr>
            </a:pPr>
            <a:r>
              <a:t>CIC-IDS2017      0.9252     0.9802 (XGB)</a:t>
            </a:r>
          </a:p>
          <a:p>
            <a:pPr>
              <a:spcAft>
                <a:spcPts val="200"/>
              </a:spcAft>
              <a:defRPr sz="1100" b="0">
                <a:solidFill>
                  <a:srgbClr val="000000"/>
                </a:solidFill>
                <a:latin typeface="Consolas"/>
              </a:defRPr>
            </a:pPr>
            <a:r>
              <a:t>MISP Threat       0.9662     0.9756 (XGB)</a:t>
            </a:r>
          </a:p>
          <a:p>
            <a:pPr>
              <a:spcAft>
                <a:spcPts val="200"/>
              </a:spcAft>
              <a:defRPr sz="600" b="0">
                <a:solidFill>
                  <a:srgbClr val="000000"/>
                </a:solidFill>
                <a:latin typeface="Consolas"/>
              </a:defRPr>
            </a:pPr>
          </a:p>
          <a:p>
            <a:pPr>
              <a:spcAft>
                <a:spcPts val="200"/>
              </a:spcAft>
              <a:defRPr sz="1100" b="1">
                <a:solidFill>
                  <a:srgbClr val="8E44AD"/>
                </a:solidFill>
                <a:latin typeface="Consolas"/>
              </a:defRPr>
            </a:pPr>
            <a:r>
              <a:t>ASRRL Unique Capabilities:</a:t>
            </a:r>
          </a:p>
          <a:p>
            <a:pPr>
              <a:spcAft>
                <a:spcPts val="200"/>
              </a:spcAft>
              <a:defRPr sz="400" b="0">
                <a:solidFill>
                  <a:srgbClr val="000000"/>
                </a:solidFill>
                <a:latin typeface="Consolas"/>
              </a:defRPr>
            </a:pPr>
          </a:p>
          <a:p>
            <a:pPr>
              <a:spcAft>
                <a:spcPts val="200"/>
              </a:spcAft>
              <a:defRPr sz="1100" b="0">
                <a:solidFill>
                  <a:srgbClr val="1E8E3E"/>
                </a:solidFill>
                <a:latin typeface="Consolas"/>
              </a:defRPr>
            </a:pPr>
            <a:r>
              <a:t>✓ Formal safety (Z3)</a:t>
            </a:r>
          </a:p>
          <a:p>
            <a:pPr>
              <a:spcAft>
                <a:spcPts val="200"/>
              </a:spcAft>
              <a:defRPr sz="1100" b="0">
                <a:solidFill>
                  <a:srgbClr val="1E8E3E"/>
                </a:solidFill>
                <a:latin typeface="Consolas"/>
              </a:defRPr>
            </a:pPr>
            <a:r>
              <a:t>✓ Dynamic adaptation</a:t>
            </a:r>
          </a:p>
          <a:p>
            <a:pPr>
              <a:spcAft>
                <a:spcPts val="200"/>
              </a:spcAft>
              <a:defRPr sz="1100" b="0">
                <a:solidFill>
                  <a:srgbClr val="1E8E3E"/>
                </a:solidFill>
                <a:latin typeface="Consolas"/>
              </a:defRPr>
            </a:pPr>
            <a:r>
              <a:t>✓ Zero-day detection</a:t>
            </a:r>
          </a:p>
          <a:p>
            <a:pPr>
              <a:spcAft>
                <a:spcPts val="200"/>
              </a:spcAft>
              <a:defRPr sz="1100" b="0">
                <a:solidFill>
                  <a:srgbClr val="1E8E3E"/>
                </a:solidFill>
                <a:latin typeface="Consolas"/>
              </a:defRPr>
            </a:pPr>
            <a:r>
              <a:t>✓ Full explainability</a:t>
            </a:r>
          </a:p>
          <a:p>
            <a:pPr>
              <a:spcAft>
                <a:spcPts val="200"/>
              </a:spcAft>
              <a:defRPr sz="1100" b="0">
                <a:solidFill>
                  <a:srgbClr val="1E8E3E"/>
                </a:solidFill>
                <a:latin typeface="Consolas"/>
              </a:defRPr>
            </a:pPr>
            <a:r>
              <a:t>✓ Parallel inference</a:t>
            </a:r>
          </a:p>
          <a:p>
            <a:pPr>
              <a:spcAft>
                <a:spcPts val="200"/>
              </a:spcAft>
              <a:defRPr sz="400" b="0">
                <a:solidFill>
                  <a:srgbClr val="000000"/>
                </a:solidFill>
                <a:latin typeface="Consolas"/>
              </a:defRPr>
            </a:pPr>
          </a:p>
          <a:p>
            <a:pPr>
              <a:spcAft>
                <a:spcPts val="200"/>
              </a:spcAft>
              <a:defRPr sz="1100" b="1">
                <a:solidFill>
                  <a:srgbClr val="C0392B"/>
                </a:solidFill>
                <a:latin typeface="Consolas"/>
              </a:defRPr>
            </a:pPr>
            <a:r>
              <a:t>Baselines offer NONE of these.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